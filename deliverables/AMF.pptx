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notesSlides/notesSlide11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12.xml" ContentType="application/vnd.openxmlformats-officedocument.presentationml.notesSlide+xml"/>
  <Override PartName="/ppt/charts/chart4.xml" ContentType="application/vnd.openxmlformats-officedocument.drawingml.chart+xml"/>
  <Override PartName="/ppt/notesSlides/notesSlide13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14.xml" ContentType="application/vnd.openxmlformats-officedocument.presentationml.notes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19"/>
  </p:notesMasterIdLst>
  <p:sldIdLst>
    <p:sldId id="257" r:id="rId2"/>
    <p:sldId id="274" r:id="rId3"/>
    <p:sldId id="276" r:id="rId4"/>
    <p:sldId id="302" r:id="rId5"/>
    <p:sldId id="282" r:id="rId6"/>
    <p:sldId id="283" r:id="rId7"/>
    <p:sldId id="285" r:id="rId8"/>
    <p:sldId id="287" r:id="rId9"/>
    <p:sldId id="296" r:id="rId10"/>
    <p:sldId id="298" r:id="rId11"/>
    <p:sldId id="299" r:id="rId12"/>
    <p:sldId id="300" r:id="rId13"/>
    <p:sldId id="292" r:id="rId14"/>
    <p:sldId id="290" r:id="rId15"/>
    <p:sldId id="293" r:id="rId16"/>
    <p:sldId id="301" r:id="rId17"/>
    <p:sldId id="295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592" autoAdjust="0"/>
    <p:restoredTop sz="57515" autoAdjust="0"/>
  </p:normalViewPr>
  <p:slideViewPr>
    <p:cSldViewPr snapToGrid="0">
      <p:cViewPr varScale="1">
        <p:scale>
          <a:sx n="102" d="100"/>
          <a:sy n="102" d="100"/>
        </p:scale>
        <p:origin x="93" y="57"/>
      </p:cViewPr>
      <p:guideLst/>
    </p:cSldViewPr>
  </p:slideViewPr>
  <p:outlineViewPr>
    <p:cViewPr>
      <p:scale>
        <a:sx n="33" d="100"/>
        <a:sy n="33" d="100"/>
      </p:scale>
      <p:origin x="0" y="-4518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74" d="100"/>
          <a:sy n="74" d="100"/>
        </p:scale>
        <p:origin x="3153" y="2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r>
              <a:rPr lang="en-US" sz="1400" b="1">
                <a:solidFill>
                  <a:srgbClr val="000000"/>
                </a:solidFill>
                <a:latin typeface="Segoe UI"/>
              </a:rPr>
              <a:t>AMF · 10 trees · Mean accuracy (%)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Onelearn AMF</c:v>
                </c:pt>
              </c:strCache>
            </c:strRef>
          </c:tx>
          <c:spPr>
            <a:solidFill>
              <a:srgbClr val="E59042"/>
            </a:solidFill>
            <a:ln>
              <a:noFill/>
            </a:ln>
          </c:spPr>
          <c:invertIfNegative val="1"/>
          <c:cat>
            <c:strRef>
              <c:f>Sheet1!$A$2:$A$14</c:f>
              <c:strCache>
                <c:ptCount val="13"/>
                <c:pt idx="0">
                  <c:v>Airlines</c:v>
                </c:pt>
                <c:pt idx="1">
                  <c:v>Elec</c:v>
                </c:pt>
                <c:pt idx="2">
                  <c:v>Covtype</c:v>
                </c:pt>
                <c:pt idx="3">
                  <c:v>Kdd99</c:v>
                </c:pt>
                <c:pt idx="4">
                  <c:v>Internet ads</c:v>
                </c:pt>
                <c:pt idx="5">
                  <c:v>Nomao</c:v>
                </c:pt>
                <c:pt idx="6">
                  <c:v>Spam Corpus</c:v>
                </c:pt>
                <c:pt idx="7">
                  <c:v>LED(a)</c:v>
                </c:pt>
                <c:pt idx="8">
                  <c:v>LED(g)</c:v>
                </c:pt>
                <c:pt idx="9">
                  <c:v>AGR(a)</c:v>
                </c:pt>
                <c:pt idx="10">
                  <c:v>AGR(g)</c:v>
                </c:pt>
                <c:pt idx="11">
                  <c:v>RBF(m)</c:v>
                </c:pt>
                <c:pt idx="12">
                  <c:v>RBF(f)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62.24</c:v>
                </c:pt>
                <c:pt idx="1">
                  <c:v>84.15</c:v>
                </c:pt>
                <c:pt idx="2">
                  <c:v>88.86</c:v>
                </c:pt>
                <c:pt idx="3">
                  <c:v>99.72</c:v>
                </c:pt>
                <c:pt idx="4">
                  <c:v>82.66</c:v>
                </c:pt>
                <c:pt idx="5">
                  <c:v>87.3</c:v>
                </c:pt>
                <c:pt idx="6">
                  <c:v>93.91</c:v>
                </c:pt>
                <c:pt idx="7">
                  <c:v>59.24</c:v>
                </c:pt>
                <c:pt idx="8">
                  <c:v>59.24</c:v>
                </c:pt>
                <c:pt idx="9">
                  <c:v>61.95</c:v>
                </c:pt>
                <c:pt idx="10">
                  <c:v>61.96</c:v>
                </c:pt>
                <c:pt idx="11">
                  <c:v>64.55</c:v>
                </c:pt>
                <c:pt idx="12">
                  <c:v>44.09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78AB-42EB-9F1E-3EABDE88D11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Renoir AMF</c:v>
                </c:pt>
              </c:strCache>
            </c:strRef>
          </c:tx>
          <c:spPr>
            <a:solidFill>
              <a:srgbClr val="285F9B"/>
            </a:solidFill>
            <a:ln>
              <a:noFill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sz="1100"/>
                      <a:t>+0.29 pp</a:t>
                    </a:r>
                  </a:p>
                </c:rich>
              </c:tx>
              <c:showLegendKey val="0"/>
              <c:showVal val="1"/>
              <c:showCatName val="1"/>
              <c:showSerName val="1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78AB-42EB-9F1E-3EABDE88D11F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1100"/>
                      <a:t>0.00 pp</a:t>
                    </a:r>
                  </a:p>
                </c:rich>
              </c:tx>
              <c:showLegendKey val="0"/>
              <c:showVal val="1"/>
              <c:showCatName val="1"/>
              <c:showSerName val="1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78AB-42EB-9F1E-3EABDE88D11F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1100"/>
                      <a:t>+3.66 pp</a:t>
                    </a:r>
                  </a:p>
                </c:rich>
              </c:tx>
              <c:showLegendKey val="0"/>
              <c:showVal val="1"/>
              <c:showCatName val="1"/>
              <c:showSerName val="1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78AB-42EB-9F1E-3EABDE88D11F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1100"/>
                      <a:t>0.00 pp</a:t>
                    </a:r>
                  </a:p>
                </c:rich>
              </c:tx>
              <c:showLegendKey val="0"/>
              <c:showVal val="1"/>
              <c:showCatName val="1"/>
              <c:showSerName val="1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78AB-42EB-9F1E-3EABDE88D11F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1100"/>
                      <a:t>+0.06 pp</a:t>
                    </a:r>
                  </a:p>
                </c:rich>
              </c:tx>
              <c:showLegendKey val="0"/>
              <c:showVal val="1"/>
              <c:showCatName val="1"/>
              <c:showSerName val="1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78AB-42EB-9F1E-3EABDE88D11F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sz="1100"/>
                      <a:t>+0.13 pp</a:t>
                    </a:r>
                  </a:p>
                </c:rich>
              </c:tx>
              <c:showLegendKey val="0"/>
              <c:showVal val="1"/>
              <c:showCatName val="1"/>
              <c:showSerName val="1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78AB-42EB-9F1E-3EABDE88D11F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 sz="1100"/>
                      <a:t>-0.18 pp</a:t>
                    </a:r>
                  </a:p>
                </c:rich>
              </c:tx>
              <c:showLegendKey val="0"/>
              <c:showVal val="1"/>
              <c:showCatName val="1"/>
              <c:showSerName val="1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78AB-42EB-9F1E-3EABDE88D11F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 sz="1100"/>
                      <a:t>+2.65 pp</a:t>
                    </a:r>
                  </a:p>
                </c:rich>
              </c:tx>
              <c:showLegendKey val="0"/>
              <c:showVal val="1"/>
              <c:showCatName val="1"/>
              <c:showSerName val="1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78AB-42EB-9F1E-3EABDE88D11F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r>
                      <a:rPr lang="en-US" sz="1100"/>
                      <a:t>+2.66 pp</a:t>
                    </a:r>
                  </a:p>
                </c:rich>
              </c:tx>
              <c:showLegendKey val="0"/>
              <c:showVal val="1"/>
              <c:showCatName val="1"/>
              <c:showSerName val="1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78AB-42EB-9F1E-3EABDE88D11F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r>
                      <a:rPr lang="en-US" sz="1100"/>
                      <a:t>+0.22 pp</a:t>
                    </a:r>
                  </a:p>
                </c:rich>
              </c:tx>
              <c:showLegendKey val="0"/>
              <c:showVal val="1"/>
              <c:showCatName val="1"/>
              <c:showSerName val="1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78AB-42EB-9F1E-3EABDE88D11F}"/>
                </c:ext>
              </c:extLst>
            </c:dLbl>
            <c:dLbl>
              <c:idx val="10"/>
              <c:tx>
                <c:rich>
                  <a:bodyPr/>
                  <a:lstStyle/>
                  <a:p>
                    <a:r>
                      <a:rPr lang="en-US" sz="1100"/>
                      <a:t>+0.21 pp</a:t>
                    </a:r>
                  </a:p>
                </c:rich>
              </c:tx>
              <c:showLegendKey val="0"/>
              <c:showVal val="1"/>
              <c:showCatName val="1"/>
              <c:showSerName val="1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78AB-42EB-9F1E-3EABDE88D11F}"/>
                </c:ext>
              </c:extLst>
            </c:dLbl>
            <c:dLbl>
              <c:idx val="11"/>
              <c:tx>
                <c:rich>
                  <a:bodyPr/>
                  <a:lstStyle/>
                  <a:p>
                    <a:r>
                      <a:rPr lang="en-US" sz="1100"/>
                      <a:t>+0.75 pp</a:t>
                    </a:r>
                  </a:p>
                </c:rich>
              </c:tx>
              <c:showLegendKey val="0"/>
              <c:showVal val="1"/>
              <c:showCatName val="1"/>
              <c:showSerName val="1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C-78AB-42EB-9F1E-3EABDE88D11F}"/>
                </c:ext>
              </c:extLst>
            </c:dLbl>
            <c:dLbl>
              <c:idx val="12"/>
              <c:tx>
                <c:rich>
                  <a:bodyPr/>
                  <a:lstStyle/>
                  <a:p>
                    <a:r>
                      <a:rPr lang="en-US" sz="1100"/>
                      <a:t>+0.66 pp</a:t>
                    </a:r>
                  </a:p>
                </c:rich>
              </c:tx>
              <c:showLegendKey val="0"/>
              <c:showVal val="1"/>
              <c:showCatName val="1"/>
              <c:showSerName val="1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D-78AB-42EB-9F1E-3EABDE88D11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>
                    <a:solidFill>
                      <a:srgbClr val="102C53"/>
                    </a:solidFill>
                    <a:latin typeface="Segoe UI"/>
                  </a:defRPr>
                </a:pPr>
                <a:endParaRPr lang="zh-CN"/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Sheet1!$A$2:$A$14</c:f>
              <c:strCache>
                <c:ptCount val="13"/>
                <c:pt idx="0">
                  <c:v>Airlines</c:v>
                </c:pt>
                <c:pt idx="1">
                  <c:v>Elec</c:v>
                </c:pt>
                <c:pt idx="2">
                  <c:v>Covtype</c:v>
                </c:pt>
                <c:pt idx="3">
                  <c:v>Kdd99</c:v>
                </c:pt>
                <c:pt idx="4">
                  <c:v>Internet ads</c:v>
                </c:pt>
                <c:pt idx="5">
                  <c:v>Nomao</c:v>
                </c:pt>
                <c:pt idx="6">
                  <c:v>Spam Corpus</c:v>
                </c:pt>
                <c:pt idx="7">
                  <c:v>LED(a)</c:v>
                </c:pt>
                <c:pt idx="8">
                  <c:v>LED(g)</c:v>
                </c:pt>
                <c:pt idx="9">
                  <c:v>AGR(a)</c:v>
                </c:pt>
                <c:pt idx="10">
                  <c:v>AGR(g)</c:v>
                </c:pt>
                <c:pt idx="11">
                  <c:v>RBF(m)</c:v>
                </c:pt>
                <c:pt idx="12">
                  <c:v>RBF(f)</c:v>
                </c:pt>
              </c:strCache>
            </c: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62.53</c:v>
                </c:pt>
                <c:pt idx="1">
                  <c:v>84.15</c:v>
                </c:pt>
                <c:pt idx="2">
                  <c:v>92.52</c:v>
                </c:pt>
                <c:pt idx="3">
                  <c:v>99.72</c:v>
                </c:pt>
                <c:pt idx="4">
                  <c:v>82.72</c:v>
                </c:pt>
                <c:pt idx="5">
                  <c:v>87.43</c:v>
                </c:pt>
                <c:pt idx="6">
                  <c:v>93.73</c:v>
                </c:pt>
                <c:pt idx="7">
                  <c:v>61.89</c:v>
                </c:pt>
                <c:pt idx="8">
                  <c:v>61.9</c:v>
                </c:pt>
                <c:pt idx="9">
                  <c:v>62.17</c:v>
                </c:pt>
                <c:pt idx="10">
                  <c:v>62.17</c:v>
                </c:pt>
                <c:pt idx="11">
                  <c:v>65.3</c:v>
                </c:pt>
                <c:pt idx="12">
                  <c:v>44.75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E-78AB-42EB-9F1E-3EABDE88D11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  <a:endParaRPr lang="zh-CN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20"/>
          <c:min val="0"/>
        </c:scaling>
        <c:delete val="0"/>
        <c:axPos val="t"/>
        <c:majorGridlines>
          <c:spPr>
            <a:ln>
              <a:solidFill>
                <a:srgbClr val="E3E9EF"/>
              </a:solidFill>
            </a:ln>
          </c:spPr>
        </c:majorGridlines>
        <c:numFmt formatCode="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  <a:endParaRPr lang="zh-CN"/>
          </a:p>
        </c:txPr>
        <c:crossAx val="-2068027336"/>
        <c:crosses val="autoZero"/>
        <c:crossBetween val="between"/>
        <c:majorUnit val="25"/>
      </c:valAx>
    </c:plotArea>
    <c:legend>
      <c:legendPos val="b"/>
      <c:overlay val="0"/>
      <c:txPr>
        <a:bodyPr/>
        <a:lstStyle/>
        <a:p>
          <a:pPr>
            <a:defRPr sz="1100"/>
          </a:pPr>
          <a:endParaRPr lang="zh-CN"/>
        </a:p>
      </c:txPr>
    </c:legend>
    <c:plotVisOnly val="1"/>
    <c:dispBlanksAs val="gap"/>
    <c:showDLblsOverMax val="1"/>
  </c:chart>
  <c:txPr>
    <a:bodyPr/>
    <a:lstStyle/>
    <a:p>
      <a:pPr>
        <a:defRPr sz="1100">
          <a:solidFill>
            <a:srgbClr val="102C53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pPr>
              <a:defRPr/>
            </a:pPr>
            <a:r>
              <a:rPr lang="en-US" altLang="zh-CN" sz="1400" b="1" dirty="0">
                <a:solidFill>
                  <a:srgbClr val="000000"/>
                </a:solidFill>
                <a:latin typeface="Segoe UI"/>
              </a:rPr>
              <a:t>AMF  · 10 trees · Throughput (instances/s)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Onelearn AMF</c:v>
                </c:pt>
              </c:strCache>
            </c:strRef>
          </c:tx>
          <c:spPr>
            <a:solidFill>
              <a:srgbClr val="E59042"/>
            </a:solidFill>
            <a:ln>
              <a:noFill/>
            </a:ln>
          </c:spPr>
          <c:invertIfNegative val="1"/>
          <c:cat>
            <c:strRef>
              <c:f>Sheet1!$A$2:$A$14</c:f>
              <c:strCache>
                <c:ptCount val="13"/>
                <c:pt idx="0">
                  <c:v>Airlines</c:v>
                </c:pt>
                <c:pt idx="1">
                  <c:v>Elec</c:v>
                </c:pt>
                <c:pt idx="2">
                  <c:v>Covtype</c:v>
                </c:pt>
                <c:pt idx="3">
                  <c:v>Kdd99</c:v>
                </c:pt>
                <c:pt idx="4">
                  <c:v>Internet ads</c:v>
                </c:pt>
                <c:pt idx="5">
                  <c:v>Nomao</c:v>
                </c:pt>
                <c:pt idx="6">
                  <c:v>Spam Corpus</c:v>
                </c:pt>
                <c:pt idx="7">
                  <c:v>LED(a)</c:v>
                </c:pt>
                <c:pt idx="8">
                  <c:v>LED(g)</c:v>
                </c:pt>
                <c:pt idx="9">
                  <c:v>AGR(a)</c:v>
                </c:pt>
                <c:pt idx="10">
                  <c:v>AGR(g)</c:v>
                </c:pt>
                <c:pt idx="11">
                  <c:v>RBF(m)</c:v>
                </c:pt>
                <c:pt idx="12">
                  <c:v>RBF(f)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540</c:v>
                </c:pt>
                <c:pt idx="1">
                  <c:v>4259</c:v>
                </c:pt>
                <c:pt idx="2">
                  <c:v>2687</c:v>
                </c:pt>
                <c:pt idx="3">
                  <c:v>1742</c:v>
                </c:pt>
                <c:pt idx="4">
                  <c:v>502</c:v>
                </c:pt>
                <c:pt idx="5">
                  <c:v>2618</c:v>
                </c:pt>
                <c:pt idx="6">
                  <c:v>7</c:v>
                </c:pt>
                <c:pt idx="7">
                  <c:v>2799</c:v>
                </c:pt>
                <c:pt idx="8">
                  <c:v>2795</c:v>
                </c:pt>
                <c:pt idx="9">
                  <c:v>3220</c:v>
                </c:pt>
                <c:pt idx="10">
                  <c:v>3232</c:v>
                </c:pt>
                <c:pt idx="11">
                  <c:v>2611</c:v>
                </c:pt>
                <c:pt idx="12">
                  <c:v>2395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1FB8-45E4-9201-ADEEFBD4B51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Renoir AMF</c:v>
                </c:pt>
              </c:strCache>
            </c:strRef>
          </c:tx>
          <c:spPr>
            <a:solidFill>
              <a:srgbClr val="285F9B"/>
            </a:solidFill>
            <a:ln>
              <a:noFill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sz="1100" b="1"/>
                      <a:t>1.63×</a:t>
                    </a:r>
                  </a:p>
                </c:rich>
              </c:tx>
              <c:showLegendKey val="0"/>
              <c:showVal val="1"/>
              <c:showCatName val="1"/>
              <c:showSerName val="1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1FB8-45E4-9201-ADEEFBD4B511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1100" b="1"/>
                      <a:t>18.24×</a:t>
                    </a:r>
                  </a:p>
                </c:rich>
              </c:tx>
              <c:showLegendKey val="0"/>
              <c:showVal val="1"/>
              <c:showCatName val="1"/>
              <c:showSerName val="1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1FB8-45E4-9201-ADEEFBD4B511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1100" b="1"/>
                      <a:t>4.88×</a:t>
                    </a:r>
                  </a:p>
                </c:rich>
              </c:tx>
              <c:showLegendKey val="0"/>
              <c:showVal val="1"/>
              <c:showCatName val="1"/>
              <c:showSerName val="1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1FB8-45E4-9201-ADEEFBD4B511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1100" b="1"/>
                      <a:t>8.64×</a:t>
                    </a:r>
                  </a:p>
                </c:rich>
              </c:tx>
              <c:showLegendKey val="0"/>
              <c:showVal val="1"/>
              <c:showCatName val="1"/>
              <c:showSerName val="1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1FB8-45E4-9201-ADEEFBD4B511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1100" b="1"/>
                      <a:t>1.04×</a:t>
                    </a:r>
                  </a:p>
                </c:rich>
              </c:tx>
              <c:showLegendKey val="0"/>
              <c:showVal val="1"/>
              <c:showCatName val="1"/>
              <c:showSerName val="1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1FB8-45E4-9201-ADEEFBD4B511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sz="1100" b="1"/>
                      <a:t>3.12×</a:t>
                    </a:r>
                  </a:p>
                </c:rich>
              </c:tx>
              <c:showLegendKey val="0"/>
              <c:showVal val="1"/>
              <c:showCatName val="1"/>
              <c:showSerName val="1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1FB8-45E4-9201-ADEEFBD4B511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 sz="1100" b="1"/>
                      <a:t>0.87×</a:t>
                    </a:r>
                  </a:p>
                </c:rich>
              </c:tx>
              <c:showLegendKey val="0"/>
              <c:showVal val="1"/>
              <c:showCatName val="1"/>
              <c:showSerName val="1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1FB8-45E4-9201-ADEEFBD4B511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 sz="1100" b="1"/>
                      <a:t>7.19×</a:t>
                    </a:r>
                  </a:p>
                </c:rich>
              </c:tx>
              <c:showLegendKey val="0"/>
              <c:showVal val="1"/>
              <c:showCatName val="1"/>
              <c:showSerName val="1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1FB8-45E4-9201-ADEEFBD4B511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r>
                      <a:rPr lang="en-US" sz="1100" b="1"/>
                      <a:t>7.20×</a:t>
                    </a:r>
                  </a:p>
                </c:rich>
              </c:tx>
              <c:showLegendKey val="0"/>
              <c:showVal val="1"/>
              <c:showCatName val="1"/>
              <c:showSerName val="1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1FB8-45E4-9201-ADEEFBD4B511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r>
                      <a:rPr lang="en-US" sz="1100" b="1"/>
                      <a:t>5.80×</a:t>
                    </a:r>
                  </a:p>
                </c:rich>
              </c:tx>
              <c:showLegendKey val="0"/>
              <c:showVal val="1"/>
              <c:showCatName val="1"/>
              <c:showSerName val="1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1FB8-45E4-9201-ADEEFBD4B511}"/>
                </c:ext>
              </c:extLst>
            </c:dLbl>
            <c:dLbl>
              <c:idx val="10"/>
              <c:tx>
                <c:rich>
                  <a:bodyPr/>
                  <a:lstStyle/>
                  <a:p>
                    <a:r>
                      <a:rPr lang="en-US" sz="1100" b="1"/>
                      <a:t>5.80×</a:t>
                    </a:r>
                  </a:p>
                </c:rich>
              </c:tx>
              <c:showLegendKey val="0"/>
              <c:showVal val="1"/>
              <c:showCatName val="1"/>
              <c:showSerName val="1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1FB8-45E4-9201-ADEEFBD4B511}"/>
                </c:ext>
              </c:extLst>
            </c:dLbl>
            <c:dLbl>
              <c:idx val="11"/>
              <c:tx>
                <c:rich>
                  <a:bodyPr/>
                  <a:lstStyle/>
                  <a:p>
                    <a:r>
                      <a:rPr lang="en-US" sz="1100" b="1"/>
                      <a:t>5.36×</a:t>
                    </a:r>
                  </a:p>
                </c:rich>
              </c:tx>
              <c:showLegendKey val="0"/>
              <c:showVal val="1"/>
              <c:showCatName val="1"/>
              <c:showSerName val="1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C-1FB8-45E4-9201-ADEEFBD4B511}"/>
                </c:ext>
              </c:extLst>
            </c:dLbl>
            <c:dLbl>
              <c:idx val="12"/>
              <c:tx>
                <c:rich>
                  <a:bodyPr/>
                  <a:lstStyle/>
                  <a:p>
                    <a:r>
                      <a:rPr lang="en-US" sz="1100" b="1"/>
                      <a:t>5.33×</a:t>
                    </a:r>
                  </a:p>
                </c:rich>
              </c:tx>
              <c:showLegendKey val="0"/>
              <c:showVal val="1"/>
              <c:showCatName val="1"/>
              <c:showSerName val="1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D-1FB8-45E4-9201-ADEEFBD4B51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>
                    <a:solidFill>
                      <a:srgbClr val="102C53"/>
                    </a:solidFill>
                    <a:latin typeface="Segoe UI"/>
                  </a:defRPr>
                </a:pPr>
                <a:endParaRPr lang="zh-CN"/>
              </a:p>
            </c:tx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Sheet1!$A$2:$A$14</c:f>
              <c:strCache>
                <c:ptCount val="13"/>
                <c:pt idx="0">
                  <c:v>Airlines</c:v>
                </c:pt>
                <c:pt idx="1">
                  <c:v>Elec</c:v>
                </c:pt>
                <c:pt idx="2">
                  <c:v>Covtype</c:v>
                </c:pt>
                <c:pt idx="3">
                  <c:v>Kdd99</c:v>
                </c:pt>
                <c:pt idx="4">
                  <c:v>Internet ads</c:v>
                </c:pt>
                <c:pt idx="5">
                  <c:v>Nomao</c:v>
                </c:pt>
                <c:pt idx="6">
                  <c:v>Spam Corpus</c:v>
                </c:pt>
                <c:pt idx="7">
                  <c:v>LED(a)</c:v>
                </c:pt>
                <c:pt idx="8">
                  <c:v>LED(g)</c:v>
                </c:pt>
                <c:pt idx="9">
                  <c:v>AGR(a)</c:v>
                </c:pt>
                <c:pt idx="10">
                  <c:v>AGR(g)</c:v>
                </c:pt>
                <c:pt idx="11">
                  <c:v>RBF(m)</c:v>
                </c:pt>
                <c:pt idx="12">
                  <c:v>RBF(f)</c:v>
                </c:pt>
              </c:strCache>
            </c: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879</c:v>
                </c:pt>
                <c:pt idx="1">
                  <c:v>77674</c:v>
                </c:pt>
                <c:pt idx="2">
                  <c:v>13111</c:v>
                </c:pt>
                <c:pt idx="3">
                  <c:v>15056</c:v>
                </c:pt>
                <c:pt idx="4">
                  <c:v>521</c:v>
                </c:pt>
                <c:pt idx="5">
                  <c:v>8155</c:v>
                </c:pt>
                <c:pt idx="6">
                  <c:v>6</c:v>
                </c:pt>
                <c:pt idx="7">
                  <c:v>20137</c:v>
                </c:pt>
                <c:pt idx="8">
                  <c:v>20127</c:v>
                </c:pt>
                <c:pt idx="9">
                  <c:v>18666</c:v>
                </c:pt>
                <c:pt idx="10">
                  <c:v>18752</c:v>
                </c:pt>
                <c:pt idx="11">
                  <c:v>14003</c:v>
                </c:pt>
                <c:pt idx="12">
                  <c:v>12756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E-1FB8-45E4-9201-ADEEFBD4B51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>
            <a:noFill/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000"/>
          <c:min val="0"/>
        </c:scaling>
        <c:delete val="0"/>
        <c:axPos val="t"/>
        <c:majorGridlines>
          <c:spPr>
            <a:ln>
              <a:solidFill>
                <a:srgbClr val="E3E9EF"/>
              </a:solidFill>
            </a:ln>
          </c:spPr>
        </c:majorGridlines>
        <c:numFmt formatCode="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  <a:endParaRPr lang="zh-CN"/>
          </a:p>
        </c:txPr>
        <c:crossAx val="-2068027336"/>
        <c:crosses val="autoZero"/>
        <c:crossBetween val="between"/>
        <c:majorUnit val="25000"/>
      </c:valAx>
    </c:plotArea>
    <c:legend>
      <c:legendPos val="b"/>
      <c:overlay val="0"/>
      <c:txPr>
        <a:bodyPr/>
        <a:lstStyle/>
        <a:p>
          <a:pPr>
            <a:defRPr sz="1100">
              <a:latin typeface="Segoe UI"/>
            </a:defRPr>
          </a:pPr>
          <a:endParaRPr lang="zh-CN"/>
        </a:p>
      </c:txPr>
    </c:legend>
    <c:plotVisOnly val="1"/>
    <c:dispBlanksAs val="gap"/>
    <c:showDLblsOverMax val="1"/>
  </c:chart>
  <c:txPr>
    <a:bodyPr/>
    <a:lstStyle/>
    <a:p>
      <a:pPr>
        <a:defRPr sz="1100">
          <a:solidFill>
            <a:srgbClr val="102C53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r>
              <a:rPr lang="en-US" sz="1300" b="1">
                <a:solidFill>
                  <a:srgbClr val="000000"/>
                </a:solidFill>
                <a:latin typeface="Segoe UI"/>
              </a:rPr>
              <a:t>Number of features vs speedup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AMF</c:v>
                </c:pt>
              </c:strCache>
            </c:strRef>
          </c:tx>
          <c:spPr>
            <a:ln w="22860">
              <a:solidFill>
                <a:srgbClr val="285F9B"/>
              </a:solidFill>
            </a:ln>
          </c:spPr>
          <c:marker>
            <c:symbol val="circle"/>
            <c:size val="5"/>
            <c:spPr>
              <a:solidFill>
                <a:srgbClr val="285F9B"/>
              </a:solidFill>
              <a:ln>
                <a:noFill/>
              </a:ln>
            </c:spPr>
          </c:marker>
          <c:cat>
            <c:strRef>
              <c:f>Sheet1!$A$2:$A$14</c:f>
              <c:strCache>
                <c:ptCount val="13"/>
                <c:pt idx="0">
                  <c:v>7</c:v>
                </c:pt>
                <c:pt idx="1">
                  <c:v>8</c:v>
                </c:pt>
                <c:pt idx="2">
                  <c:v>9</c:v>
                </c:pt>
                <c:pt idx="3">
                  <c:v>9</c:v>
                </c:pt>
                <c:pt idx="4">
                  <c:v>10</c:v>
                </c:pt>
                <c:pt idx="5">
                  <c:v>10</c:v>
                </c:pt>
                <c:pt idx="6">
                  <c:v>24</c:v>
                </c:pt>
                <c:pt idx="7">
                  <c:v>24</c:v>
                </c:pt>
                <c:pt idx="8">
                  <c:v>41</c:v>
                </c:pt>
                <c:pt idx="9">
                  <c:v>54</c:v>
                </c:pt>
                <c:pt idx="10">
                  <c:v>119</c:v>
                </c:pt>
                <c:pt idx="11">
                  <c:v>1,559</c:v>
                </c:pt>
                <c:pt idx="12">
                  <c:v>39,917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1.63</c:v>
                </c:pt>
                <c:pt idx="1">
                  <c:v>18.239999999999998</c:v>
                </c:pt>
                <c:pt idx="2">
                  <c:v>5.8</c:v>
                </c:pt>
                <c:pt idx="3">
                  <c:v>5.8</c:v>
                </c:pt>
                <c:pt idx="4">
                  <c:v>5.36</c:v>
                </c:pt>
                <c:pt idx="5">
                  <c:v>5.33</c:v>
                </c:pt>
                <c:pt idx="6">
                  <c:v>7.19</c:v>
                </c:pt>
                <c:pt idx="7">
                  <c:v>7.2</c:v>
                </c:pt>
                <c:pt idx="8">
                  <c:v>8.64</c:v>
                </c:pt>
                <c:pt idx="9">
                  <c:v>4.88</c:v>
                </c:pt>
                <c:pt idx="10">
                  <c:v>3.12</c:v>
                </c:pt>
                <c:pt idx="11">
                  <c:v>1.04</c:v>
                </c:pt>
                <c:pt idx="12">
                  <c:v>0.87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99E3-49A4-BA2D-72D24B778BF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  <a:endParaRPr lang="zh-CN"/>
          </a:p>
        </c:txPr>
        <c:crossAx val="2140495176"/>
        <c:crosses val="autoZero"/>
        <c:auto val="1"/>
        <c:lblAlgn val="ctr"/>
        <c:lblOffset val="100"/>
        <c:tickLblSkip val="1"/>
        <c:noMultiLvlLbl val="0"/>
      </c:catAx>
      <c:valAx>
        <c:axId val="2140495176"/>
        <c:scaling>
          <c:orientation val="minMax"/>
          <c:max val="20"/>
          <c:min val="0"/>
        </c:scaling>
        <c:delete val="0"/>
        <c:axPos val="l"/>
        <c:majorGridlines>
          <c:spPr>
            <a:ln>
              <a:solidFill>
                <a:srgbClr val="E3E9EF"/>
              </a:solidFill>
            </a:ln>
          </c:spPr>
        </c:majorGridlines>
        <c:numFmt formatCode="0&quot;×&quot;" sourceLinked="0"/>
        <c:majorTickMark val="none"/>
        <c:minorTickMark val="none"/>
        <c:tickLblPos val="nextTo"/>
        <c:spPr>
          <a:ln>
            <a:noFill/>
          </a:ln>
        </c:spPr>
        <c:crossAx val="2118791784"/>
        <c:crosses val="autoZero"/>
        <c:crossBetween val="between"/>
        <c:majorUnit val="5"/>
      </c:valAx>
    </c:plotArea>
    <c:plotVisOnly val="1"/>
    <c:dispBlanksAs val="gap"/>
    <c:showDLblsOverMax val="0"/>
  </c:chart>
  <c:txPr>
    <a:bodyPr/>
    <a:lstStyle/>
    <a:p>
      <a:pPr>
        <a:defRPr sz="1100">
          <a:solidFill>
            <a:srgbClr val="102C53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title>
      <c:tx>
        <c:rich>
          <a:bodyPr/>
          <a:lstStyle/>
          <a:p>
            <a:r>
              <a:rPr lang="en-US" sz="1600" b="1">
                <a:solidFill>
                  <a:srgbClr val="000000"/>
                </a:solidFill>
                <a:latin typeface="Segoe UI"/>
              </a:rPr>
              <a:t>AMF · 20 trees · Relative speedup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RBF(m)</c:v>
                </c:pt>
              </c:strCache>
            </c:strRef>
          </c:tx>
          <c:spPr>
            <a:ln w="31750">
              <a:solidFill>
                <a:srgbClr val="285F9B"/>
              </a:solidFill>
            </a:ln>
          </c:spPr>
          <c:marker>
            <c:symbol val="circle"/>
            <c:size val="7"/>
            <c:spPr>
              <a:solidFill>
                <a:srgbClr val="285F9B"/>
              </a:solidFill>
              <a:ln>
                <a:solidFill>
                  <a:srgbClr val="285F9B"/>
                </a:solidFill>
              </a:ln>
            </c:spPr>
          </c:marker>
          <c:dLbls>
            <c:dLbl>
              <c:idx val="5"/>
              <c:tx>
                <c:rich>
                  <a:bodyPr/>
                  <a:lstStyle/>
                  <a:p>
                    <a:r>
                      <a:rPr lang="en-US" altLang="zh-CN" sz="1300" b="1">
                        <a:solidFill>
                          <a:srgbClr val="285F9B"/>
                        </a:solidFill>
                      </a:rPr>
                      <a:t>17.66×</a:t>
                    </a:r>
                  </a:p>
                </c:rich>
              </c:tx>
              <c:numFmt formatCode="0.00&quot;×&quot;" sourceLinked="0"/>
              <c:spPr/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D3A2-4085-AFD1-E028404462A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>
                    <a:solidFill>
                      <a:srgbClr val="285F9B"/>
                    </a:solidFill>
                    <a:latin typeface="Segoe UI"/>
                  </a:defRPr>
                </a:pPr>
                <a:endParaRPr lang="zh-CN"/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  <c:pt idx="5">
                  <c:v>32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</c:v>
                </c:pt>
                <c:pt idx="1">
                  <c:v>2.0099999999999998</c:v>
                </c:pt>
                <c:pt idx="2">
                  <c:v>3.96</c:v>
                </c:pt>
                <c:pt idx="3">
                  <c:v>6.53</c:v>
                </c:pt>
                <c:pt idx="4">
                  <c:v>10.25</c:v>
                </c:pt>
                <c:pt idx="5">
                  <c:v>17.66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3A2-4085-AFD1-E028404462A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Spam Corpus</c:v>
                </c:pt>
              </c:strCache>
            </c:strRef>
          </c:tx>
          <c:spPr>
            <a:ln w="31750">
              <a:solidFill>
                <a:srgbClr val="E59042"/>
              </a:solidFill>
            </a:ln>
          </c:spPr>
          <c:marker>
            <c:symbol val="circle"/>
            <c:size val="7"/>
            <c:spPr>
              <a:solidFill>
                <a:srgbClr val="E59042"/>
              </a:solidFill>
              <a:ln>
                <a:solidFill>
                  <a:srgbClr val="E59042"/>
                </a:solidFill>
              </a:ln>
            </c:spPr>
          </c:marker>
          <c:dLbls>
            <c:dLbl>
              <c:idx val="5"/>
              <c:tx>
                <c:rich>
                  <a:bodyPr/>
                  <a:lstStyle/>
                  <a:p>
                    <a:r>
                      <a:rPr lang="en-US" altLang="zh-CN" sz="1300" b="1">
                        <a:solidFill>
                          <a:srgbClr val="E59042"/>
                        </a:solidFill>
                      </a:rPr>
                      <a:t>2.92×</a:t>
                    </a:r>
                  </a:p>
                </c:rich>
              </c:tx>
              <c:numFmt formatCode="0.00&quot;×&quot;" sourceLinked="0"/>
              <c:spPr/>
              <c:dLblPos val="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D3A2-4085-AFD1-E028404462A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1">
                    <a:solidFill>
                      <a:srgbClr val="E59042"/>
                    </a:solidFill>
                    <a:latin typeface="Segoe UI"/>
                  </a:defRPr>
                </a:pPr>
                <a:endParaRPr lang="zh-CN"/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</c:v>
                </c:pt>
                <c:pt idx="1">
                  <c:v>2</c:v>
                </c:pt>
                <c:pt idx="2">
                  <c:v>4</c:v>
                </c:pt>
                <c:pt idx="3">
                  <c:v>8</c:v>
                </c:pt>
                <c:pt idx="4">
                  <c:v>16</c:v>
                </c:pt>
                <c:pt idx="5">
                  <c:v>32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</c:v>
                </c:pt>
                <c:pt idx="1">
                  <c:v>1.8</c:v>
                </c:pt>
                <c:pt idx="2">
                  <c:v>2.56</c:v>
                </c:pt>
                <c:pt idx="3">
                  <c:v>2.75</c:v>
                </c:pt>
                <c:pt idx="4">
                  <c:v>2.88</c:v>
                </c:pt>
                <c:pt idx="5">
                  <c:v>2.92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D3A2-4085-AFD1-E028404462A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  <a:endParaRPr lang="zh-CN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20"/>
          <c:min val="0"/>
        </c:scaling>
        <c:delete val="0"/>
        <c:axPos val="l"/>
        <c:majorGridlines>
          <c:spPr>
            <a:ln w="10160">
              <a:solidFill>
                <a:srgbClr val="DFE7F0"/>
              </a:solidFill>
            </a:ln>
          </c:spPr>
        </c:majorGridlines>
        <c:numFmt formatCode="0&quot;×&quot;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  <a:endParaRPr lang="zh-CN"/>
          </a:p>
        </c:txPr>
        <c:crossAx val="2118791784"/>
        <c:crosses val="autoZero"/>
        <c:crossBetween val="between"/>
        <c:majorUnit val="5"/>
      </c:valAx>
    </c:plotArea>
    <c:legend>
      <c:legendPos val="b"/>
      <c:overlay val="0"/>
      <c:txPr>
        <a:bodyPr/>
        <a:lstStyle/>
        <a:p>
          <a:pPr>
            <a:defRPr sz="1200">
              <a:latin typeface="Segoe UI"/>
            </a:defRPr>
          </a:pPr>
          <a:endParaRPr lang="zh-CN"/>
        </a:p>
      </c:txPr>
    </c:legend>
    <c:plotVisOnly val="1"/>
    <c:dispBlanksAs val="gap"/>
    <c:showDLblsOverMax val="0"/>
  </c:chart>
  <c:txPr>
    <a:bodyPr/>
    <a:lstStyle/>
    <a:p>
      <a:pPr>
        <a:defRPr sz="1100">
          <a:solidFill>
            <a:srgbClr val="102C53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title>
      <c:tx>
        <c:rich>
          <a:bodyPr/>
          <a:lstStyle/>
          <a:p>
            <a:r>
              <a:rPr lang="en-US" sz="1300" b="1" dirty="0">
                <a:solidFill>
                  <a:srgbClr val="000000"/>
                </a:solidFill>
                <a:latin typeface="Segoe UI"/>
              </a:rPr>
              <a:t>AMF · 20 trees · Throughput (instances/s)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Local parallel</c:v>
                </c:pt>
              </c:strCache>
            </c:strRef>
          </c:tx>
          <c:spPr>
            <a:solidFill>
              <a:srgbClr val="E59042"/>
            </a:solidFill>
            <a:ln>
              <a:noFill/>
            </a:ln>
          </c:spPr>
          <c:invertIfNegative val="1"/>
          <c:cat>
            <c:strRef>
              <c:f>Sheet1!$A$2:$A$14</c:f>
              <c:strCache>
                <c:ptCount val="13"/>
                <c:pt idx="0">
                  <c:v>Airlines</c:v>
                </c:pt>
                <c:pt idx="1">
                  <c:v>Elec</c:v>
                </c:pt>
                <c:pt idx="2">
                  <c:v>Covtype</c:v>
                </c:pt>
                <c:pt idx="3">
                  <c:v>Kdd99</c:v>
                </c:pt>
                <c:pt idx="4">
                  <c:v>Internet ads</c:v>
                </c:pt>
                <c:pt idx="5">
                  <c:v>Nomao</c:v>
                </c:pt>
                <c:pt idx="6">
                  <c:v>Spam Corpus</c:v>
                </c:pt>
                <c:pt idx="7">
                  <c:v>LED(a)</c:v>
                </c:pt>
                <c:pt idx="8">
                  <c:v>LED(g)</c:v>
                </c:pt>
                <c:pt idx="9">
                  <c:v>AGR(a)</c:v>
                </c:pt>
                <c:pt idx="10">
                  <c:v>AGR(g)</c:v>
                </c:pt>
                <c:pt idx="11">
                  <c:v>RBF(m)</c:v>
                </c:pt>
                <c:pt idx="12">
                  <c:v>RBF(f)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2412.38</c:v>
                </c:pt>
                <c:pt idx="1">
                  <c:v>206806.96</c:v>
                </c:pt>
                <c:pt idx="2">
                  <c:v>38869.589999999997</c:v>
                </c:pt>
                <c:pt idx="3">
                  <c:v>42660.08</c:v>
                </c:pt>
                <c:pt idx="4">
                  <c:v>1126.1400000000001</c:v>
                </c:pt>
                <c:pt idx="5">
                  <c:v>27265.26</c:v>
                </c:pt>
                <c:pt idx="6">
                  <c:v>8.75</c:v>
                </c:pt>
                <c:pt idx="7">
                  <c:v>50461.01</c:v>
                </c:pt>
                <c:pt idx="8">
                  <c:v>50927.58</c:v>
                </c:pt>
                <c:pt idx="9">
                  <c:v>49800.59</c:v>
                </c:pt>
                <c:pt idx="10">
                  <c:v>49711.61</c:v>
                </c:pt>
                <c:pt idx="11">
                  <c:v>38560.65</c:v>
                </c:pt>
                <c:pt idx="12">
                  <c:v>36807.35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8AD4-4EFA-869C-91BF828B6854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Remote distributed</c:v>
                </c:pt>
              </c:strCache>
            </c:strRef>
          </c:tx>
          <c:spPr>
            <a:solidFill>
              <a:srgbClr val="285F9B"/>
            </a:solidFill>
            <a:ln>
              <a:noFill/>
            </a:ln>
          </c:spPr>
          <c:invertIfNegative val="1"/>
          <c:dLbls>
            <c:dLbl>
              <c:idx val="0"/>
              <c:tx>
                <c:rich>
                  <a:bodyPr/>
                  <a:lstStyle/>
                  <a:p>
                    <a:r>
                      <a:rPr lang="en-US" altLang="zh-CN" sz="1100" b="1"/>
                      <a:t>95.85%</a:t>
                    </a:r>
                  </a:p>
                </c:rich>
              </c:tx>
              <c:showLegendKey val="1"/>
              <c:showVal val="1"/>
              <c:showCatName val="1"/>
              <c:showSerName val="1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8AD4-4EFA-869C-91BF828B6854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altLang="zh-CN" sz="1100" b="1"/>
                      <a:t>72.17%</a:t>
                    </a:r>
                  </a:p>
                </c:rich>
              </c:tx>
              <c:showLegendKey val="1"/>
              <c:showVal val="1"/>
              <c:showCatName val="1"/>
              <c:showSerName val="1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8AD4-4EFA-869C-91BF828B6854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altLang="zh-CN" sz="1100" b="1"/>
                      <a:t>94.36%</a:t>
                    </a:r>
                  </a:p>
                </c:rich>
              </c:tx>
              <c:showLegendKey val="1"/>
              <c:showVal val="1"/>
              <c:showCatName val="1"/>
              <c:showSerName val="1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8AD4-4EFA-869C-91BF828B6854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altLang="zh-CN" sz="1100" b="1"/>
                      <a:t>98.30%</a:t>
                    </a:r>
                  </a:p>
                </c:rich>
              </c:tx>
              <c:showLegendKey val="1"/>
              <c:showVal val="1"/>
              <c:showCatName val="1"/>
              <c:showSerName val="1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8AD4-4EFA-869C-91BF828B6854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altLang="zh-CN" sz="1100" b="1"/>
                      <a:t>90.72%</a:t>
                    </a:r>
                  </a:p>
                </c:rich>
              </c:tx>
              <c:showLegendKey val="1"/>
              <c:showVal val="1"/>
              <c:showCatName val="1"/>
              <c:showSerName val="1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8AD4-4EFA-869C-91BF828B6854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altLang="zh-CN" sz="1100" b="1"/>
                      <a:t>89.89%</a:t>
                    </a:r>
                  </a:p>
                </c:rich>
              </c:tx>
              <c:showLegendKey val="1"/>
              <c:showVal val="1"/>
              <c:showCatName val="1"/>
              <c:showSerName val="1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8AD4-4EFA-869C-91BF828B6854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 altLang="zh-CN" sz="1100" b="1"/>
                      <a:t>103.43%</a:t>
                    </a:r>
                  </a:p>
                </c:rich>
              </c:tx>
              <c:showLegendKey val="1"/>
              <c:showVal val="1"/>
              <c:showCatName val="1"/>
              <c:showSerName val="1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8AD4-4EFA-869C-91BF828B6854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 altLang="zh-CN" sz="1100" b="1"/>
                      <a:t>93.21%</a:t>
                    </a:r>
                  </a:p>
                </c:rich>
              </c:tx>
              <c:showLegendKey val="1"/>
              <c:showVal val="1"/>
              <c:showCatName val="1"/>
              <c:showSerName val="1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8AD4-4EFA-869C-91BF828B6854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r>
                      <a:rPr lang="en-US" altLang="zh-CN" sz="1100" b="1"/>
                      <a:t>93.70%</a:t>
                    </a:r>
                  </a:p>
                </c:rich>
              </c:tx>
              <c:showLegendKey val="1"/>
              <c:showVal val="1"/>
              <c:showCatName val="1"/>
              <c:showSerName val="1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8AD4-4EFA-869C-91BF828B6854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r>
                      <a:rPr lang="en-US" altLang="zh-CN" sz="1100" b="1"/>
                      <a:t>93.14%</a:t>
                    </a:r>
                  </a:p>
                </c:rich>
              </c:tx>
              <c:showLegendKey val="1"/>
              <c:showVal val="1"/>
              <c:showCatName val="1"/>
              <c:showSerName val="1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8AD4-4EFA-869C-91BF828B6854}"/>
                </c:ext>
              </c:extLst>
            </c:dLbl>
            <c:dLbl>
              <c:idx val="10"/>
              <c:tx>
                <c:rich>
                  <a:bodyPr/>
                  <a:lstStyle/>
                  <a:p>
                    <a:r>
                      <a:rPr lang="en-US" altLang="zh-CN" sz="1100" b="1"/>
                      <a:t>94.18%</a:t>
                    </a:r>
                  </a:p>
                </c:rich>
              </c:tx>
              <c:showLegendKey val="1"/>
              <c:showVal val="1"/>
              <c:showCatName val="1"/>
              <c:showSerName val="1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8AD4-4EFA-869C-91BF828B6854}"/>
                </c:ext>
              </c:extLst>
            </c:dLbl>
            <c:dLbl>
              <c:idx val="11"/>
              <c:tx>
                <c:rich>
                  <a:bodyPr/>
                  <a:lstStyle/>
                  <a:p>
                    <a:r>
                      <a:rPr lang="en-US" altLang="zh-CN" sz="1100" b="1"/>
                      <a:t>94.77%</a:t>
                    </a:r>
                  </a:p>
                </c:rich>
              </c:tx>
              <c:showLegendKey val="1"/>
              <c:showVal val="1"/>
              <c:showCatName val="1"/>
              <c:showSerName val="1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C-8AD4-4EFA-869C-91BF828B6854}"/>
                </c:ext>
              </c:extLst>
            </c:dLbl>
            <c:dLbl>
              <c:idx val="12"/>
              <c:tx>
                <c:rich>
                  <a:bodyPr/>
                  <a:lstStyle/>
                  <a:p>
                    <a:r>
                      <a:rPr lang="en-US" altLang="zh-CN" sz="1100" b="1"/>
                      <a:t>94.42%</a:t>
                    </a:r>
                  </a:p>
                </c:rich>
              </c:tx>
              <c:showLegendKey val="1"/>
              <c:showVal val="1"/>
              <c:showCatName val="1"/>
              <c:showSerName val="1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D-8AD4-4EFA-869C-91BF828B6854}"/>
                </c:ext>
              </c:extLst>
            </c:dLbl>
            <c:spPr>
              <a:noFill/>
              <a:ln>
                <a:noFill/>
              </a:ln>
              <a:effectLst/>
            </c:spPr>
            <c:dLblPos val="outEnd"/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Sheet1!$A$2:$A$14</c:f>
              <c:strCache>
                <c:ptCount val="13"/>
                <c:pt idx="0">
                  <c:v>Airlines</c:v>
                </c:pt>
                <c:pt idx="1">
                  <c:v>Elec</c:v>
                </c:pt>
                <c:pt idx="2">
                  <c:v>Covtype</c:v>
                </c:pt>
                <c:pt idx="3">
                  <c:v>Kdd99</c:v>
                </c:pt>
                <c:pt idx="4">
                  <c:v>Internet ads</c:v>
                </c:pt>
                <c:pt idx="5">
                  <c:v>Nomao</c:v>
                </c:pt>
                <c:pt idx="6">
                  <c:v>Spam Corpus</c:v>
                </c:pt>
                <c:pt idx="7">
                  <c:v>LED(a)</c:v>
                </c:pt>
                <c:pt idx="8">
                  <c:v>LED(g)</c:v>
                </c:pt>
                <c:pt idx="9">
                  <c:v>AGR(a)</c:v>
                </c:pt>
                <c:pt idx="10">
                  <c:v>AGR(g)</c:v>
                </c:pt>
                <c:pt idx="11">
                  <c:v>RBF(m)</c:v>
                </c:pt>
                <c:pt idx="12">
                  <c:v>RBF(f)</c:v>
                </c:pt>
              </c:strCache>
            </c:strRef>
          </c:cat>
          <c:val>
            <c:numRef>
              <c:f>Sheet1!$C$2:$C$14</c:f>
              <c:numCache>
                <c:formatCode>General</c:formatCode>
                <c:ptCount val="13"/>
                <c:pt idx="0">
                  <c:v>2312.27</c:v>
                </c:pt>
                <c:pt idx="1">
                  <c:v>149256.15</c:v>
                </c:pt>
                <c:pt idx="2">
                  <c:v>36677.919999999998</c:v>
                </c:pt>
                <c:pt idx="3">
                  <c:v>41935.18</c:v>
                </c:pt>
                <c:pt idx="4">
                  <c:v>1021.58</c:v>
                </c:pt>
                <c:pt idx="5">
                  <c:v>24507.98</c:v>
                </c:pt>
                <c:pt idx="6">
                  <c:v>9.0500000000000007</c:v>
                </c:pt>
                <c:pt idx="7">
                  <c:v>47034.65</c:v>
                </c:pt>
                <c:pt idx="8">
                  <c:v>47716.88</c:v>
                </c:pt>
                <c:pt idx="9">
                  <c:v>46382.16</c:v>
                </c:pt>
                <c:pt idx="10">
                  <c:v>46820.43</c:v>
                </c:pt>
                <c:pt idx="11">
                  <c:v>36542.910000000003</c:v>
                </c:pt>
                <c:pt idx="12">
                  <c:v>34753.730000000003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E-8AD4-4EFA-869C-91BF828B68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>
            <a:noFill/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250000"/>
          <c:min val="0"/>
        </c:scaling>
        <c:delete val="0"/>
        <c:axPos val="t"/>
        <c:majorGridlines>
          <c:spPr>
            <a:ln>
              <a:solidFill>
                <a:srgbClr val="E3E9EF"/>
              </a:solidFill>
            </a:ln>
          </c:spPr>
        </c:majorGridlines>
        <c:numFmt formatCode="#,##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  <a:endParaRPr lang="zh-CN"/>
          </a:p>
        </c:txPr>
        <c:crossAx val="-2068027336"/>
        <c:crosses val="autoZero"/>
        <c:crossBetween val="between"/>
        <c:majorUnit val="50000"/>
      </c:valAx>
    </c:plotArea>
    <c:legend>
      <c:legendPos val="b"/>
      <c:overlay val="0"/>
      <c:txPr>
        <a:bodyPr/>
        <a:lstStyle/>
        <a:p>
          <a:pPr>
            <a:defRPr sz="1100"/>
          </a:pPr>
          <a:endParaRPr lang="zh-CN"/>
        </a:p>
      </c:txPr>
    </c:legend>
    <c:plotVisOnly val="1"/>
    <c:dispBlanksAs val="gap"/>
    <c:showDLblsOverMax val="1"/>
  </c:chart>
  <c:txPr>
    <a:bodyPr/>
    <a:lstStyle/>
    <a:p>
      <a:pPr>
        <a:defRPr sz="1100">
          <a:solidFill>
            <a:srgbClr val="102C53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/>
          <a:lstStyle/>
          <a:p>
            <a:r>
              <a:rPr lang="en-US" sz="1300" b="1">
                <a:solidFill>
                  <a:srgbClr val="000000"/>
                </a:solidFill>
                <a:latin typeface="Segoe UI"/>
              </a:rPr>
              <a:t>Number of features vs efficiency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AMF</c:v>
                </c:pt>
              </c:strCache>
            </c:strRef>
          </c:tx>
          <c:spPr>
            <a:ln w="22860">
              <a:solidFill>
                <a:srgbClr val="285F9B"/>
              </a:solidFill>
            </a:ln>
          </c:spPr>
          <c:marker>
            <c:symbol val="circle"/>
            <c:size val="5"/>
            <c:spPr>
              <a:solidFill>
                <a:srgbClr val="285F9B"/>
              </a:solidFill>
              <a:ln>
                <a:noFill/>
              </a:ln>
            </c:spPr>
          </c:marker>
          <c:cat>
            <c:strRef>
              <c:f>Sheet1!$A$2:$A$14</c:f>
              <c:strCache>
                <c:ptCount val="13"/>
                <c:pt idx="0">
                  <c:v>7</c:v>
                </c:pt>
                <c:pt idx="1">
                  <c:v>8</c:v>
                </c:pt>
                <c:pt idx="2">
                  <c:v>9</c:v>
                </c:pt>
                <c:pt idx="3">
                  <c:v>9</c:v>
                </c:pt>
                <c:pt idx="4">
                  <c:v>10</c:v>
                </c:pt>
                <c:pt idx="5">
                  <c:v>10</c:v>
                </c:pt>
                <c:pt idx="6">
                  <c:v>24</c:v>
                </c:pt>
                <c:pt idx="7">
                  <c:v>24</c:v>
                </c:pt>
                <c:pt idx="8">
                  <c:v>41</c:v>
                </c:pt>
                <c:pt idx="9">
                  <c:v>54</c:v>
                </c:pt>
                <c:pt idx="10">
                  <c:v>119</c:v>
                </c:pt>
                <c:pt idx="11">
                  <c:v>1,559</c:v>
                </c:pt>
                <c:pt idx="12">
                  <c:v>39,917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95.85</c:v>
                </c:pt>
                <c:pt idx="1">
                  <c:v>72.17</c:v>
                </c:pt>
                <c:pt idx="2">
                  <c:v>93.14</c:v>
                </c:pt>
                <c:pt idx="3">
                  <c:v>94.18</c:v>
                </c:pt>
                <c:pt idx="4">
                  <c:v>94.77</c:v>
                </c:pt>
                <c:pt idx="5">
                  <c:v>94.42</c:v>
                </c:pt>
                <c:pt idx="6">
                  <c:v>93.21</c:v>
                </c:pt>
                <c:pt idx="7">
                  <c:v>93.7</c:v>
                </c:pt>
                <c:pt idx="8">
                  <c:v>98.3</c:v>
                </c:pt>
                <c:pt idx="9">
                  <c:v>94.36</c:v>
                </c:pt>
                <c:pt idx="10">
                  <c:v>89.89</c:v>
                </c:pt>
                <c:pt idx="11">
                  <c:v>90.72</c:v>
                </c:pt>
                <c:pt idx="12">
                  <c:v>103.43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20C-49E0-A693-23A90CA84A0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  <a:endParaRPr lang="zh-CN"/>
          </a:p>
        </c:txPr>
        <c:crossAx val="2140495176"/>
        <c:crosses val="autoZero"/>
        <c:auto val="1"/>
        <c:lblAlgn val="ctr"/>
        <c:lblOffset val="100"/>
        <c:tickLblSkip val="1"/>
        <c:noMultiLvlLbl val="0"/>
      </c:catAx>
      <c:valAx>
        <c:axId val="2140495176"/>
        <c:scaling>
          <c:orientation val="minMax"/>
          <c:max val="110"/>
          <c:min val="60"/>
        </c:scaling>
        <c:delete val="0"/>
        <c:axPos val="l"/>
        <c:majorGridlines>
          <c:spPr>
            <a:ln>
              <a:solidFill>
                <a:srgbClr val="E3E9EF"/>
              </a:solidFill>
            </a:ln>
          </c:spPr>
        </c:majorGridlines>
        <c:numFmt formatCode="0&quot;%&quot;" sourceLinked="0"/>
        <c:majorTickMark val="none"/>
        <c:minorTickMark val="none"/>
        <c:tickLblPos val="nextTo"/>
        <c:spPr>
          <a:ln>
            <a:noFill/>
          </a:ln>
        </c:spPr>
        <c:crossAx val="2118791784"/>
        <c:crosses val="autoZero"/>
        <c:crossBetween val="between"/>
        <c:majorUnit val="10"/>
      </c:valAx>
    </c:plotArea>
    <c:plotVisOnly val="1"/>
    <c:dispBlanksAs val="gap"/>
    <c:showDLblsOverMax val="0"/>
  </c:chart>
  <c:txPr>
    <a:bodyPr/>
    <a:lstStyle/>
    <a:p>
      <a:pPr>
        <a:defRPr sz="1100">
          <a:solidFill>
            <a:srgbClr val="102C53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title>
      <c:tx>
        <c:rich>
          <a:bodyPr/>
          <a:lstStyle/>
          <a:p>
            <a:r>
              <a:rPr lang="en-US" sz="1500" b="1">
                <a:solidFill>
                  <a:srgbClr val="000000"/>
                </a:solidFill>
                <a:latin typeface="Segoe UI"/>
              </a:rPr>
              <a:t>Accuracy gain vs 10 trees (pp)</a:t>
            </a:r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covtypeNorm</c:v>
                </c:pt>
              </c:strCache>
            </c:strRef>
          </c:tx>
          <c:spPr>
            <a:ln w="27940">
              <a:solidFill>
                <a:srgbClr val="285F9B"/>
              </a:solidFill>
            </a:ln>
          </c:spPr>
          <c:marker>
            <c:symbol val="circle"/>
            <c:size val="5"/>
            <c:spPr>
              <a:solidFill>
                <a:srgbClr val="285F9B"/>
              </a:solidFill>
              <a:ln>
                <a:noFill/>
              </a:ln>
            </c:spPr>
          </c:marker>
          <c:xVal>
            <c:numRef>
              <c:f>Sheet1!$A$2:$A$10</c:f>
              <c:numCache>
                <c:formatCode>General</c:formatCode>
                <c:ptCount val="9"/>
                <c:pt idx="0">
                  <c:v>10</c:v>
                </c:pt>
                <c:pt idx="1">
                  <c:v>15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  <c:pt idx="7">
                  <c:v>70</c:v>
                </c:pt>
                <c:pt idx="8">
                  <c:v>80</c:v>
                </c:pt>
              </c:numCache>
            </c:numRef>
          </c:xVal>
          <c:yVal>
            <c:numRef>
              <c:f>Sheet1!$B$2:$B$10</c:f>
              <c:numCache>
                <c:formatCode>General</c:formatCode>
                <c:ptCount val="9"/>
                <c:pt idx="0">
                  <c:v>0</c:v>
                </c:pt>
                <c:pt idx="1">
                  <c:v>0.28000000000000003</c:v>
                </c:pt>
                <c:pt idx="2">
                  <c:v>0.39</c:v>
                </c:pt>
                <c:pt idx="3">
                  <c:v>0.6</c:v>
                </c:pt>
                <c:pt idx="4">
                  <c:v>0.66</c:v>
                </c:pt>
                <c:pt idx="5">
                  <c:v>0.72</c:v>
                </c:pt>
                <c:pt idx="6">
                  <c:v>0.75</c:v>
                </c:pt>
                <c:pt idx="7">
                  <c:v>0.8</c:v>
                </c:pt>
                <c:pt idx="8">
                  <c:v>0.8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B366-4DB4-875C-0721D9F750EA}"/>
            </c:ext>
          </c:extLst>
        </c:ser>
        <c:ser>
          <c:idx val="1"/>
          <c:order val="1"/>
          <c:tx>
            <c:strRef>
              <c:f>Sheet1!$B$12</c:f>
              <c:strCache>
                <c:ptCount val="1"/>
                <c:pt idx="0">
                  <c:v>RBF(f)</c:v>
                </c:pt>
              </c:strCache>
            </c:strRef>
          </c:tx>
          <c:spPr>
            <a:ln w="27940">
              <a:solidFill>
                <a:srgbClr val="E59042"/>
              </a:solidFill>
            </a:ln>
          </c:spPr>
          <c:marker>
            <c:symbol val="circle"/>
            <c:size val="5"/>
            <c:spPr>
              <a:solidFill>
                <a:srgbClr val="E59042"/>
              </a:solidFill>
              <a:ln>
                <a:noFill/>
              </a:ln>
            </c:spPr>
          </c:marker>
          <c:xVal>
            <c:numRef>
              <c:f>Sheet1!$A$13:$A$21</c:f>
              <c:numCache>
                <c:formatCode>General</c:formatCode>
                <c:ptCount val="9"/>
                <c:pt idx="0">
                  <c:v>10</c:v>
                </c:pt>
                <c:pt idx="1">
                  <c:v>15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  <c:pt idx="7">
                  <c:v>70</c:v>
                </c:pt>
                <c:pt idx="8">
                  <c:v>80</c:v>
                </c:pt>
              </c:numCache>
            </c:numRef>
          </c:xVal>
          <c:yVal>
            <c:numRef>
              <c:f>Sheet1!$B$13:$B$21</c:f>
              <c:numCache>
                <c:formatCode>General</c:formatCode>
                <c:ptCount val="9"/>
                <c:pt idx="0">
                  <c:v>0</c:v>
                </c:pt>
                <c:pt idx="1">
                  <c:v>1.98</c:v>
                </c:pt>
                <c:pt idx="2">
                  <c:v>3.25</c:v>
                </c:pt>
                <c:pt idx="3">
                  <c:v>4.78</c:v>
                </c:pt>
                <c:pt idx="4">
                  <c:v>5.71</c:v>
                </c:pt>
                <c:pt idx="5">
                  <c:v>6.34</c:v>
                </c:pt>
                <c:pt idx="6">
                  <c:v>6.8</c:v>
                </c:pt>
                <c:pt idx="7">
                  <c:v>7.13</c:v>
                </c:pt>
                <c:pt idx="8">
                  <c:v>7.4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B366-4DB4-875C-0721D9F750E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28940872"/>
        <c:axId val="-2129643912"/>
      </c:scatterChart>
      <c:valAx>
        <c:axId val="-2128940872"/>
        <c:scaling>
          <c:orientation val="minMax"/>
          <c:max val="80"/>
          <c:min val="10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  <a:endParaRPr lang="zh-CN"/>
          </a:p>
        </c:txPr>
        <c:crossAx val="-2129643912"/>
        <c:crosses val="autoZero"/>
        <c:crossBetween val="midCat"/>
        <c:majorUnit val="5"/>
      </c:valAx>
      <c:valAx>
        <c:axId val="-2129643912"/>
        <c:scaling>
          <c:orientation val="minMax"/>
          <c:max val="8"/>
          <c:min val="0"/>
        </c:scaling>
        <c:delete val="0"/>
        <c:axPos val="l"/>
        <c:majorGridlines>
          <c:spPr>
            <a:ln>
              <a:solidFill>
                <a:srgbClr val="E3E9EF"/>
              </a:solidFill>
            </a:ln>
          </c:spPr>
        </c:majorGridlines>
        <c:numFmt formatCode="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  <a:endParaRPr lang="zh-CN"/>
          </a:p>
        </c:txPr>
        <c:crossAx val="-2128940872"/>
        <c:crosses val="autoZero"/>
        <c:crossBetween val="midCat"/>
        <c:majorUnit val="2"/>
      </c:valAx>
    </c:plotArea>
    <c:legend>
      <c:legendPos val="b"/>
      <c:overlay val="0"/>
    </c:legend>
    <c:plotVisOnly val="1"/>
    <c:dispBlanksAs val="gap"/>
    <c:showDLblsOverMax val="0"/>
  </c:chart>
  <c:txPr>
    <a:bodyPr/>
    <a:lstStyle/>
    <a:p>
      <a:pPr>
        <a:defRPr sz="1100">
          <a:solidFill>
            <a:srgbClr val="102C53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title>
      <c:tx>
        <c:rich>
          <a:bodyPr/>
          <a:lstStyle/>
          <a:p>
            <a:r>
              <a:rPr lang="en-US" sz="1500" b="1">
                <a:solidFill>
                  <a:srgbClr val="000000"/>
                </a:solidFill>
                <a:latin typeface="Segoe UI"/>
              </a:rPr>
              <a:t>Throughput relative to 10 trees (%)</a:t>
            </a:r>
          </a:p>
        </c:rich>
      </c:tx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covtypeNorm</c:v>
                </c:pt>
              </c:strCache>
            </c:strRef>
          </c:tx>
          <c:spPr>
            <a:ln w="27940">
              <a:solidFill>
                <a:srgbClr val="285F9B"/>
              </a:solidFill>
            </a:ln>
          </c:spPr>
          <c:marker>
            <c:symbol val="circle"/>
            <c:size val="5"/>
            <c:spPr>
              <a:solidFill>
                <a:srgbClr val="285F9B"/>
              </a:solidFill>
              <a:ln>
                <a:noFill/>
              </a:ln>
            </c:spPr>
          </c:marker>
          <c:xVal>
            <c:numRef>
              <c:f>Sheet1!$A$2:$A$10</c:f>
              <c:numCache>
                <c:formatCode>General</c:formatCode>
                <c:ptCount val="9"/>
                <c:pt idx="0">
                  <c:v>10</c:v>
                </c:pt>
                <c:pt idx="1">
                  <c:v>15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  <c:pt idx="7">
                  <c:v>70</c:v>
                </c:pt>
                <c:pt idx="8">
                  <c:v>80</c:v>
                </c:pt>
              </c:numCache>
            </c:numRef>
          </c:xVal>
          <c:yVal>
            <c:numRef>
              <c:f>Sheet1!$B$2:$B$10</c:f>
              <c:numCache>
                <c:formatCode>General</c:formatCode>
                <c:ptCount val="9"/>
                <c:pt idx="0">
                  <c:v>100</c:v>
                </c:pt>
                <c:pt idx="1">
                  <c:v>93.45</c:v>
                </c:pt>
                <c:pt idx="2">
                  <c:v>75.31</c:v>
                </c:pt>
                <c:pt idx="3">
                  <c:v>52.72</c:v>
                </c:pt>
                <c:pt idx="4">
                  <c:v>32.729999999999997</c:v>
                </c:pt>
                <c:pt idx="5">
                  <c:v>28.96</c:v>
                </c:pt>
                <c:pt idx="6">
                  <c:v>24.88</c:v>
                </c:pt>
                <c:pt idx="7">
                  <c:v>18.91</c:v>
                </c:pt>
                <c:pt idx="8">
                  <c:v>17.600000000000001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6BA0-4F64-8AB1-C1B1B17B7235}"/>
            </c:ext>
          </c:extLst>
        </c:ser>
        <c:ser>
          <c:idx val="1"/>
          <c:order val="1"/>
          <c:tx>
            <c:strRef>
              <c:f>Sheet1!$B$12</c:f>
              <c:strCache>
                <c:ptCount val="1"/>
                <c:pt idx="0">
                  <c:v>RBF(f)</c:v>
                </c:pt>
              </c:strCache>
            </c:strRef>
          </c:tx>
          <c:spPr>
            <a:ln w="27940">
              <a:solidFill>
                <a:srgbClr val="E59042"/>
              </a:solidFill>
            </a:ln>
          </c:spPr>
          <c:marker>
            <c:symbol val="circle"/>
            <c:size val="5"/>
            <c:spPr>
              <a:solidFill>
                <a:srgbClr val="E59042"/>
              </a:solidFill>
              <a:ln>
                <a:noFill/>
              </a:ln>
            </c:spPr>
          </c:marker>
          <c:xVal>
            <c:numRef>
              <c:f>Sheet1!$A$13:$A$21</c:f>
              <c:numCache>
                <c:formatCode>General</c:formatCode>
                <c:ptCount val="9"/>
                <c:pt idx="0">
                  <c:v>10</c:v>
                </c:pt>
                <c:pt idx="1">
                  <c:v>15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  <c:pt idx="7">
                  <c:v>70</c:v>
                </c:pt>
                <c:pt idx="8">
                  <c:v>80</c:v>
                </c:pt>
              </c:numCache>
            </c:numRef>
          </c:xVal>
          <c:yVal>
            <c:numRef>
              <c:f>Sheet1!$B$13:$B$21</c:f>
              <c:numCache>
                <c:formatCode>General</c:formatCode>
                <c:ptCount val="9"/>
                <c:pt idx="0">
                  <c:v>100</c:v>
                </c:pt>
                <c:pt idx="1">
                  <c:v>90.22</c:v>
                </c:pt>
                <c:pt idx="2">
                  <c:v>76.11</c:v>
                </c:pt>
                <c:pt idx="3">
                  <c:v>55.49</c:v>
                </c:pt>
                <c:pt idx="4">
                  <c:v>31.9</c:v>
                </c:pt>
                <c:pt idx="5">
                  <c:v>28.3</c:v>
                </c:pt>
                <c:pt idx="6">
                  <c:v>23.9</c:v>
                </c:pt>
                <c:pt idx="7">
                  <c:v>17.5</c:v>
                </c:pt>
                <c:pt idx="8">
                  <c:v>16.04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6BA0-4F64-8AB1-C1B1B17B723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28940872"/>
        <c:axId val="-2129643912"/>
      </c:scatterChart>
      <c:valAx>
        <c:axId val="-2128940872"/>
        <c:scaling>
          <c:orientation val="minMax"/>
          <c:max val="80"/>
          <c:min val="10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  <a:endParaRPr lang="zh-CN"/>
          </a:p>
        </c:txPr>
        <c:crossAx val="-2129643912"/>
        <c:crosses val="autoZero"/>
        <c:crossBetween val="midCat"/>
        <c:majorUnit val="5"/>
      </c:valAx>
      <c:valAx>
        <c:axId val="-2129643912"/>
        <c:scaling>
          <c:orientation val="minMax"/>
          <c:max val="100"/>
          <c:min val="0"/>
        </c:scaling>
        <c:delete val="0"/>
        <c:axPos val="l"/>
        <c:majorGridlines>
          <c:spPr>
            <a:ln>
              <a:solidFill>
                <a:srgbClr val="E3E9EF"/>
              </a:solidFill>
            </a:ln>
          </c:spPr>
        </c:majorGridlines>
        <c:numFmt formatCode="0&quot;%&quot;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/>
            </a:pPr>
            <a:endParaRPr lang="zh-CN"/>
          </a:p>
        </c:txPr>
        <c:crossAx val="-2128940872"/>
        <c:crosses val="autoZero"/>
        <c:crossBetween val="midCat"/>
        <c:majorUnit val="25"/>
      </c:valAx>
    </c:plotArea>
    <c:legend>
      <c:legendPos val="b"/>
      <c:overlay val="0"/>
    </c:legend>
    <c:plotVisOnly val="1"/>
    <c:dispBlanksAs val="gap"/>
    <c:showDLblsOverMax val="0"/>
  </c:chart>
  <c:txPr>
    <a:bodyPr/>
    <a:lstStyle/>
    <a:p>
      <a:pPr>
        <a:defRPr sz="1100">
          <a:solidFill>
            <a:srgbClr val="102C53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EA76DF-173F-4CFB-B28B-1915A5C0BA28}" type="datetimeFigureOut">
              <a:rPr lang="zh-CN" altLang="en-US" smtClean="0"/>
              <a:t>2026/10/21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93DB6A-73DD-4118-AD8C-380D0846DE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55456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  <a:p>
            <a:r>
              <a:rPr lang="en-US" dirty="0"/>
              <a:t>Hello everyone. I'm Zhiqiang Shi. Today, I'll present our thesis on </a:t>
            </a:r>
            <a:r>
              <a:rPr lang="en-US" b="1" dirty="0"/>
              <a:t>distributed streaming ensemble methods</a:t>
            </a:r>
            <a:r>
              <a:rPr lang="en-US" dirty="0"/>
              <a:t> in </a:t>
            </a:r>
            <a:r>
              <a:rPr lang="en-US" b="1" dirty="0"/>
              <a:t>Renoir</a:t>
            </a:r>
            <a:r>
              <a:rPr lang="en-US" dirty="0"/>
              <a:t>. I'll first introduce the </a:t>
            </a:r>
            <a:r>
              <a:rPr lang="en-US" altLang="zh-CN" dirty="0"/>
              <a:t>background</a:t>
            </a:r>
            <a:r>
              <a:rPr lang="en-US" dirty="0"/>
              <a:t>, then explain our implementation, and </a:t>
            </a:r>
            <a:r>
              <a:rPr lang="en-US" altLang="zh-CN" dirty="0"/>
              <a:t>at the end</a:t>
            </a:r>
            <a:r>
              <a:rPr lang="en-US" dirty="0"/>
              <a:t> show the results.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93DB6A-73DD-4118-AD8C-380D0846DE11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2901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/>
              <a:t>Today’s focus is </a:t>
            </a:r>
            <a:r>
              <a:rPr lang="zh-CN" altLang="zh-CN" b="1" dirty="0"/>
              <a:t>streaming machine learning</a:t>
            </a:r>
            <a:r>
              <a:rPr lang="zh-CN" altLang="zh-CN" dirty="0"/>
              <a:t>.</a:t>
            </a:r>
            <a:br>
              <a:rPr lang="zh-CN" altLang="zh-CN" dirty="0"/>
            </a:br>
            <a:r>
              <a:rPr lang="zh-CN" altLang="zh-CN" dirty="0"/>
              <a:t>In traditional machine learning, we train on a fixed dataset. But nowadays, many applications generate </a:t>
            </a:r>
            <a:r>
              <a:rPr lang="zh-CN" altLang="zh-CN" b="1" dirty="0"/>
              <a:t>data</a:t>
            </a:r>
            <a:r>
              <a:rPr lang="zh-CN" altLang="zh-CN" dirty="0"/>
              <a:t> continuously at high speed, so we need models that can learn from a </a:t>
            </a:r>
            <a:r>
              <a:rPr lang="zh-CN" altLang="zh-CN" b="1" dirty="0"/>
              <a:t>data</a:t>
            </a:r>
            <a:r>
              <a:rPr lang="zh-CN" altLang="zh-CN" dirty="0"/>
              <a:t> stream.</a:t>
            </a:r>
            <a:endParaRPr lang="en-US" altLang="zh-CN" dirty="0"/>
          </a:p>
          <a:p>
            <a:r>
              <a:rPr lang="zh-CN" altLang="zh-CN" dirty="0"/>
              <a:t> [click 1]</a:t>
            </a:r>
            <a:br>
              <a:rPr lang="zh-CN" altLang="zh-CN" dirty="0"/>
            </a:br>
            <a:r>
              <a:rPr lang="zh-CN" altLang="zh-CN" dirty="0"/>
              <a:t>The key idea </a:t>
            </a:r>
            <a:r>
              <a:rPr lang="en-US" altLang="zh-CN" dirty="0"/>
              <a:t>of </a:t>
            </a:r>
            <a:r>
              <a:rPr lang="en-US" altLang="zh-CN" b="1" dirty="0"/>
              <a:t>streaming machine learning</a:t>
            </a:r>
            <a:r>
              <a:rPr lang="en-US" altLang="zh-CN" dirty="0"/>
              <a:t> </a:t>
            </a:r>
            <a:r>
              <a:rPr lang="zh-CN" altLang="zh-CN" dirty="0"/>
              <a:t>is to </a:t>
            </a:r>
            <a:r>
              <a:rPr lang="zh-CN" altLang="zh-CN" b="1" dirty="0"/>
              <a:t>learn continuously from a data stream</a:t>
            </a:r>
            <a:r>
              <a:rPr lang="zh-CN" altLang="zh-CN" dirty="0"/>
              <a:t>, with </a:t>
            </a:r>
            <a:r>
              <a:rPr lang="zh-CN" altLang="zh-CN" b="1" dirty="0"/>
              <a:t>predictions available at any time</a:t>
            </a:r>
            <a:r>
              <a:rPr lang="zh-CN" altLang="zh-CN" dirty="0"/>
              <a:t>, using </a:t>
            </a:r>
            <a:r>
              <a:rPr lang="zh-CN" altLang="zh-CN" b="1" dirty="0"/>
              <a:t>limited time and memory</a:t>
            </a:r>
            <a:r>
              <a:rPr lang="zh-CN" altLang="zh-CN" dirty="0"/>
              <a:t>.</a:t>
            </a:r>
            <a:br>
              <a:rPr lang="zh-CN" altLang="zh-CN" dirty="0"/>
            </a:br>
            <a:r>
              <a:rPr lang="zh-CN" altLang="zh-CN" dirty="0"/>
              <a:t>[click 2]</a:t>
            </a:r>
            <a:br>
              <a:rPr lang="zh-CN" altLang="zh-CN" dirty="0"/>
            </a:br>
            <a:r>
              <a:rPr lang="zh-CN" altLang="zh-CN" dirty="0"/>
              <a:t>To evaluate how well the model </a:t>
            </a:r>
            <a:r>
              <a:rPr lang="en-US" altLang="zh-CN" dirty="0"/>
              <a:t>perform</a:t>
            </a:r>
            <a:r>
              <a:rPr lang="zh-CN" altLang="zh-CN" dirty="0"/>
              <a:t>, we use prequential evaluation.</a:t>
            </a:r>
            <a:br>
              <a:rPr lang="zh-CN" altLang="zh-CN" dirty="0"/>
            </a:br>
            <a:r>
              <a:rPr lang="zh-CN" altLang="zh-CN" dirty="0"/>
              <a:t>We assume that each example comes with a </a:t>
            </a:r>
            <a:r>
              <a:rPr lang="zh-CN" altLang="zh-CN" b="1" dirty="0"/>
              <a:t>label</a:t>
            </a:r>
            <a:r>
              <a:rPr lang="zh-CN" altLang="zh-CN" dirty="0"/>
              <a:t>: we predict first, then use the </a:t>
            </a:r>
            <a:r>
              <a:rPr lang="zh-CN" altLang="zh-CN" b="1" dirty="0"/>
              <a:t>label</a:t>
            </a:r>
            <a:r>
              <a:rPr lang="zh-CN" altLang="zh-CN" dirty="0"/>
              <a:t> to </a:t>
            </a:r>
            <a:r>
              <a:rPr lang="en-US" altLang="zh-CN" dirty="0"/>
              <a:t>check</a:t>
            </a:r>
            <a:r>
              <a:rPr lang="zh-CN" altLang="zh-CN" dirty="0"/>
              <a:t> the prediction and update the model.</a:t>
            </a:r>
            <a:br>
              <a:rPr lang="zh-CN" altLang="zh-CN" dirty="0"/>
            </a:br>
            <a:r>
              <a:rPr lang="zh-CN" altLang="zh-CN" dirty="0"/>
              <a:t>Each example is used only once and then discarded.</a:t>
            </a:r>
            <a:br>
              <a:rPr lang="zh-CN" altLang="zh-CN" dirty="0"/>
            </a:br>
            <a:r>
              <a:rPr lang="zh-CN" altLang="zh-CN" dirty="0"/>
              <a:t>[click 3]</a:t>
            </a:r>
            <a:endParaRPr lang="en-US" altLang="zh-CN" b="0" dirty="0"/>
          </a:p>
          <a:p>
            <a:r>
              <a:rPr lang="en-US" altLang="zh-CN" dirty="0"/>
              <a:t>The data stream brings </a:t>
            </a:r>
            <a:r>
              <a:rPr lang="zh-CN" altLang="zh-CN" dirty="0"/>
              <a:t>Another challenge</a:t>
            </a:r>
            <a:r>
              <a:rPr lang="en-US" altLang="zh-CN" dirty="0"/>
              <a:t>, </a:t>
            </a:r>
            <a:r>
              <a:rPr lang="zh-CN" altLang="zh-CN" b="1" dirty="0"/>
              <a:t>concept drift</a:t>
            </a:r>
            <a:r>
              <a:rPr lang="zh-CN" altLang="zh-CN" dirty="0"/>
              <a:t>. The </a:t>
            </a:r>
            <a:r>
              <a:rPr lang="zh-CN" altLang="zh-CN" b="1" dirty="0"/>
              <a:t>data distribution</a:t>
            </a:r>
            <a:r>
              <a:rPr lang="zh-CN" altLang="zh-CN" dirty="0"/>
              <a:t> can change over time, so the model needs to adapt to these changes.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93DB6A-73DD-4118-AD8C-380D0846DE11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86638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/>
              <a:t>Our thesis centers on ensemble methods. An ensemble combines predictions from several models. In our case, those models are decision trees.</a:t>
            </a:r>
            <a:endParaRPr lang="en-US" altLang="zh-CN" dirty="0"/>
          </a:p>
          <a:p>
            <a:endParaRPr lang="zh-CN" altLang="zh-CN" dirty="0"/>
          </a:p>
          <a:p>
            <a:r>
              <a:rPr lang="zh-CN" altLang="zh-CN" dirty="0"/>
              <a:t>click 1</a:t>
            </a:r>
            <a:br>
              <a:rPr lang="zh-CN" altLang="zh-CN" dirty="0"/>
            </a:br>
            <a:r>
              <a:rPr lang="zh-CN" altLang="zh-CN" dirty="0"/>
              <a:t>Our framework supports three methods. </a:t>
            </a:r>
            <a:r>
              <a:rPr lang="zh-CN" altLang="zh-CN" b="1" dirty="0"/>
              <a:t>Streaming Random Patches</a:t>
            </a:r>
            <a:r>
              <a:rPr lang="zh-CN" altLang="zh-CN" dirty="0"/>
              <a:t> and </a:t>
            </a:r>
            <a:r>
              <a:rPr lang="zh-CN" altLang="zh-CN" b="1" dirty="0"/>
              <a:t>Adaptive Random Forest</a:t>
            </a:r>
            <a:r>
              <a:rPr lang="zh-CN" altLang="zh-CN" dirty="0"/>
              <a:t> both use </a:t>
            </a:r>
            <a:r>
              <a:rPr lang="zh-CN" altLang="zh-CN" b="1" dirty="0"/>
              <a:t>Hoeffding trees</a:t>
            </a:r>
            <a:r>
              <a:rPr lang="zh-CN" altLang="zh-CN" dirty="0"/>
              <a:t> and were implemented by Antonio. I focused on </a:t>
            </a:r>
            <a:r>
              <a:rPr lang="zh-CN" altLang="zh-CN" b="1" dirty="0"/>
              <a:t>Aggregated Mondrian Forest</a:t>
            </a:r>
            <a:r>
              <a:rPr lang="zh-CN" altLang="zh-CN" dirty="0"/>
              <a:t>, or AMF, which uses </a:t>
            </a:r>
            <a:r>
              <a:rPr lang="zh-CN" altLang="zh-CN" b="1" dirty="0"/>
              <a:t>Mondrian trees</a:t>
            </a:r>
            <a:r>
              <a:rPr lang="zh-CN" altLang="zh-CN" dirty="0"/>
              <a:t>.</a:t>
            </a:r>
            <a:endParaRPr lang="en-US" altLang="zh-CN" dirty="0"/>
          </a:p>
          <a:p>
            <a:endParaRPr lang="zh-CN" altLang="zh-CN" dirty="0"/>
          </a:p>
          <a:p>
            <a:r>
              <a:rPr lang="zh-CN" altLang="zh-CN" dirty="0"/>
              <a:t>click 2</a:t>
            </a:r>
            <a:br>
              <a:rPr lang="zh-CN" altLang="zh-CN" dirty="0"/>
            </a:br>
            <a:r>
              <a:rPr lang="zh-CN" altLang="zh-CN" dirty="0"/>
              <a:t>One key feature is </a:t>
            </a:r>
            <a:r>
              <a:rPr lang="zh-CN" altLang="zh-CN" b="1" dirty="0"/>
              <a:t>diversity</a:t>
            </a:r>
            <a:r>
              <a:rPr lang="zh-CN" altLang="zh-CN" dirty="0"/>
              <a:t>. Here, the different </a:t>
            </a:r>
            <a:r>
              <a:rPr lang="zh-CN" altLang="zh-CN" b="1" dirty="0"/>
              <a:t>seeds</a:t>
            </a:r>
            <a:r>
              <a:rPr lang="zh-CN" altLang="zh-CN" dirty="0"/>
              <a:t> help the trees develop different structures, so they are less likely to make the same mistakes.</a:t>
            </a:r>
            <a:endParaRPr lang="en-US" altLang="zh-CN" dirty="0"/>
          </a:p>
          <a:p>
            <a:endParaRPr lang="zh-CN" altLang="zh-CN" dirty="0"/>
          </a:p>
          <a:p>
            <a:r>
              <a:rPr lang="zh-CN" altLang="zh-CN" dirty="0"/>
              <a:t>click 3</a:t>
            </a:r>
            <a:br>
              <a:rPr lang="zh-CN" altLang="zh-CN" dirty="0"/>
            </a:br>
            <a:r>
              <a:rPr lang="zh-CN" altLang="zh-CN" dirty="0"/>
              <a:t>The other is </a:t>
            </a:r>
            <a:r>
              <a:rPr lang="zh-CN" altLang="zh-CN" b="1" dirty="0"/>
              <a:t>aggregation</a:t>
            </a:r>
            <a:r>
              <a:rPr lang="zh-CN" altLang="zh-CN" dirty="0"/>
              <a:t>. Since we are working on a classification problem, in AMF, we average the class probabilities predicted by each tree and choose the class with the highest average.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93DB6A-73DD-4118-AD8C-380D0846DE1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26009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/>
              <a:t>Our work has three goals.</a:t>
            </a:r>
          </a:p>
          <a:p>
            <a:r>
              <a:rPr lang="zh-CN" altLang="zh-CN" dirty="0"/>
              <a:t>[click 1]</a:t>
            </a:r>
            <a:br>
              <a:rPr lang="zh-CN" altLang="zh-CN" dirty="0"/>
            </a:br>
            <a:r>
              <a:rPr lang="zh-CN" altLang="zh-CN" dirty="0"/>
              <a:t>First, a </a:t>
            </a:r>
            <a:r>
              <a:rPr lang="zh-CN" altLang="zh-CN" b="1" dirty="0"/>
              <a:t>unified module</a:t>
            </a:r>
            <a:r>
              <a:rPr lang="zh-CN" altLang="zh-CN" dirty="0"/>
              <a:t> to support multiple streaming ensemble methods. We want Adaptive Random Forest, Streaming Random Patches, and Aggregated Mondrian Forest to use a common pipelin</a:t>
            </a:r>
            <a:r>
              <a:rPr lang="en-US" altLang="zh-CN" dirty="0"/>
              <a:t>e</a:t>
            </a:r>
            <a:r>
              <a:rPr lang="zh-CN" altLang="zh-CN" dirty="0"/>
              <a:t>.</a:t>
            </a:r>
          </a:p>
          <a:p>
            <a:r>
              <a:rPr lang="zh-CN" altLang="zh-CN" dirty="0"/>
              <a:t>[click 2]</a:t>
            </a:r>
            <a:br>
              <a:rPr lang="zh-CN" altLang="zh-CN" dirty="0"/>
            </a:br>
            <a:r>
              <a:rPr lang="zh-CN" altLang="zh-CN" dirty="0"/>
              <a:t>Second, </a:t>
            </a:r>
            <a:r>
              <a:rPr lang="zh-CN" altLang="zh-CN" b="1" dirty="0"/>
              <a:t>distributed processing</a:t>
            </a:r>
            <a:r>
              <a:rPr lang="zh-CN" altLang="zh-CN" dirty="0"/>
              <a:t> to </a:t>
            </a:r>
            <a:r>
              <a:rPr lang="zh-CN" altLang="zh-CN" b="1" dirty="0"/>
              <a:t>scale across cores and machines</a:t>
            </a:r>
            <a:r>
              <a:rPr lang="zh-CN" altLang="zh-CN" dirty="0"/>
              <a:t>. This allows us to process the data stream in parallel using multiple workers.</a:t>
            </a:r>
          </a:p>
          <a:p>
            <a:r>
              <a:rPr lang="zh-CN" altLang="zh-CN" dirty="0"/>
              <a:t>[click 3]</a:t>
            </a:r>
            <a:br>
              <a:rPr lang="zh-CN" altLang="zh-CN" dirty="0"/>
            </a:br>
            <a:r>
              <a:rPr lang="zh-CN" altLang="zh-CN" dirty="0"/>
              <a:t>Third, </a:t>
            </a:r>
            <a:r>
              <a:rPr lang="zh-CN" altLang="zh-CN" b="1" dirty="0"/>
              <a:t>improved performance</a:t>
            </a:r>
            <a:r>
              <a:rPr lang="zh-CN" altLang="zh-CN" dirty="0"/>
              <a:t> to increase </a:t>
            </a:r>
            <a:r>
              <a:rPr lang="zh-CN" altLang="zh-CN" b="1" dirty="0"/>
              <a:t>throughput</a:t>
            </a:r>
            <a:r>
              <a:rPr lang="zh-CN" altLang="zh-CN" dirty="0"/>
              <a:t> while preserving </a:t>
            </a:r>
            <a:r>
              <a:rPr lang="zh-CN" altLang="zh-CN" b="1" dirty="0"/>
              <a:t>predictive accuracy</a:t>
            </a:r>
            <a:r>
              <a:rPr lang="en-US" altLang="zh-CN" dirty="0"/>
              <a:t>.</a:t>
            </a:r>
            <a:endParaRPr lang="zh-CN" altLang="zh-CN" dirty="0"/>
          </a:p>
          <a:p>
            <a:endParaRPr lang="en-US" altLang="zh-CN" b="0" dirty="0"/>
          </a:p>
          <a:p>
            <a:endParaRPr lang="en-US" altLang="zh-CN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93DB6A-73DD-4118-AD8C-380D0846DE1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43050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359DE8-F97E-7864-0DBF-A97EAAF1C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81B1531B-3E23-DB7D-4572-47CF586C8A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6C27D4A-4303-5288-E544-120CC624CF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/>
              <a:t>To understand AMF, let’s look at how a single Mondrian tree makes a </a:t>
            </a:r>
            <a:r>
              <a:rPr lang="zh-CN" altLang="zh-CN" b="1" dirty="0"/>
              <a:t>prediction</a:t>
            </a:r>
            <a:r>
              <a:rPr lang="zh-CN" altLang="zh-CN" dirty="0"/>
              <a:t>.</a:t>
            </a:r>
            <a:br>
              <a:rPr lang="zh-CN" altLang="zh-CN" dirty="0"/>
            </a:br>
            <a:r>
              <a:rPr lang="zh-CN" altLang="zh-CN" dirty="0"/>
              <a:t>[click 1]</a:t>
            </a:r>
            <a:br>
              <a:rPr lang="zh-CN" altLang="zh-CN" dirty="0"/>
            </a:br>
            <a:r>
              <a:rPr lang="zh-CN" altLang="zh-CN" dirty="0"/>
              <a:t>Here, you can see what each node stores.
Each node stores a range for each feature, from x 1 to x n.</a:t>
            </a:r>
            <a:r>
              <a:rPr lang="zh-CN" altLang="en-US" dirty="0"/>
              <a:t> </a:t>
            </a:r>
            <a:r>
              <a:rPr lang="zh-CN" altLang="zh-CN" dirty="0"/>
              <a:t>We use </a:t>
            </a:r>
            <a:r>
              <a:rPr lang="zh-CN" altLang="zh-CN" b="1" dirty="0"/>
              <a:t>feature cuts</a:t>
            </a:r>
            <a:r>
              <a:rPr lang="zh-CN" altLang="zh-CN" dirty="0"/>
              <a:t> to guide the routing.</a:t>
            </a:r>
            <a:br>
              <a:rPr lang="zh-CN" altLang="zh-CN" dirty="0"/>
            </a:br>
            <a:r>
              <a:rPr lang="zh-CN" altLang="zh-CN" dirty="0"/>
              <a:t>Each node also stores a counter for each class y, a creation time, and weights that reflect past predictive performance. </a:t>
            </a:r>
            <a:endParaRPr lang="en-US" altLang="zh-CN" dirty="0"/>
          </a:p>
          <a:p>
            <a:r>
              <a:rPr lang="zh-CN" altLang="zh-CN" dirty="0"/>
              <a:t>[click 2]</a:t>
            </a:r>
            <a:br>
              <a:rPr lang="zh-CN" altLang="zh-CN" dirty="0"/>
            </a:br>
            <a:r>
              <a:rPr lang="zh-CN" altLang="zh-CN" dirty="0"/>
              <a:t>First, let’s follow the </a:t>
            </a:r>
            <a:r>
              <a:rPr lang="zh-CN" altLang="zh-CN" b="1" dirty="0"/>
              <a:t>top-down</a:t>
            </a:r>
            <a:r>
              <a:rPr lang="zh-CN" altLang="zh-CN" dirty="0"/>
              <a:t> process
We follow </a:t>
            </a:r>
            <a:r>
              <a:rPr lang="zh-CN" altLang="zh-CN" b="1" dirty="0"/>
              <a:t>feature cuts</a:t>
            </a:r>
            <a:r>
              <a:rPr lang="zh-CN" altLang="zh-CN" dirty="0"/>
              <a:t> to reach the </a:t>
            </a:r>
            <a:r>
              <a:rPr lang="zh-CN" altLang="zh-CN" b="1" dirty="0"/>
              <a:t>leaf</a:t>
            </a:r>
            <a:r>
              <a:rPr lang="zh-CN" altLang="zh-CN" dirty="0"/>
              <a:t>. Here, the class counts give us the initial </a:t>
            </a:r>
            <a:r>
              <a:rPr lang="zh-CN" altLang="zh-CN" b="1" dirty="0"/>
              <a:t>class probabilities</a:t>
            </a:r>
            <a:r>
              <a:rPr lang="zh-CN" altLang="zh-CN" dirty="0"/>
              <a:t>.</a:t>
            </a:r>
            <a:br>
              <a:rPr lang="zh-CN" altLang="zh-CN" dirty="0"/>
            </a:br>
            <a:r>
              <a:rPr lang="zh-CN" altLang="zh-CN" dirty="0"/>
              <a:t>[click 3]</a:t>
            </a:r>
            <a:br>
              <a:rPr lang="zh-CN" altLang="zh-CN" dirty="0"/>
            </a:br>
            <a:r>
              <a:rPr lang="zh-CN" altLang="zh-CN" dirty="0"/>
              <a:t>Then, </a:t>
            </a:r>
            <a:r>
              <a:rPr lang="en-US" altLang="zh-CN" dirty="0"/>
              <a:t>let’s follow</a:t>
            </a:r>
            <a:r>
              <a:rPr lang="zh-CN" altLang="zh-CN" dirty="0"/>
              <a:t> </a:t>
            </a:r>
            <a:r>
              <a:rPr lang="en-US" altLang="zh-CN" dirty="0"/>
              <a:t>the</a:t>
            </a:r>
            <a:r>
              <a:rPr lang="zh-CN" altLang="zh-CN" dirty="0"/>
              <a:t> </a:t>
            </a:r>
            <a:r>
              <a:rPr lang="zh-CN" altLang="zh-CN" b="1" dirty="0"/>
              <a:t>bottom-up</a:t>
            </a:r>
            <a:r>
              <a:rPr lang="zh-CN" altLang="zh-CN" dirty="0"/>
              <a:t> process. We combine each node’s own </a:t>
            </a:r>
            <a:r>
              <a:rPr lang="zh-CN" altLang="zh-CN" b="1" dirty="0"/>
              <a:t>prediction</a:t>
            </a:r>
            <a:r>
              <a:rPr lang="zh-CN" altLang="zh-CN" dirty="0"/>
              <a:t> with the </a:t>
            </a:r>
            <a:r>
              <a:rPr lang="zh-CN" altLang="zh-CN" b="1" dirty="0"/>
              <a:t>prediction</a:t>
            </a:r>
            <a:r>
              <a:rPr lang="zh-CN" altLang="zh-CN" dirty="0"/>
              <a:t> coming from below. This is called </a:t>
            </a:r>
            <a:r>
              <a:rPr lang="zh-CN" altLang="zh-CN" b="1" dirty="0"/>
              <a:t>Context Tree Weighting</a:t>
            </a:r>
            <a:r>
              <a:rPr lang="zh-CN" altLang="zh-CN" dirty="0"/>
              <a:t>.</a:t>
            </a:r>
            <a:br>
              <a:rPr lang="zh-CN" altLang="zh-CN" dirty="0"/>
            </a:br>
            <a:r>
              <a:rPr lang="zh-CN" altLang="zh-CN" dirty="0"/>
              <a:t>The </a:t>
            </a:r>
            <a:r>
              <a:rPr lang="zh-CN" altLang="zh-CN" b="1" dirty="0"/>
              <a:t>root</a:t>
            </a:r>
            <a:r>
              <a:rPr lang="zh-CN" altLang="zh-CN" dirty="0"/>
              <a:t> output is one tree’s </a:t>
            </a:r>
            <a:r>
              <a:rPr lang="zh-CN" altLang="zh-CN" b="1" dirty="0"/>
              <a:t>prediction</a:t>
            </a:r>
            <a:r>
              <a:rPr lang="zh-CN" altLang="zh-CN" dirty="0"/>
              <a:t>. 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BD02306-F7D8-AC88-5429-155B39D28B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93DB6A-73DD-4118-AD8C-380D0846DE11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93188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/>
              <a:t>For learning, we use both the data and the label.</a:t>
            </a:r>
          </a:p>
          <a:p>
            <a:r>
              <a:rPr lang="zh-CN" altLang="zh-CN" dirty="0"/>
              <a:t>[click 1]</a:t>
            </a:r>
            <a:br>
              <a:rPr lang="zh-CN" altLang="zh-CN" dirty="0"/>
            </a:br>
            <a:r>
              <a:rPr lang="zh-CN" altLang="zh-CN" dirty="0"/>
              <a:t>First, let’s follow the </a:t>
            </a:r>
            <a:r>
              <a:rPr lang="zh-CN" altLang="zh-CN" b="1" dirty="0"/>
              <a:t>top-down</a:t>
            </a:r>
            <a:r>
              <a:rPr lang="zh-CN" altLang="zh-CN" dirty="0"/>
              <a:t> process, from the root to a leaf.</a:t>
            </a:r>
            <a:br>
              <a:rPr lang="zh-CN" altLang="zh-CN" dirty="0"/>
            </a:br>
            <a:r>
              <a:rPr lang="zh-CN" altLang="zh-CN" dirty="0"/>
              <a:t>We update </a:t>
            </a:r>
            <a:r>
              <a:rPr lang="zh-CN" altLang="zh-CN" b="1" dirty="0"/>
              <a:t>statistics</a:t>
            </a:r>
            <a:r>
              <a:rPr lang="zh-CN" altLang="zh-CN" dirty="0"/>
              <a:t> and </a:t>
            </a:r>
            <a:r>
              <a:rPr lang="zh-CN" altLang="zh-CN" b="1" dirty="0"/>
              <a:t>local weights</a:t>
            </a:r>
            <a:r>
              <a:rPr lang="zh-CN" altLang="zh-CN" dirty="0"/>
              <a:t> </a:t>
            </a:r>
            <a:r>
              <a:rPr lang="en-US" altLang="zh-CN" dirty="0"/>
              <a:t>for all nodes in the path, </a:t>
            </a:r>
            <a:r>
              <a:rPr lang="zh-CN" altLang="zh-CN" dirty="0"/>
              <a:t>using log-loss. A lower probability for the true class means a larger penalty.</a:t>
            </a:r>
            <a:br>
              <a:rPr lang="zh-CN" altLang="zh-CN" dirty="0"/>
            </a:br>
            <a:r>
              <a:rPr lang="zh-CN" altLang="zh-CN" dirty="0"/>
              <a:t>We also introduce a </a:t>
            </a:r>
            <a:r>
              <a:rPr lang="zh-CN" altLang="zh-CN" b="1" dirty="0"/>
              <a:t>split</a:t>
            </a:r>
            <a:r>
              <a:rPr lang="zh-CN" altLang="zh-CN" dirty="0"/>
              <a:t> if needed.</a:t>
            </a:r>
          </a:p>
          <a:p>
            <a:r>
              <a:rPr lang="zh-CN" altLang="zh-CN" dirty="0"/>
              <a:t>The chance of a </a:t>
            </a:r>
            <a:r>
              <a:rPr lang="zh-CN" altLang="zh-CN" b="1" dirty="0"/>
              <a:t>split</a:t>
            </a:r>
            <a:r>
              <a:rPr lang="zh-CN" altLang="zh-CN" dirty="0"/>
              <a:t> depends on how far x falls outside the node’s feature ranges. A larger distance means a higher chance of splitting.</a:t>
            </a:r>
            <a:br>
              <a:rPr lang="zh-CN" altLang="zh-CN" dirty="0"/>
            </a:br>
            <a:r>
              <a:rPr lang="zh-CN" altLang="zh-CN" dirty="0"/>
              <a:t>We choose the </a:t>
            </a:r>
            <a:r>
              <a:rPr lang="en-US" altLang="zh-CN" b="1" dirty="0"/>
              <a:t>feature cut </a:t>
            </a:r>
            <a:r>
              <a:rPr lang="zh-CN" altLang="zh-CN" dirty="0"/>
              <a:t>randomly, with larger distances giving higher selection probabilities.</a:t>
            </a:r>
          </a:p>
          <a:p>
            <a:r>
              <a:rPr lang="zh-CN" altLang="zh-CN" dirty="0"/>
              <a:t>[click 2]</a:t>
            </a:r>
            <a:br>
              <a:rPr lang="zh-CN" altLang="zh-CN" dirty="0"/>
            </a:br>
            <a:r>
              <a:rPr lang="zh-CN" altLang="zh-CN" dirty="0"/>
              <a:t>Here, you can see the two new nodes.
When a </a:t>
            </a:r>
            <a:r>
              <a:rPr lang="zh-CN" altLang="zh-CN" b="1" dirty="0"/>
              <a:t>split</a:t>
            </a:r>
            <a:r>
              <a:rPr lang="zh-CN" altLang="zh-CN" dirty="0"/>
              <a:t> occurs, we add a new parent, </a:t>
            </a:r>
            <a:r>
              <a:rPr lang="zh-CN" altLang="zh-CN" b="1" dirty="0"/>
              <a:t>new 4</a:t>
            </a:r>
            <a:r>
              <a:rPr lang="zh-CN" altLang="zh-CN" dirty="0"/>
              <a:t>, </a:t>
            </a:r>
            <a:r>
              <a:rPr lang="en-US" altLang="zh-CN" dirty="0"/>
              <a:t>stores the feature cut</a:t>
            </a:r>
            <a:r>
              <a:rPr lang="zh-CN" altLang="zh-CN" dirty="0"/>
              <a:t>, and a new leaf, </a:t>
            </a:r>
            <a:r>
              <a:rPr lang="zh-CN" altLang="zh-CN" b="1" dirty="0"/>
              <a:t>new 5</a:t>
            </a:r>
            <a:r>
              <a:rPr lang="zh-CN" altLang="zh-CN" dirty="0"/>
              <a:t>, for the new example.</a:t>
            </a:r>
          </a:p>
          <a:p>
            <a:r>
              <a:rPr lang="zh-CN" altLang="zh-CN" dirty="0"/>
              <a:t>[click 3]</a:t>
            </a:r>
            <a:br>
              <a:rPr lang="zh-CN" altLang="zh-CN" dirty="0"/>
            </a:br>
            <a:r>
              <a:rPr lang="zh-CN" altLang="zh-CN" dirty="0"/>
              <a:t>Then, </a:t>
            </a:r>
            <a:r>
              <a:rPr lang="en-US" altLang="zh-CN" dirty="0"/>
              <a:t>let’s follow</a:t>
            </a:r>
            <a:r>
              <a:rPr lang="zh-CN" altLang="zh-CN" dirty="0"/>
              <a:t> </a:t>
            </a:r>
            <a:r>
              <a:rPr lang="en-US" altLang="zh-CN" dirty="0"/>
              <a:t>the</a:t>
            </a:r>
            <a:r>
              <a:rPr lang="zh-CN" altLang="zh-CN" dirty="0"/>
              <a:t> </a:t>
            </a:r>
            <a:r>
              <a:rPr lang="zh-CN" altLang="zh-CN" b="1" dirty="0"/>
              <a:t>bottom-up</a:t>
            </a:r>
            <a:r>
              <a:rPr lang="zh-CN" altLang="zh-CN" dirty="0"/>
              <a:t> process.</a:t>
            </a:r>
            <a:br>
              <a:rPr lang="zh-CN" altLang="zh-CN" dirty="0"/>
            </a:br>
            <a:r>
              <a:rPr lang="zh-CN" altLang="zh-CN" dirty="0"/>
              <a:t>We recompute </a:t>
            </a:r>
            <a:r>
              <a:rPr lang="zh-CN" altLang="zh-CN" b="1" dirty="0"/>
              <a:t>subtree weights</a:t>
            </a:r>
            <a:r>
              <a:rPr lang="zh-CN" altLang="zh-CN" dirty="0"/>
              <a:t> up to the root.</a:t>
            </a:r>
          </a:p>
          <a:p>
            <a:br>
              <a:rPr lang="en-US" altLang="zh-CN" dirty="0"/>
            </a:br>
            <a:endParaRPr lang="zh-CN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93DB6A-73DD-4118-AD8C-380D0846DE1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699130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/>
              <a:t>To run these trees in parallel, we use Renoir as our framework.</a:t>
            </a:r>
            <a:endParaRPr lang="en-US" dirty="0"/>
          </a:p>
          <a:p>
            <a:r>
              <a:rPr lang="en-US" dirty="0"/>
              <a:t>click 1</a:t>
            </a:r>
          </a:p>
          <a:p>
            <a:endParaRPr lang="en-US" dirty="0"/>
          </a:p>
          <a:p>
            <a:r>
              <a:rPr lang="en-US" dirty="0"/>
              <a:t>It is a </a:t>
            </a:r>
            <a:r>
              <a:rPr lang="en-US" b="1" dirty="0"/>
              <a:t>Rust-based framework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click 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dirty="0"/>
              <a:t>Renoir uses a </a:t>
            </a:r>
            <a:r>
              <a:rPr lang="zh-CN" altLang="zh-CN" b="1" dirty="0"/>
              <a:t>dataflow programming model</a:t>
            </a:r>
            <a:r>
              <a:rPr lang="en-US" dirty="0"/>
              <a:t>. Here, data flows from a source, through several </a:t>
            </a:r>
            <a:r>
              <a:rPr lang="en-US" b="1" dirty="0"/>
              <a:t>operator instances</a:t>
            </a:r>
            <a:r>
              <a:rPr lang="en-US" dirty="0"/>
              <a:t>, to a sink.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click 3</a:t>
            </a:r>
          </a:p>
          <a:p>
            <a:r>
              <a:rPr lang="zh-CN" altLang="zh-CN" dirty="0"/>
              <a:t>Renoir supports </a:t>
            </a:r>
            <a:r>
              <a:rPr lang="zh-CN" altLang="zh-CN" b="1" dirty="0"/>
              <a:t>parallel execution</a:t>
            </a:r>
            <a:r>
              <a:rPr lang="zh-CN" altLang="zh-CN" dirty="0"/>
              <a:t> </a:t>
            </a:r>
            <a:r>
              <a:rPr lang="zh-CN" altLang="zh-CN" b="1" dirty="0"/>
              <a:t>across cores and machines</a:t>
            </a:r>
            <a:r>
              <a:rPr lang="zh-CN" altLang="zh-CN" dirty="0"/>
              <a:t>.</a:t>
            </a:r>
            <a:br>
              <a:rPr lang="zh-CN" altLang="zh-CN" dirty="0"/>
            </a:br>
            <a:r>
              <a:rPr lang="zh-CN" altLang="zh-CN" dirty="0"/>
              <a:t>Multiple </a:t>
            </a:r>
            <a:r>
              <a:rPr lang="zh-CN" altLang="zh-CN" b="1" dirty="0"/>
              <a:t>operator instances</a:t>
            </a:r>
            <a:r>
              <a:rPr lang="zh-CN" altLang="zh-CN" dirty="0"/>
              <a:t> can work in parallel, and Renoir handles scheduling and communication.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93DB6A-73DD-4118-AD8C-380D0846DE1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562625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/>
              <a:t>This diagram shows how the ensemble fits into a Renoir pipeline.</a:t>
            </a:r>
          </a:p>
          <a:p>
            <a:r>
              <a:rPr lang="zh-CN" altLang="zh-CN" dirty="0"/>
              <a:t>click 1</a:t>
            </a:r>
            <a:endParaRPr lang="en-US" altLang="zh-CN" dirty="0"/>
          </a:p>
          <a:p>
            <a:r>
              <a:rPr lang="zh-CN" altLang="zh-CN" dirty="0"/>
              <a:t>In the first stage, the </a:t>
            </a:r>
            <a:r>
              <a:rPr lang="zh-CN" altLang="zh-CN" b="1" dirty="0"/>
              <a:t>stream_iter</a:t>
            </a:r>
            <a:r>
              <a:rPr lang="zh-CN" altLang="zh-CN" dirty="0"/>
              <a:t> operator turns the dataset into a stream. The </a:t>
            </a:r>
            <a:r>
              <a:rPr lang="zh-CN" altLang="zh-CN" b="1" dirty="0"/>
              <a:t>flat_map</a:t>
            </a:r>
            <a:r>
              <a:rPr lang="zh-CN" altLang="zh-CN" dirty="0"/>
              <a:t> operator makes one copy of each example for every tree.</a:t>
            </a:r>
          </a:p>
          <a:p>
            <a:r>
              <a:rPr lang="zh-CN" altLang="zh-CN" dirty="0"/>
              <a:t>click 2</a:t>
            </a:r>
            <a:br>
              <a:rPr lang="zh-CN" altLang="zh-CN" dirty="0"/>
            </a:br>
            <a:r>
              <a:rPr lang="zh-CN" altLang="zh-CN" dirty="0"/>
              <a:t>We group these copies by </a:t>
            </a:r>
            <a:r>
              <a:rPr lang="zh-CN" altLang="zh-CN" b="1" dirty="0"/>
              <a:t>tree ID</a:t>
            </a:r>
            <a:r>
              <a:rPr lang="zh-CN" altLang="zh-CN" dirty="0"/>
              <a:t>, and the </a:t>
            </a:r>
            <a:r>
              <a:rPr lang="zh-CN" altLang="zh-CN" b="1" dirty="0"/>
              <a:t>rich_map</a:t>
            </a:r>
            <a:r>
              <a:rPr lang="zh-CN" altLang="zh-CN" dirty="0"/>
              <a:t> operator</a:t>
            </a:r>
            <a:r>
              <a:rPr lang="en-US" altLang="zh-CN" dirty="0"/>
              <a:t> </a:t>
            </a:r>
            <a:r>
              <a:rPr lang="zh-CN" altLang="zh-CN" dirty="0"/>
              <a:t>maintains each tree's state.</a:t>
            </a:r>
            <a:endParaRPr lang="en-US" altLang="zh-CN" dirty="0"/>
          </a:p>
          <a:p>
            <a:r>
              <a:rPr lang="en-US" altLang="zh-CN" dirty="0"/>
              <a:t>Multiple trees can run in parallel</a:t>
            </a:r>
            <a:br>
              <a:rPr lang="zh-CN" altLang="zh-CN" dirty="0"/>
            </a:br>
            <a:r>
              <a:rPr lang="zh-CN" altLang="zh-CN" dirty="0"/>
              <a:t>click 3</a:t>
            </a:r>
            <a:br>
              <a:rPr lang="zh-CN" altLang="zh-CN" dirty="0"/>
            </a:br>
            <a:r>
              <a:rPr lang="zh-CN" altLang="zh-CN" dirty="0"/>
              <a:t>Once all trees have contributed, </a:t>
            </a:r>
            <a:r>
              <a:rPr lang="zh-CN" altLang="zh-CN" b="1" dirty="0"/>
              <a:t>rich_map_transient</a:t>
            </a:r>
            <a:r>
              <a:rPr lang="zh-CN" altLang="zh-CN" dirty="0"/>
              <a:t> combines their predictions and discards the stored state for that example.</a:t>
            </a:r>
            <a:endParaRPr lang="en-US" altLang="zh-CN" dirty="0"/>
          </a:p>
          <a:p>
            <a:r>
              <a:rPr lang="en-US" altLang="zh-CN" dirty="0"/>
              <a:t>Multitree aggregator can run in parallel</a:t>
            </a:r>
            <a:endParaRPr lang="zh-CN" altLang="zh-CN" dirty="0"/>
          </a:p>
          <a:p>
            <a:r>
              <a:rPr lang="zh-CN" altLang="zh-CN" dirty="0"/>
              <a:t>click 4</a:t>
            </a:r>
            <a:br>
              <a:rPr lang="zh-CN" altLang="zh-CN" dirty="0"/>
            </a:br>
            <a:r>
              <a:rPr lang="en-US" altLang="zh-CN" dirty="0"/>
              <a:t>At the end</a:t>
            </a:r>
            <a:r>
              <a:rPr lang="zh-CN" altLang="zh-CN" dirty="0"/>
              <a:t>, </a:t>
            </a:r>
            <a:r>
              <a:rPr lang="zh-CN" altLang="zh-CN" b="1" dirty="0"/>
              <a:t>write_csv</a:t>
            </a:r>
            <a:r>
              <a:rPr lang="zh-CN" altLang="zh-CN" dirty="0"/>
              <a:t> writes the </a:t>
            </a:r>
            <a:r>
              <a:rPr lang="zh-CN" altLang="zh-CN" b="1" dirty="0"/>
              <a:t>results</a:t>
            </a:r>
            <a:r>
              <a:rPr lang="zh-CN" altLang="zh-CN" dirty="0"/>
              <a:t> to a CSV file.</a:t>
            </a:r>
            <a:br>
              <a:rPr lang="zh-CN" altLang="zh-CN" dirty="0"/>
            </a:br>
            <a:r>
              <a:rPr lang="zh-CN" altLang="zh-CN" dirty="0"/>
              <a:t>We use these </a:t>
            </a:r>
            <a:r>
              <a:rPr lang="zh-CN" altLang="zh-CN" b="1" dirty="0"/>
              <a:t>results</a:t>
            </a:r>
            <a:r>
              <a:rPr lang="zh-CN" altLang="zh-CN" dirty="0"/>
              <a:t> for evaluation.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93DB6A-73DD-4118-AD8C-380D0846DE1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45174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  <a:p>
            <a:r>
              <a:rPr lang="en-US" dirty="0"/>
              <a:t>To evaluate the system, we used a machine with </a:t>
            </a:r>
            <a:r>
              <a:rPr lang="en-US" b="1" dirty="0"/>
              <a:t>sixteen physical cores</a:t>
            </a:r>
            <a:r>
              <a:rPr lang="en-US" dirty="0"/>
              <a:t>, </a:t>
            </a:r>
            <a:r>
              <a:rPr lang="en-US" b="1" dirty="0"/>
              <a:t>thirty-two logical threads</a:t>
            </a:r>
            <a:r>
              <a:rPr lang="en-US" dirty="0"/>
              <a:t>, and </a:t>
            </a:r>
            <a:r>
              <a:rPr lang="en-US" b="1" dirty="0"/>
              <a:t>sixty-four gigabytes</a:t>
            </a:r>
            <a:r>
              <a:rPr lang="en-US" dirty="0"/>
              <a:t> of RAM.</a:t>
            </a:r>
          </a:p>
          <a:p>
            <a:endParaRPr lang="en-US" dirty="0"/>
          </a:p>
          <a:p>
            <a:r>
              <a:rPr lang="zh-CN" altLang="zh-CN" dirty="0"/>
              <a:t>For </a:t>
            </a:r>
            <a:r>
              <a:rPr lang="zh-CN" altLang="zh-CN" b="1" dirty="0"/>
              <a:t>ARF</a:t>
            </a:r>
            <a:r>
              <a:rPr lang="zh-CN" altLang="zh-CN" dirty="0"/>
              <a:t> and </a:t>
            </a:r>
            <a:r>
              <a:rPr lang="zh-CN" altLang="zh-CN" b="1" dirty="0"/>
              <a:t>SRP</a:t>
            </a:r>
            <a:r>
              <a:rPr lang="zh-CN" altLang="zh-CN" dirty="0"/>
              <a:t>, the reference is </a:t>
            </a:r>
            <a:r>
              <a:rPr lang="zh-CN" altLang="zh-CN" b="1" dirty="0"/>
              <a:t>MOA</a:t>
            </a:r>
            <a:r>
              <a:rPr lang="zh-CN" altLang="zh-CN" dirty="0"/>
              <a:t>. For </a:t>
            </a:r>
            <a:r>
              <a:rPr lang="zh-CN" altLang="zh-CN" b="1" dirty="0"/>
              <a:t>AMF</a:t>
            </a:r>
            <a:r>
              <a:rPr lang="zh-CN" altLang="zh-CN" dirty="0"/>
              <a:t>, we compared the </a:t>
            </a:r>
            <a:r>
              <a:rPr lang="zh-CN" altLang="zh-CN" b="1" dirty="0"/>
              <a:t>River</a:t>
            </a:r>
            <a:r>
              <a:rPr lang="zh-CN" altLang="zh-CN" dirty="0"/>
              <a:t> and </a:t>
            </a:r>
            <a:r>
              <a:rPr lang="zh-CN" altLang="zh-CN" b="1" dirty="0"/>
              <a:t>Onelearn</a:t>
            </a:r>
            <a:r>
              <a:rPr lang="zh-CN" altLang="zh-CN" dirty="0"/>
              <a:t> implementations. </a:t>
            </a:r>
            <a:r>
              <a:rPr lang="zh-CN" altLang="zh-CN" b="1" dirty="0"/>
              <a:t>Onelearn</a:t>
            </a:r>
            <a:r>
              <a:rPr lang="zh-CN" altLang="zh-CN" dirty="0"/>
              <a:t> was faster, so we chose it as our baseline.</a:t>
            </a:r>
          </a:p>
          <a:p>
            <a:endParaRPr lang="en-US" dirty="0"/>
          </a:p>
          <a:p>
            <a:r>
              <a:rPr lang="en-US" dirty="0"/>
              <a:t>We tested thirteen datasets: </a:t>
            </a:r>
            <a:r>
              <a:rPr lang="en-US" b="1" dirty="0"/>
              <a:t>seven real-world</a:t>
            </a:r>
            <a:r>
              <a:rPr lang="en-US" dirty="0"/>
              <a:t> and </a:t>
            </a:r>
            <a:r>
              <a:rPr lang="en-US" b="1" dirty="0"/>
              <a:t>six synthetic</a:t>
            </a:r>
            <a:r>
              <a:rPr lang="en-US" dirty="0"/>
              <a:t>, with different sizes and feature counts. </a:t>
            </a:r>
          </a:p>
          <a:p>
            <a:endParaRPr lang="en-US" dirty="0"/>
          </a:p>
          <a:p>
            <a:r>
              <a:rPr lang="zh-CN" altLang="zh-CN" dirty="0"/>
              <a:t>We measure </a:t>
            </a:r>
            <a:r>
              <a:rPr lang="zh-CN" altLang="zh-CN" b="1" dirty="0"/>
              <a:t>accuracy</a:t>
            </a:r>
            <a:r>
              <a:rPr lang="zh-CN" altLang="zh-CN" dirty="0"/>
              <a:t>, </a:t>
            </a:r>
            <a:r>
              <a:rPr lang="zh-CN" altLang="zh-CN" b="1" dirty="0"/>
              <a:t>speedup</a:t>
            </a:r>
            <a:r>
              <a:rPr lang="zh-CN" altLang="zh-CN" dirty="0"/>
              <a:t>, and </a:t>
            </a:r>
            <a:r>
              <a:rPr lang="zh-CN" altLang="zh-CN" b="1" dirty="0"/>
              <a:t>scalability</a:t>
            </a:r>
            <a:r>
              <a:rPr lang="zh-CN" altLang="zh-CN" dirty="0"/>
              <a:t>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93DB6A-73DD-4118-AD8C-380D0846DE1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78531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/>
              <a:t>For </a:t>
            </a:r>
            <a:r>
              <a:rPr lang="zh-CN" altLang="zh-CN" b="1" dirty="0"/>
              <a:t>accuracy</a:t>
            </a:r>
            <a:r>
              <a:rPr lang="zh-CN" altLang="zh-CN" dirty="0"/>
              <a:t>:</a:t>
            </a:r>
            <a:br>
              <a:rPr lang="zh-CN" altLang="zh-CN" dirty="0"/>
            </a:br>
            <a:r>
              <a:rPr lang="zh-CN" altLang="zh-CN" dirty="0"/>
              <a:t>Both implementations use ten trees, and we average </a:t>
            </a:r>
            <a:r>
              <a:rPr lang="zh-CN" altLang="zh-CN" b="1" dirty="0"/>
              <a:t>accuracy</a:t>
            </a:r>
            <a:r>
              <a:rPr lang="zh-CN" altLang="zh-CN" dirty="0"/>
              <a:t> over ten runs with different seeds.</a:t>
            </a:r>
          </a:p>
          <a:p>
            <a:r>
              <a:rPr lang="zh-CN" altLang="zh-CN" dirty="0"/>
              <a:t>If you look at the </a:t>
            </a:r>
            <a:r>
              <a:rPr lang="en-US" altLang="zh-CN" dirty="0"/>
              <a:t>chart</a:t>
            </a:r>
            <a:r>
              <a:rPr lang="zh-CN" altLang="zh-CN" dirty="0"/>
              <a:t>, they show Renoir’s </a:t>
            </a:r>
            <a:r>
              <a:rPr lang="zh-CN" altLang="zh-CN" b="1" dirty="0"/>
              <a:t>accuracy</a:t>
            </a:r>
            <a:r>
              <a:rPr lang="zh-CN" altLang="zh-CN" dirty="0"/>
              <a:t> minus Onelearn’s, in percentage points.</a:t>
            </a:r>
          </a:p>
          <a:p>
            <a:r>
              <a:rPr lang="en-US" altLang="zh-CN" dirty="0"/>
              <a:t>The gap is less than 1 percentage point on 10 of 13 datasets</a:t>
            </a:r>
            <a:endParaRPr lang="zh-CN" altLang="zh-CN" dirty="0"/>
          </a:p>
          <a:p>
            <a:r>
              <a:rPr lang="zh-CN" altLang="zh-CN" dirty="0"/>
              <a:t>These differences may come from different random number generators and floating-point precision.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93DB6A-73DD-4118-AD8C-380D0846DE11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08092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dirty="0"/>
              <a:t>For </a:t>
            </a:r>
            <a:r>
              <a:rPr lang="zh-CN" altLang="zh-CN" b="1" dirty="0"/>
              <a:t>speedup</a:t>
            </a:r>
            <a:r>
              <a:rPr lang="zh-CN" altLang="zh-CN" dirty="0"/>
              <a:t>:</a:t>
            </a:r>
          </a:p>
          <a:p>
            <a:r>
              <a:rPr lang="zh-CN" altLang="zh-CN" dirty="0"/>
              <a:t>Both implementations use </a:t>
            </a:r>
            <a:r>
              <a:rPr lang="zh-CN" altLang="zh-CN" b="1" dirty="0"/>
              <a:t>ten trees and one thread</a:t>
            </a:r>
            <a:endParaRPr lang="zh-CN" altLang="zh-CN" dirty="0"/>
          </a:p>
          <a:p>
            <a:r>
              <a:rPr lang="en-US" altLang="zh-CN" dirty="0"/>
              <a:t>as you can see the </a:t>
            </a:r>
            <a:r>
              <a:rPr lang="zh-CN" altLang="zh-CN" dirty="0"/>
              <a:t>chart shows </a:t>
            </a:r>
            <a:r>
              <a:rPr lang="zh-CN" altLang="zh-CN" b="1" dirty="0"/>
              <a:t>Renoir’s throughput divided by Onelearn’s throughput</a:t>
            </a:r>
            <a:r>
              <a:rPr lang="zh-CN" altLang="zh-CN" dirty="0"/>
              <a:t>.</a:t>
            </a:r>
          </a:p>
          <a:p>
            <a:r>
              <a:rPr lang="zh-CN" altLang="zh-CN" dirty="0"/>
              <a:t>Renoir is faster on most datasets, reaching </a:t>
            </a:r>
            <a:r>
              <a:rPr lang="zh-CN" altLang="zh-CN" b="1" dirty="0"/>
              <a:t>eighteen point two four</a:t>
            </a:r>
            <a:r>
              <a:rPr lang="zh-CN" altLang="zh-CN" dirty="0"/>
              <a:t> times the throughput of Onelearn. </a:t>
            </a:r>
            <a:endParaRPr lang="en-US" altLang="zh-CN" dirty="0"/>
          </a:p>
          <a:p>
            <a:r>
              <a:rPr lang="zh-CN" altLang="zh-CN" dirty="0"/>
              <a:t>Now, look at the lower chart. It orders the datasets by their original feature count. Gains tend to be smaller as feature counts rise.</a:t>
            </a:r>
          </a:p>
          <a:p>
            <a:r>
              <a:rPr lang="zh-CN" altLang="zh-CN" dirty="0"/>
              <a:t>Even though Onelearn is optimized for single-thread execution, Renoir still outperforms it on most datasets.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93DB6A-73DD-4118-AD8C-380D0846DE11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88999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  <a:p>
            <a:r>
              <a:rPr lang="en-US" dirty="0"/>
              <a:t>For scalability:</a:t>
            </a:r>
          </a:p>
          <a:p>
            <a:endParaRPr lang="en-US" dirty="0"/>
          </a:p>
          <a:p>
            <a:r>
              <a:rPr lang="en-US" dirty="0"/>
              <a:t>We use </a:t>
            </a:r>
            <a:r>
              <a:rPr lang="en-US" b="1" dirty="0"/>
              <a:t>twenty trees</a:t>
            </a:r>
            <a:r>
              <a:rPr lang="en-US" dirty="0"/>
              <a:t> and increase the thread count from one to thirty-two. Here, the baseline is Renoir's own single-thread throughput. </a:t>
            </a:r>
          </a:p>
          <a:p>
            <a:r>
              <a:rPr lang="en-US" dirty="0"/>
              <a:t>You can see the difference of two dataset</a:t>
            </a:r>
          </a:p>
          <a:p>
            <a:r>
              <a:rPr lang="en-US" b="1" dirty="0"/>
              <a:t>RBF(m)</a:t>
            </a:r>
            <a:r>
              <a:rPr lang="en-US" dirty="0"/>
              <a:t> continues to scale, reaching a speedup of </a:t>
            </a:r>
            <a:r>
              <a:rPr lang="en-US" b="1" dirty="0"/>
              <a:t>seventeen point six six</a:t>
            </a:r>
            <a:r>
              <a:rPr lang="en-US" dirty="0"/>
              <a:t>. </a:t>
            </a:r>
            <a:br>
              <a:rPr dirty="0"/>
            </a:br>
            <a:r>
              <a:rPr lang="en-US" b="1" dirty="0"/>
              <a:t>Spam Corpus</a:t>
            </a:r>
            <a:r>
              <a:rPr lang="en-US" dirty="0"/>
              <a:t> reaches only two point nine two. </a:t>
            </a:r>
            <a:br>
              <a:rPr dirty="0"/>
            </a:br>
            <a:r>
              <a:rPr lang="en-US" dirty="0"/>
              <a:t>So adding workers does not bring the same benefit for every dataset.</a:t>
            </a:r>
          </a:p>
          <a:p>
            <a:endParaRPr lang="en-US" dirty="0"/>
          </a:p>
          <a:p>
            <a:r>
              <a:rPr lang="en-US" dirty="0"/>
              <a:t>click 1</a:t>
            </a:r>
          </a:p>
          <a:p>
            <a:r>
              <a:rPr lang="en-US" dirty="0"/>
              <a:t>Several factors limit scaling. </a:t>
            </a:r>
            <a:br>
              <a:rPr dirty="0"/>
            </a:br>
            <a:r>
              <a:rPr lang="zh-CN" altLang="zh-CN" b="1" dirty="0"/>
              <a:t>Twenty trees</a:t>
            </a:r>
            <a:r>
              <a:rPr lang="zh-CN" altLang="zh-CN" dirty="0"/>
              <a:t> provide only twenty independent tree tasks.</a:t>
            </a:r>
            <a:br>
              <a:rPr dirty="0"/>
            </a:br>
            <a:r>
              <a:rPr lang="en-US" dirty="0"/>
              <a:t>Also, </a:t>
            </a:r>
            <a:r>
              <a:rPr lang="en-US" b="1" dirty="0"/>
              <a:t>thirty-two logical threads</a:t>
            </a:r>
            <a:r>
              <a:rPr lang="en-US" dirty="0"/>
              <a:t> share </a:t>
            </a:r>
            <a:r>
              <a:rPr lang="en-US" b="1" dirty="0"/>
              <a:t>sixteen physical cores</a:t>
            </a:r>
            <a:r>
              <a:rPr lang="en-US" dirty="0"/>
              <a:t>. </a:t>
            </a:r>
            <a:br>
              <a:rPr dirty="0"/>
            </a:br>
            <a:r>
              <a:rPr lang="en-US" dirty="0"/>
              <a:t>Some work remains </a:t>
            </a:r>
            <a:r>
              <a:rPr lang="en-US" b="1" dirty="0"/>
              <a:t>sequential</a:t>
            </a:r>
            <a:r>
              <a:rPr lang="en-US" dirty="0"/>
              <a:t>, limiting speedup under </a:t>
            </a:r>
            <a:r>
              <a:rPr lang="en-US" b="1" dirty="0"/>
              <a:t>Amdahl's law</a:t>
            </a:r>
            <a:r>
              <a:rPr lang="en-US" dirty="0"/>
              <a:t>. </a:t>
            </a:r>
            <a:br>
              <a:rPr dirty="0"/>
            </a:br>
            <a:r>
              <a:rPr lang="en-US" dirty="0"/>
              <a:t>And high-dimensional datasets require more </a:t>
            </a:r>
            <a:r>
              <a:rPr lang="en-US" b="1" dirty="0"/>
              <a:t>memory band</a:t>
            </a:r>
            <a:r>
              <a:rPr lang="en-US" b="1" dirty="0" err="1"/>
              <a:t>width</a:t>
            </a:r>
            <a:r>
              <a:rPr lang="en-US" dirty="0" err="1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0567761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  <a:p>
            <a:r>
              <a:rPr lang="zh-CN" altLang="zh-CN" dirty="0"/>
              <a:t>We also tested </a:t>
            </a:r>
            <a:r>
              <a:rPr lang="zh-CN" altLang="zh-CN" b="1" dirty="0"/>
              <a:t>distributed execution</a:t>
            </a:r>
            <a:r>
              <a:rPr lang="zh-CN" altLang="zh-CN" dirty="0"/>
              <a:t> to see how communication overhead affects performance</a:t>
            </a:r>
            <a:r>
              <a:rPr lang="en-US" altLang="zh-CN" dirty="0"/>
              <a:t>.</a:t>
            </a:r>
          </a:p>
          <a:p>
            <a:r>
              <a:rPr lang="en-US" altLang="zh-CN" dirty="0"/>
              <a:t>For distributed </a:t>
            </a:r>
            <a:r>
              <a:rPr lang="en-US" altLang="zh-CN" dirty="0" err="1"/>
              <a:t>exeuction</a:t>
            </a:r>
            <a:r>
              <a:rPr lang="en-US" altLang="zh-CN" dirty="0"/>
              <a:t> We used twenty trees across two logical nodes, each with sixteen threads.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Local execution also uses thirty-two threads. Here, </a:t>
            </a:r>
            <a:r>
              <a:rPr lang="en-US" b="1" dirty="0"/>
              <a:t>efficiency</a:t>
            </a:r>
            <a:r>
              <a:rPr lang="en-US" dirty="0"/>
              <a:t> means the percentage of local throughput retained in </a:t>
            </a:r>
            <a:r>
              <a:rPr lang="en-US" b="1" dirty="0"/>
              <a:t>distributed execution</a:t>
            </a:r>
            <a:r>
              <a:rPr lang="en-US" dirty="0"/>
              <a:t>.</a:t>
            </a:r>
          </a:p>
          <a:p>
            <a:r>
              <a:rPr lang="en-US" dirty="0"/>
              <a:t>Most datasets retain around </a:t>
            </a:r>
            <a:r>
              <a:rPr lang="en-US" b="1" dirty="0"/>
              <a:t>ninety percent</a:t>
            </a:r>
            <a:r>
              <a:rPr lang="en-US" dirty="0"/>
              <a:t> or more. </a:t>
            </a:r>
          </a:p>
          <a:p>
            <a:r>
              <a:rPr lang="en-US" dirty="0"/>
              <a:t>click 3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Now, look at the lower chart, where datasets are ordered by their original feature count. </a:t>
            </a:r>
            <a:br>
              <a:rPr dirty="0"/>
            </a:br>
            <a:r>
              <a:rPr lang="zh-CN" altLang="zh-CN" dirty="0"/>
              <a:t>The feature calculations take longer with more features, allowing computation to overlap with communication</a:t>
            </a:r>
            <a:r>
              <a:rPr lang="en-US" altLang="zh-CN" dirty="0"/>
              <a:t>, and this hide the communication overhead</a:t>
            </a:r>
            <a:endParaRPr lang="zh-CN" altLang="zh-CN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  <a:p>
            <a:r>
              <a:rPr lang="en-US" dirty="0"/>
              <a:t>The remaining question is the effect of ensemble size. We tested ten to </a:t>
            </a:r>
            <a:r>
              <a:rPr lang="en-US" b="1" dirty="0"/>
              <a:t>eighty trees</a:t>
            </a:r>
            <a:r>
              <a:rPr lang="en-US" dirty="0"/>
              <a:t> on two datasets to explore the balance between </a:t>
            </a:r>
            <a:r>
              <a:rPr lang="en-US" b="1" dirty="0"/>
              <a:t>accuracy</a:t>
            </a:r>
            <a:r>
              <a:rPr lang="en-US" dirty="0"/>
              <a:t> and </a:t>
            </a:r>
            <a:r>
              <a:rPr lang="en-US" b="1" dirty="0"/>
              <a:t>throughput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click 1</a:t>
            </a:r>
          </a:p>
          <a:p>
            <a:r>
              <a:rPr lang="en-US" dirty="0"/>
              <a:t>With </a:t>
            </a:r>
            <a:r>
              <a:rPr lang="en-US" b="1" dirty="0"/>
              <a:t>eighty trees</a:t>
            </a:r>
            <a:r>
              <a:rPr lang="en-US" dirty="0"/>
              <a:t>, </a:t>
            </a:r>
            <a:r>
              <a:rPr lang="en-US" b="1" dirty="0"/>
              <a:t>accuracy</a:t>
            </a:r>
            <a:r>
              <a:rPr lang="en-US" dirty="0"/>
              <a:t> improves by </a:t>
            </a:r>
            <a:r>
              <a:rPr lang="en-US" b="1" dirty="0"/>
              <a:t>zero point eight zero</a:t>
            </a:r>
            <a:r>
              <a:rPr lang="en-US" dirty="0"/>
              <a:t> percentage points on </a:t>
            </a:r>
            <a:r>
              <a:rPr lang="en-US" b="1" dirty="0"/>
              <a:t>covtypeNorm</a:t>
            </a:r>
            <a:r>
              <a:rPr lang="en-US" dirty="0"/>
              <a:t> and </a:t>
            </a:r>
            <a:r>
              <a:rPr lang="en-US" b="1" dirty="0"/>
              <a:t>seven point four zero</a:t>
            </a:r>
            <a:r>
              <a:rPr lang="en-US" dirty="0"/>
              <a:t> points on </a:t>
            </a:r>
            <a:r>
              <a:rPr lang="en-US" b="1" dirty="0"/>
              <a:t>RBF(f)</a:t>
            </a:r>
            <a:r>
              <a:rPr lang="en-US" dirty="0"/>
              <a:t>, compared with </a:t>
            </a:r>
            <a:r>
              <a:rPr lang="en-US" b="1" dirty="0"/>
              <a:t>ten trees</a:t>
            </a:r>
            <a:r>
              <a:rPr lang="en-US" dirty="0"/>
              <a:t>. </a:t>
            </a:r>
            <a:br>
              <a:rPr dirty="0"/>
            </a:br>
            <a:endParaRPr lang="en-US" dirty="0"/>
          </a:p>
          <a:p>
            <a:r>
              <a:rPr lang="en-US" dirty="0"/>
              <a:t>click 2</a:t>
            </a:r>
          </a:p>
          <a:p>
            <a:r>
              <a:rPr lang="en-US" dirty="0"/>
              <a:t>Now, let’s look at the </a:t>
            </a:r>
            <a:r>
              <a:rPr lang="en-US" b="1" dirty="0"/>
              <a:t>throughput</a:t>
            </a:r>
            <a:r>
              <a:rPr lang="en-US" dirty="0"/>
              <a:t> cost.
The second chart shows </a:t>
            </a:r>
            <a:r>
              <a:rPr lang="en-US" b="1" dirty="0"/>
              <a:t>throughput</a:t>
            </a:r>
            <a:r>
              <a:rPr lang="en-US" dirty="0"/>
              <a:t> relative to </a:t>
            </a:r>
            <a:r>
              <a:rPr lang="en-US" b="1" dirty="0"/>
              <a:t>ten trees</a:t>
            </a:r>
            <a:r>
              <a:rPr lang="en-US" dirty="0"/>
              <a:t>. Reading the two charts together helps us see what we gain in </a:t>
            </a:r>
            <a:r>
              <a:rPr lang="en-US" b="1" dirty="0"/>
              <a:t>accuracy</a:t>
            </a:r>
            <a:r>
              <a:rPr lang="en-US" dirty="0"/>
              <a:t> and what we give up in speed.</a:t>
            </a:r>
          </a:p>
          <a:p>
            <a:endParaRPr lang="en-US" dirty="0"/>
          </a:p>
          <a:p>
            <a:r>
              <a:rPr lang="en-US" dirty="0"/>
              <a:t>click 3</a:t>
            </a:r>
          </a:p>
          <a:p>
            <a:r>
              <a:rPr lang="en-US" dirty="0"/>
              <a:t>In these experiments, </a:t>
            </a:r>
            <a:r>
              <a:rPr lang="en-US" b="1" dirty="0"/>
              <a:t>fifteen trees</a:t>
            </a:r>
            <a:r>
              <a:rPr lang="en-US" dirty="0"/>
              <a:t> offer a useful compromise: both datasets retain over </a:t>
            </a:r>
            <a:r>
              <a:rPr lang="en-US" b="1" dirty="0"/>
              <a:t>ninety percent</a:t>
            </a:r>
            <a:r>
              <a:rPr lang="en-US" dirty="0"/>
              <a:t> of baseline </a:t>
            </a:r>
            <a:r>
              <a:rPr lang="en-US" b="1" dirty="0"/>
              <a:t>throughput</a:t>
            </a:r>
            <a:r>
              <a:rPr lang="en-US" dirty="0"/>
              <a:t> while achieving better </a:t>
            </a:r>
            <a:r>
              <a:rPr lang="en-US" b="1" dirty="0"/>
              <a:t>accuracy</a:t>
            </a:r>
            <a:r>
              <a:rPr lang="en-US" dirty="0"/>
              <a:t> on our current hardware setup.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  <a:p>
            <a:r>
              <a:rPr lang="en-US" dirty="0"/>
              <a:t>The results also suggest two directions for future work.</a:t>
            </a:r>
          </a:p>
          <a:p>
            <a:endParaRPr lang="en-US" dirty="0"/>
          </a:p>
          <a:p>
            <a:r>
              <a:rPr lang="en-US" dirty="0"/>
              <a:t>click 1</a:t>
            </a:r>
          </a:p>
          <a:p>
            <a:r>
              <a:rPr lang="en-US" dirty="0"/>
              <a:t>The first is </a:t>
            </a:r>
            <a:r>
              <a:rPr lang="en-US" b="1" dirty="0"/>
              <a:t>memory usage</a:t>
            </a:r>
            <a:r>
              <a:rPr lang="en-US" dirty="0"/>
              <a:t>. Every node stores a minimum and maximum value for each feature. As trees grow, this adds up, especially with high-dimensional data. We'd like to explore ways to reduce that cost.</a:t>
            </a:r>
          </a:p>
          <a:p>
            <a:endParaRPr lang="en-US" dirty="0"/>
          </a:p>
          <a:p>
            <a:r>
              <a:rPr lang="en-US" dirty="0"/>
              <a:t>click 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 second is </a:t>
            </a:r>
            <a:r>
              <a:rPr lang="en-US" b="1" dirty="0"/>
              <a:t>parallelism within a tree</a:t>
            </a:r>
            <a:r>
              <a:rPr lang="en-US" dirty="0"/>
              <a:t>. Currently, each tree is processed by </a:t>
            </a:r>
            <a:r>
              <a:rPr lang="en-US" b="1" dirty="0"/>
              <a:t>one worker at a time</a:t>
            </a:r>
            <a:r>
              <a:rPr lang="en-US" dirty="0"/>
              <a:t>, so small forests limit parallelism. </a:t>
            </a:r>
            <a:r>
              <a:rPr lang="en-US" altLang="zh-CN" dirty="0"/>
              <a:t>We'd like to find ways to allow multiple worker process on same tree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  <a:p>
            <a:r>
              <a:rPr lang="en-US" dirty="0"/>
              <a:t>To end, let's return to our three goals.</a:t>
            </a:r>
          </a:p>
          <a:p>
            <a:r>
              <a:rPr lang="en-US" dirty="0"/>
              <a:t>
click 1</a:t>
            </a:r>
          </a:p>
          <a:p>
            <a:r>
              <a:rPr lang="zh-CN" altLang="zh-CN" dirty="0"/>
              <a:t>We brought </a:t>
            </a:r>
            <a:r>
              <a:rPr lang="zh-CN" altLang="zh-CN" b="1" dirty="0"/>
              <a:t>Adaptive Random Forest</a:t>
            </a:r>
            <a:r>
              <a:rPr lang="zh-CN" altLang="zh-CN" dirty="0"/>
              <a:t>, </a:t>
            </a:r>
            <a:r>
              <a:rPr lang="zh-CN" altLang="zh-CN" b="1" dirty="0"/>
              <a:t>Streaming Random Patches</a:t>
            </a:r>
            <a:r>
              <a:rPr lang="zh-CN" altLang="zh-CN" dirty="0"/>
              <a:t>, and </a:t>
            </a:r>
            <a:r>
              <a:rPr lang="zh-CN" altLang="zh-CN" b="1" dirty="0"/>
              <a:t>Aggregated Mondrian Forest</a:t>
            </a:r>
            <a:r>
              <a:rPr lang="zh-CN" altLang="zh-CN" dirty="0"/>
              <a:t> together in a </a:t>
            </a:r>
            <a:r>
              <a:rPr lang="zh-CN" altLang="zh-CN" b="1" dirty="0"/>
              <a:t>unified Renoir framework</a:t>
            </a:r>
            <a:r>
              <a:rPr lang="zh-CN" altLang="zh-CN" dirty="0"/>
              <a:t>.</a:t>
            </a:r>
            <a:endParaRPr lang="en-US" altLang="zh-CN" dirty="0"/>
          </a:p>
          <a:p>
            <a:endParaRPr lang="en-US" dirty="0"/>
          </a:p>
          <a:p>
            <a:r>
              <a:rPr lang="en-US" dirty="0"/>
              <a:t>click 2</a:t>
            </a:r>
          </a:p>
          <a:p>
            <a:r>
              <a:rPr lang="en-US" dirty="0"/>
              <a:t>AMF benefits from </a:t>
            </a:r>
            <a:r>
              <a:rPr lang="en-US" b="1" dirty="0"/>
              <a:t>parallel execution</a:t>
            </a:r>
            <a:r>
              <a:rPr lang="en-US" dirty="0"/>
              <a:t>, reaching up to </a:t>
            </a:r>
            <a:r>
              <a:rPr lang="en-US" b="1" dirty="0"/>
              <a:t>seventeen point six six</a:t>
            </a:r>
            <a:r>
              <a:rPr lang="en-US" dirty="0"/>
              <a:t> times its single-thread throughput. </a:t>
            </a:r>
            <a:r>
              <a:rPr lang="en-US" b="1" dirty="0"/>
              <a:t>Distributed execution</a:t>
            </a:r>
            <a:r>
              <a:rPr lang="en-US" dirty="0"/>
              <a:t> retains around </a:t>
            </a:r>
            <a:r>
              <a:rPr lang="en-US" b="1" dirty="0"/>
              <a:t>ninety percent</a:t>
            </a:r>
            <a:r>
              <a:rPr lang="en-US" dirty="0"/>
              <a:t> of </a:t>
            </a:r>
            <a:r>
              <a:rPr lang="en-US" b="1" dirty="0"/>
              <a:t>local throughput</a:t>
            </a:r>
            <a:r>
              <a:rPr lang="en-US" dirty="0"/>
              <a:t> on most datasets.</a:t>
            </a:r>
          </a:p>
          <a:p>
            <a:endParaRPr lang="en-US" dirty="0"/>
          </a:p>
          <a:p>
            <a:r>
              <a:rPr lang="en-US" dirty="0"/>
              <a:t>click 3</a:t>
            </a:r>
          </a:p>
          <a:p>
            <a:r>
              <a:rPr lang="en-US" dirty="0"/>
              <a:t>On one thread, our AMF reaches up to </a:t>
            </a:r>
            <a:r>
              <a:rPr lang="en-US" b="1" dirty="0"/>
              <a:t>eighteen point two four</a:t>
            </a:r>
            <a:r>
              <a:rPr lang="en-US" dirty="0"/>
              <a:t> times </a:t>
            </a:r>
            <a:r>
              <a:rPr lang="en-US" b="1" dirty="0"/>
              <a:t>Onelearn</a:t>
            </a:r>
            <a:r>
              <a:rPr lang="en-US" dirty="0"/>
              <a:t>'s throughput, with </a:t>
            </a:r>
            <a:r>
              <a:rPr lang="en-US" b="1" dirty="0"/>
              <a:t>accuracy gaps</a:t>
            </a:r>
            <a:r>
              <a:rPr lang="en-US" dirty="0"/>
              <a:t> below </a:t>
            </a:r>
            <a:r>
              <a:rPr lang="en-US" b="1" dirty="0"/>
              <a:t>one percentage point</a:t>
            </a:r>
            <a:r>
              <a:rPr lang="en-US" dirty="0"/>
              <a:t> on </a:t>
            </a:r>
            <a:r>
              <a:rPr lang="en-US" b="1" dirty="0"/>
              <a:t>ten of thirteen datasets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  <a:p>
            <a:r>
              <a:rPr lang="en-US" b="1" dirty="0"/>
              <a:t>Thank you for your attention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ttotitolo 2">
            <a:extLst>
              <a:ext uri="{FF2B5EF4-FFF2-40B4-BE49-F238E27FC236}">
                <a16:creationId xmlns:a16="http://schemas.microsoft.com/office/drawing/2014/main" id="{7D00BB2B-2199-C9BD-C645-705ED1CEFE3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88758" y="2758486"/>
            <a:ext cx="5807242" cy="932017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 dirty="0"/>
              <a:t>Nome Cognome</a:t>
            </a:r>
          </a:p>
          <a:p>
            <a:r>
              <a:rPr lang="it-IT" dirty="0"/>
              <a:t>Data</a:t>
            </a:r>
          </a:p>
          <a:p>
            <a:endParaRPr lang="it-IT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3F3F69E-4F02-656A-56E6-0BE2DA18061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492875"/>
            <a:ext cx="2743200" cy="365125"/>
          </a:xfrm>
        </p:spPr>
        <p:txBody>
          <a:bodyPr/>
          <a:lstStyle/>
          <a:p>
            <a:r>
              <a:rPr lang="it-IT" sz="1100" b="0">
                <a:solidFill>
                  <a:srgbClr val="FFFFFF"/>
                </a:solidFill>
                <a:latin typeface="Segoe UI"/>
              </a:rPr>
              <a:t>October 21, 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26C448D-F3FC-1F73-7F40-F62EA9FE8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92874"/>
            <a:ext cx="4114800" cy="365125"/>
          </a:xfrm>
        </p:spPr>
        <p:txBody>
          <a:bodyPr/>
          <a:lstStyle/>
          <a:p>
            <a:r>
              <a:rPr lang="it-IT" sz="1100" b="0" dirty="0">
                <a:solidFill>
                  <a:srgbClr val="FFFFFF"/>
                </a:solidFill>
                <a:latin typeface="Segoe UI"/>
              </a:rPr>
              <a:t>Zhiqiang Shi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E26CBC7-8B8E-14E6-B1B2-EF05855E1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78752"/>
            <a:ext cx="2743200" cy="365125"/>
          </a:xfrm>
        </p:spPr>
        <p:txBody>
          <a:bodyPr/>
          <a:lstStyle/>
          <a:p>
            <a:fld id="{FD7128CB-9318-4443-89F2-2A623EAF7AEA}" type="slidenum">
              <a:rPr lang="it-IT" smtClean="0"/>
              <a:t>‹#›</a:t>
            </a:fld>
            <a:endParaRPr lang="it-IT"/>
          </a:p>
        </p:txBody>
      </p:sp>
      <p:sp>
        <p:nvSpPr>
          <p:cNvPr id="7" name="Titolo 6">
            <a:extLst>
              <a:ext uri="{FF2B5EF4-FFF2-40B4-BE49-F238E27FC236}">
                <a16:creationId xmlns:a16="http://schemas.microsoft.com/office/drawing/2014/main" id="{5BC83884-57DB-CA5F-781B-35F1EA5365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3911" y="753979"/>
            <a:ext cx="11732543" cy="1586557"/>
          </a:xfrm>
        </p:spPr>
        <p:txBody>
          <a:bodyPr/>
          <a:lstStyle>
            <a:lvl1pPr algn="ctr">
              <a:defRPr b="1">
                <a:solidFill>
                  <a:schemeClr val="tx1"/>
                </a:solidFill>
              </a:defRPr>
            </a:lvl1pPr>
          </a:lstStyle>
          <a:p>
            <a:r>
              <a:rPr lang="it-IT" dirty="0"/>
              <a:t>Titolo della</a:t>
            </a:r>
            <a:br>
              <a:rPr lang="it-IT" dirty="0"/>
            </a:br>
            <a:r>
              <a:rPr lang="it-IT" dirty="0"/>
              <a:t>tesi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1811E88A-C0F7-1E7A-A0A1-EF55AB9F6F47}"/>
              </a:ext>
            </a:extLst>
          </p:cNvPr>
          <p:cNvSpPr/>
          <p:nvPr userDrawn="1"/>
        </p:nvSpPr>
        <p:spPr>
          <a:xfrm>
            <a:off x="0" y="2"/>
            <a:ext cx="12192000" cy="684000"/>
          </a:xfrm>
          <a:prstGeom prst="rect">
            <a:avLst/>
          </a:prstGeom>
          <a:solidFill>
            <a:srgbClr val="102C5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753CFB7E-F742-25C5-7610-F7E9E32D9FF3}"/>
              </a:ext>
            </a:extLst>
          </p:cNvPr>
          <p:cNvSpPr/>
          <p:nvPr userDrawn="1"/>
        </p:nvSpPr>
        <p:spPr>
          <a:xfrm>
            <a:off x="-1" y="6336000"/>
            <a:ext cx="12192000" cy="540000"/>
          </a:xfrm>
          <a:prstGeom prst="rect">
            <a:avLst/>
          </a:prstGeom>
          <a:solidFill>
            <a:srgbClr val="102C5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cxnSp>
        <p:nvCxnSpPr>
          <p:cNvPr id="15" name="Connettore 1 14">
            <a:extLst>
              <a:ext uri="{FF2B5EF4-FFF2-40B4-BE49-F238E27FC236}">
                <a16:creationId xmlns:a16="http://schemas.microsoft.com/office/drawing/2014/main" id="{D5FA642D-2880-838E-8BB4-9387D8029379}"/>
              </a:ext>
            </a:extLst>
          </p:cNvPr>
          <p:cNvCxnSpPr>
            <a:cxnSpLocks/>
          </p:cNvCxnSpPr>
          <p:nvPr userDrawn="1"/>
        </p:nvCxnSpPr>
        <p:spPr>
          <a:xfrm>
            <a:off x="195545" y="2340536"/>
            <a:ext cx="11800909" cy="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72333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6A9502A-EFC2-BE0E-F357-D8D11AAAC2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E30311A-E0A6-74BA-34DB-03F680142A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78964718-9E5F-8096-EEA0-5F78D60A762E}"/>
              </a:ext>
            </a:extLst>
          </p:cNvPr>
          <p:cNvSpPr/>
          <p:nvPr userDrawn="1"/>
        </p:nvSpPr>
        <p:spPr>
          <a:xfrm>
            <a:off x="0" y="6336000"/>
            <a:ext cx="12192000" cy="540000"/>
          </a:xfrm>
          <a:prstGeom prst="rect">
            <a:avLst/>
          </a:prstGeom>
          <a:solidFill>
            <a:srgbClr val="102C5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endParaRPr lang="it-IT" dirty="0"/>
          </a:p>
        </p:txBody>
      </p:sp>
      <p:sp>
        <p:nvSpPr>
          <p:cNvPr id="8" name="Segnaposto data 3">
            <a:extLst>
              <a:ext uri="{FF2B5EF4-FFF2-40B4-BE49-F238E27FC236}">
                <a16:creationId xmlns:a16="http://schemas.microsoft.com/office/drawing/2014/main" id="{EC8500B4-66E0-03DC-0124-FC6E0A3A95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50018" y="6404400"/>
            <a:ext cx="12498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GB" sz="1100" b="0" noProof="0" dirty="0">
                <a:solidFill>
                  <a:srgbClr val="FFFFFF"/>
                </a:solidFill>
                <a:latin typeface="Segoe UI"/>
              </a:rPr>
              <a:t>October 21, 2026</a:t>
            </a:r>
          </a:p>
        </p:txBody>
      </p:sp>
      <p:sp>
        <p:nvSpPr>
          <p:cNvPr id="9" name="Segnaposto piè di pagina 4">
            <a:extLst>
              <a:ext uri="{FF2B5EF4-FFF2-40B4-BE49-F238E27FC236}">
                <a16:creationId xmlns:a16="http://schemas.microsoft.com/office/drawing/2014/main" id="{4ADF6A11-3FC1-B356-17BC-28AF859CA0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45327" y="6409760"/>
            <a:ext cx="1381760" cy="392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2"/>
                </a:solidFill>
              </a:defRPr>
            </a:lvl1pPr>
          </a:lstStyle>
          <a:p>
            <a:r>
              <a:rPr lang="it-IT" sz="1100" b="0" dirty="0">
                <a:solidFill>
                  <a:srgbClr val="FFFFFF"/>
                </a:solidFill>
                <a:latin typeface="Segoe UI"/>
              </a:rPr>
              <a:t>Zhiqiang Shi </a:t>
            </a:r>
          </a:p>
        </p:txBody>
      </p:sp>
      <p:sp>
        <p:nvSpPr>
          <p:cNvPr id="10" name="Segnaposto numero diapositiva 5">
            <a:extLst>
              <a:ext uri="{FF2B5EF4-FFF2-40B4-BE49-F238E27FC236}">
                <a16:creationId xmlns:a16="http://schemas.microsoft.com/office/drawing/2014/main" id="{E9E4711D-8EAD-1713-DD72-4069084123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61126" y="6405331"/>
            <a:ext cx="4483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fld id="{FD7128CB-9318-4443-89F2-2A623EAF7AEA}" type="slidenum">
              <a:rPr lang="it-IT" smtClean="0"/>
              <a:pPr/>
              <a:t>‹#›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138973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AB01A21-096C-6ACB-D2B9-BF916C585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5724F29-F794-3D84-D90A-F3A3946211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14E6750-B8D0-C85B-42D0-0DE1618BD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 sz="1100" b="0">
                <a:solidFill>
                  <a:srgbClr val="FFFFFF"/>
                </a:solidFill>
                <a:latin typeface="Segoe UI"/>
              </a:rPr>
              <a:t>October 21, 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A795616-86DB-9F35-4E43-2ED0EE7EC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100" b="0">
                <a:solidFill>
                  <a:srgbClr val="FFFFFF"/>
                </a:solidFill>
                <a:latin typeface="Segoe UI"/>
              </a:rPr>
              <a:t>Zhiqiang Shi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FA7B80F-6438-17BF-35CA-656A8FB10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128CB-9318-4443-89F2-2A623EAF7AE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46317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2EEB8FD-B19D-BEE9-E91A-854C593B4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77398F2-8C2A-E132-263B-F5E80DBEB3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50947A7-A96F-5B83-C134-80664820EF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C895E5FB-4B6B-1BB0-695F-10973706E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 sz="1100" b="0">
                <a:solidFill>
                  <a:srgbClr val="FFFFFF"/>
                </a:solidFill>
                <a:latin typeface="Segoe UI"/>
              </a:rPr>
              <a:t>October 21, 2026</a:t>
            </a:r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3E3D3AA4-EE4D-B774-347A-0A091A050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100" b="0">
                <a:solidFill>
                  <a:srgbClr val="FFFFFF"/>
                </a:solidFill>
                <a:latin typeface="Segoe UI"/>
              </a:rPr>
              <a:t>Zhiqiang Shi</a:t>
            </a:r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28B1408D-EDD4-A728-F0D6-D4D865400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128CB-9318-4443-89F2-2A623EAF7AE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328219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7CE1391-299D-C674-0497-2E736691D2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7A4026C-5442-561E-6C8A-8AE734E392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6BB89218-8F65-33BD-6485-6F17ABC8E9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1FA62A95-F481-2999-47C6-869F4584EA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26C25F8B-246E-8A6C-228D-8FEA7C3AD6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1CF8D018-A0C5-4C46-247B-5AF6AA5F3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 sz="1100" b="0">
                <a:solidFill>
                  <a:srgbClr val="FFFFFF"/>
                </a:solidFill>
                <a:latin typeface="Segoe UI"/>
              </a:rPr>
              <a:t>October 21, 2026</a:t>
            </a:r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79C2E382-05E8-D7F8-1C16-35E208622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100" b="0" dirty="0">
                <a:solidFill>
                  <a:srgbClr val="FFFFFF"/>
                </a:solidFill>
                <a:latin typeface="Segoe UI"/>
              </a:rPr>
              <a:t>Zhiqiang Shi</a:t>
            </a:r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8FA18A4E-994A-F620-B27F-2CF7DF93E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128CB-9318-4443-89F2-2A623EAF7AE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743843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7171A44-1831-17D4-8705-962A1166C5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7722D656-53F4-C15F-3B64-381EC76F5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 sz="1100" b="0">
                <a:solidFill>
                  <a:srgbClr val="FFFFFF"/>
                </a:solidFill>
                <a:latin typeface="Segoe UI"/>
              </a:rPr>
              <a:t>October 21, 2026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1E73694B-CFE4-7605-660E-28E9B0E38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100" b="0">
                <a:solidFill>
                  <a:srgbClr val="FFFFFF"/>
                </a:solidFill>
                <a:latin typeface="Segoe UI"/>
              </a:rPr>
              <a:t>Zhiqiang Shi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E8211FFC-35DB-9B6C-7995-F85CAADCB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128CB-9318-4443-89F2-2A623EAF7AE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527914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7172BE79-2F47-4501-6BE9-66449B762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 sz="1100" b="0">
                <a:solidFill>
                  <a:srgbClr val="FFFFFF"/>
                </a:solidFill>
                <a:latin typeface="Segoe UI"/>
              </a:rPr>
              <a:t>October 21, 2026</a:t>
            </a:r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B8DE0CB9-5D62-DFC6-1CA6-B22E53DB6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100" b="0">
                <a:solidFill>
                  <a:srgbClr val="FFFFFF"/>
                </a:solidFill>
                <a:latin typeface="Segoe UI"/>
              </a:rPr>
              <a:t>Zhiqiang Shi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9770698-57B2-9632-536E-F25FD45E7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128CB-9318-4443-89F2-2A623EAF7AE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349030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BE2B670-9118-BFE7-D750-7073AA990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AE68C2B-95C7-D237-58B3-AF9E9455DE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43012B80-C62B-7AA8-343B-6DBBF64A02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B5B51629-7824-E42A-60D9-859A94E832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 sz="1100" b="0">
                <a:solidFill>
                  <a:srgbClr val="FFFFFF"/>
                </a:solidFill>
                <a:latin typeface="Segoe UI"/>
              </a:rPr>
              <a:t>October 21, 2026</a:t>
            </a:r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5B5A92BB-C829-4254-33AD-BCE81BB53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100" b="0">
                <a:solidFill>
                  <a:srgbClr val="FFFFFF"/>
                </a:solidFill>
                <a:latin typeface="Segoe UI"/>
              </a:rPr>
              <a:t>Zhiqiang Shi</a:t>
            </a:r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71D4D6B5-E470-E8E1-9C19-3BDC739DB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128CB-9318-4443-89F2-2A623EAF7AE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189927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E79ACE4-68C0-CAC8-64D4-D0A63B9DE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987424"/>
            <a:ext cx="3932237" cy="106997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925D3F90-546E-98EF-2718-D0F3B6F99D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 dirty="0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C20E4575-6606-3717-7A90-646A0B3BFD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 dirty="0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CD09E32F-09C0-2FA2-953E-CE0D23CE3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 sz="1100" b="0">
                <a:solidFill>
                  <a:srgbClr val="FFFFFF"/>
                </a:solidFill>
                <a:latin typeface="Segoe UI"/>
              </a:rPr>
              <a:t>October 21, 2026</a:t>
            </a:r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1F2F1BA6-CF03-B4E2-FE2F-78FCEB334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100" b="0">
                <a:solidFill>
                  <a:srgbClr val="FFFFFF"/>
                </a:solidFill>
                <a:latin typeface="Segoe UI"/>
              </a:rPr>
              <a:t>Zhiqiang Shi</a:t>
            </a:r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B3495D63-0395-BF98-B3A9-E019565AA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128CB-9318-4443-89F2-2A623EAF7AE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965646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C4F5954-5E39-ACD1-3C1D-F25B89E69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515DACCD-10FD-AB56-FDD0-4DD609F823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AE44B97-30C2-A2C4-2209-9DD5C0774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 sz="1100" b="0">
                <a:solidFill>
                  <a:srgbClr val="FFFFFF"/>
                </a:solidFill>
                <a:latin typeface="Segoe UI"/>
              </a:rPr>
              <a:t>October 21, 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B2120FF-E344-5E4A-62AD-E467A9264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100" b="0">
                <a:solidFill>
                  <a:srgbClr val="FFFFFF"/>
                </a:solidFill>
                <a:latin typeface="Segoe UI"/>
              </a:rPr>
              <a:t>Zhiqiang Shi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D223119-A51D-547F-9A0B-E2FF60120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128CB-9318-4443-89F2-2A623EAF7AE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461623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D8B04EDE-07C3-C4CB-142B-6ACA348F1B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442820ED-F517-FBA6-4CD9-5157EDFC51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5868BDF-EF09-8BFD-C1FF-94589F3AD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 sz="1100" b="0">
                <a:solidFill>
                  <a:srgbClr val="FFFFFF"/>
                </a:solidFill>
                <a:latin typeface="Segoe UI"/>
              </a:rPr>
              <a:t>October 21, 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1B2ACA6-7304-EEC3-A091-D9CF67DA6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100" b="0">
                <a:solidFill>
                  <a:srgbClr val="FFFFFF"/>
                </a:solidFill>
                <a:latin typeface="Segoe UI"/>
              </a:rPr>
              <a:t>Zhiqiang Shi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A30032B-6672-DD9F-DB54-C7A751350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128CB-9318-4443-89F2-2A623EAF7AEA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647397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>
            <a:extLst>
              <a:ext uri="{FF2B5EF4-FFF2-40B4-BE49-F238E27FC236}">
                <a16:creationId xmlns:a16="http://schemas.microsoft.com/office/drawing/2014/main" id="{1363F977-6D83-E957-4BAD-0984834ADED1}"/>
              </a:ext>
            </a:extLst>
          </p:cNvPr>
          <p:cNvSpPr/>
          <p:nvPr userDrawn="1"/>
        </p:nvSpPr>
        <p:spPr>
          <a:xfrm>
            <a:off x="0" y="6336000"/>
            <a:ext cx="12192000" cy="540000"/>
          </a:xfrm>
          <a:prstGeom prst="rect">
            <a:avLst/>
          </a:prstGeom>
          <a:solidFill>
            <a:srgbClr val="102C5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rtlCol="0" anchor="ctr"/>
          <a:lstStyle/>
          <a:p>
            <a:pPr algn="ctr"/>
            <a:endParaRPr lang="it-IT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B8B9A1A-B8F4-2A8C-1C71-F37B7CF8C3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5327" y="1253331"/>
            <a:ext cx="11664176" cy="49664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</a:t>
            </a:r>
            <a:r>
              <a:rPr lang="en-GB" noProof="0" dirty="0" err="1"/>
              <a:t>modificare</a:t>
            </a:r>
            <a:r>
              <a:rPr lang="it-IT" dirty="0"/>
              <a:t>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</a:t>
            </a:r>
            <a:r>
              <a:rPr lang="en-GB" noProof="0" dirty="0" err="1"/>
              <a:t>livello</a:t>
            </a:r>
            <a:endParaRPr lang="en-GB" noProof="0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8A720CB-B7DF-DDCA-448C-DA79B71C1F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50018" y="6404400"/>
            <a:ext cx="12498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GB" sz="1100" b="0" noProof="0" dirty="0">
                <a:solidFill>
                  <a:srgbClr val="FFFFFF"/>
                </a:solidFill>
                <a:latin typeface="Segoe UI"/>
              </a:rPr>
              <a:t>October 21, 2026</a:t>
            </a:r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3ADED82-EDA8-7D59-144F-6C719A2047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45327" y="6409760"/>
            <a:ext cx="1381760" cy="3924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2"/>
                </a:solidFill>
              </a:defRPr>
            </a:lvl1pPr>
          </a:lstStyle>
          <a:p>
            <a:r>
              <a:rPr lang="it-IT" sz="1100" b="0" dirty="0">
                <a:solidFill>
                  <a:srgbClr val="FFFFFF"/>
                </a:solidFill>
                <a:latin typeface="Segoe UI"/>
              </a:rPr>
              <a:t>Zhiqiang Shi 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067FDEA-FF9C-AFF2-49DF-D9A9CC4708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61126" y="6405331"/>
            <a:ext cx="4483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fld id="{FD7128CB-9318-4443-89F2-2A623EAF7AEA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D44CA446-546C-80E4-E2B3-98C97F51E76A}"/>
              </a:ext>
            </a:extLst>
          </p:cNvPr>
          <p:cNvSpPr/>
          <p:nvPr userDrawn="1"/>
        </p:nvSpPr>
        <p:spPr>
          <a:xfrm>
            <a:off x="0" y="0"/>
            <a:ext cx="12192000" cy="959005"/>
          </a:xfrm>
          <a:prstGeom prst="rect">
            <a:avLst/>
          </a:prstGeom>
          <a:solidFill>
            <a:srgbClr val="102C5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00AF555E-08E4-E39F-EC1B-C8CDDD371D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327" y="26988"/>
            <a:ext cx="11664176" cy="9320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</a:t>
            </a:r>
            <a:r>
              <a:rPr lang="en-GB" noProof="0" dirty="0" err="1"/>
              <a:t>clic</a:t>
            </a:r>
            <a:r>
              <a:rPr lang="it-IT" dirty="0"/>
              <a:t> per </a:t>
            </a:r>
            <a:r>
              <a:rPr lang="en-GB" noProof="0" dirty="0" err="1"/>
              <a:t>modificare</a:t>
            </a:r>
            <a:r>
              <a:rPr lang="it-IT" dirty="0"/>
              <a:t> lo stile del titolo </a:t>
            </a:r>
          </a:p>
        </p:txBody>
      </p:sp>
    </p:spTree>
    <p:extLst>
      <p:ext uri="{BB962C8B-B14F-4D97-AF65-F5344CB8AC3E}">
        <p14:creationId xmlns:p14="http://schemas.microsoft.com/office/powerpoint/2010/main" val="3109153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2"/>
          </a:solidFill>
          <a:latin typeface="Segoe UI" panose="020B0502040204020203" pitchFamily="34" charset="0"/>
          <a:ea typeface="Helvetica Neue" panose="02000503000000020004" pitchFamily="2" charset="0"/>
          <a:cs typeface="Segoe UI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Segoe UI" panose="020B0502040204020203" pitchFamily="34" charset="0"/>
          <a:ea typeface="Helvetica Neue" panose="02000503000000020004" pitchFamily="2" charset="0"/>
          <a:cs typeface="Segoe UI" panose="020B0502040204020203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Segoe UI" panose="020B0502040204020203" pitchFamily="34" charset="0"/>
          <a:ea typeface="Helvetica Neue" panose="02000503000000020004" pitchFamily="2" charset="0"/>
          <a:cs typeface="Segoe UI" panose="020B0502040204020203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Segoe UI" panose="020B0502040204020203" pitchFamily="34" charset="0"/>
          <a:ea typeface="Helvetica Neue" panose="02000503000000020004" pitchFamily="2" charset="0"/>
          <a:cs typeface="Segoe UI" panose="020B0502040204020203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egoe UI" panose="020B0502040204020203" pitchFamily="34" charset="0"/>
          <a:ea typeface="Helvetica Neue" panose="02000503000000020004" pitchFamily="2" charset="0"/>
          <a:cs typeface="Segoe UI" panose="020B0502040204020203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egoe UI" panose="020B0502040204020203" pitchFamily="34" charset="0"/>
          <a:ea typeface="Helvetica Neue" panose="02000503000000020004" pitchFamily="2" charset="0"/>
          <a:cs typeface="Segoe UI" panose="020B0502040204020203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4" Type="http://schemas.openxmlformats.org/officeDocument/2006/relationships/chart" Target="../charts/char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CE45797-5DBF-491E-C2E3-CBC254D68B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8758" y="856772"/>
            <a:ext cx="11658077" cy="1349715"/>
          </a:xfrm>
        </p:spPr>
        <p:txBody>
          <a:bodyPr>
            <a:normAutofit/>
          </a:bodyPr>
          <a:lstStyle/>
          <a:p>
            <a:r>
              <a:rPr lang="en-US" dirty="0"/>
              <a:t>Distributed Streaming Ensemble Methods in Renoir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FF1A2A0A-4BEF-F72A-7D68-F5494433D5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92379" y="2496983"/>
            <a:ext cx="5807242" cy="1236361"/>
          </a:xfrm>
        </p:spPr>
        <p:txBody>
          <a:bodyPr>
            <a:noAutofit/>
          </a:bodyPr>
          <a:lstStyle/>
          <a:p>
            <a:pPr algn="ctr"/>
            <a:r>
              <a:rPr lang="it-IT" b="1" dirty="0"/>
              <a:t>Zhiqiang Shi (252205)</a:t>
            </a:r>
          </a:p>
          <a:p>
            <a:pPr algn="ctr"/>
            <a:r>
              <a:rPr lang="it-IT" dirty="0"/>
              <a:t>Antonio Sulfaro (259954)</a:t>
            </a:r>
          </a:p>
          <a:p>
            <a:pPr algn="ctr"/>
            <a:r>
              <a:rPr lang="it-IT" dirty="0"/>
              <a:t>October 21, 2026</a:t>
            </a:r>
          </a:p>
        </p:txBody>
      </p:sp>
      <p:sp>
        <p:nvSpPr>
          <p:cNvPr id="11" name="Sottotitolo 2">
            <a:extLst>
              <a:ext uri="{FF2B5EF4-FFF2-40B4-BE49-F238E27FC236}">
                <a16:creationId xmlns:a16="http://schemas.microsoft.com/office/drawing/2014/main" id="{2C1D229E-33EB-9D65-40E2-37FB00EBEE47}"/>
              </a:ext>
            </a:extLst>
          </p:cNvPr>
          <p:cNvSpPr txBox="1">
            <a:spLocks/>
          </p:cNvSpPr>
          <p:nvPr/>
        </p:nvSpPr>
        <p:spPr>
          <a:xfrm>
            <a:off x="288757" y="3733344"/>
            <a:ext cx="7636044" cy="112652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Helvetica Neue" panose="02000503000000020004" pitchFamily="2" charset="0"/>
                <a:cs typeface="Segoe UI" panose="020B0502040204020203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Helvetica Neue" panose="02000503000000020004" pitchFamily="2" charset="0"/>
                <a:cs typeface="Segoe UI" panose="020B0502040204020203" pitchFamily="34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Helvetica Neue" panose="02000503000000020004" pitchFamily="2" charset="0"/>
                <a:cs typeface="Segoe UI" panose="020B0502040204020203" pitchFamily="34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Segoe UI" panose="020B0502040204020203" pitchFamily="34" charset="0"/>
                <a:ea typeface="Helvetica Neue" panose="02000503000000020004" pitchFamily="2" charset="0"/>
                <a:cs typeface="Segoe UI" panose="020B0502040204020203" pitchFamily="34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Segoe UI" panose="020B0502040204020203" pitchFamily="34" charset="0"/>
                <a:ea typeface="Helvetica Neue" panose="02000503000000020004" pitchFamily="2" charset="0"/>
                <a:cs typeface="Segoe UI" panose="020B0502040204020203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Advisor: </a:t>
            </a:r>
            <a:r>
              <a:rPr kumimoji="0" lang="it-IT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Prof. Alessandro Margara</a:t>
            </a:r>
            <a:endParaRPr kumimoji="0" lang="it-IT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Co-advisors: </a:t>
            </a:r>
            <a:r>
              <a:rPr kumimoji="0" lang="it-IT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Prof. Gianpaolo Saverio Cugola,</a:t>
            </a:r>
            <a:br>
              <a:rPr kumimoji="0" lang="it-IT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kumimoji="0" lang="it-IT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Luca De Martini, Dario d’Abate, Federico Giannini</a:t>
            </a:r>
            <a:endParaRPr kumimoji="0" lang="it-IT" sz="24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Sottotitolo 2">
            <a:extLst>
              <a:ext uri="{FF2B5EF4-FFF2-40B4-BE49-F238E27FC236}">
                <a16:creationId xmlns:a16="http://schemas.microsoft.com/office/drawing/2014/main" id="{1F4228E8-013F-0A5D-9039-95F151A7F0E3}"/>
              </a:ext>
            </a:extLst>
          </p:cNvPr>
          <p:cNvSpPr txBox="1">
            <a:spLocks/>
          </p:cNvSpPr>
          <p:nvPr/>
        </p:nvSpPr>
        <p:spPr>
          <a:xfrm>
            <a:off x="288757" y="5172324"/>
            <a:ext cx="7620000" cy="9320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Segoe UI" panose="020B0502040204020203" pitchFamily="34" charset="0"/>
                <a:ea typeface="Helvetica Neue" panose="02000503000000020004" pitchFamily="2" charset="0"/>
                <a:cs typeface="Segoe UI" panose="020B0502040204020203" pitchFamily="34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Segoe UI" panose="020B0502040204020203" pitchFamily="34" charset="0"/>
                <a:ea typeface="Helvetica Neue" panose="02000503000000020004" pitchFamily="2" charset="0"/>
                <a:cs typeface="Segoe UI" panose="020B0502040204020203" pitchFamily="34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Segoe UI" panose="020B0502040204020203" pitchFamily="34" charset="0"/>
                <a:ea typeface="Helvetica Neue" panose="02000503000000020004" pitchFamily="2" charset="0"/>
                <a:cs typeface="Segoe UI" panose="020B0502040204020203" pitchFamily="34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Segoe UI" panose="020B0502040204020203" pitchFamily="34" charset="0"/>
                <a:ea typeface="Helvetica Neue" panose="02000503000000020004" pitchFamily="2" charset="0"/>
                <a:cs typeface="Segoe UI" panose="020B0502040204020203" pitchFamily="34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Segoe UI" panose="020B0502040204020203" pitchFamily="34" charset="0"/>
                <a:ea typeface="Helvetica Neue" panose="02000503000000020004" pitchFamily="2" charset="0"/>
                <a:cs typeface="Segoe UI" panose="020B0502040204020203" pitchFamily="34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Master’s Degree</a:t>
            </a:r>
            <a:r>
              <a:rPr kumimoji="0" lang="it-IT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 in Computer Science and Engineering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rPr>
              <a:t>Academic Year 2025–2026</a:t>
            </a:r>
          </a:p>
        </p:txBody>
      </p:sp>
      <p:pic>
        <p:nvPicPr>
          <p:cNvPr id="22" name="Picture 12" descr="A black background with a black square&#10;&#10;AI-generated content may be incorrect.">
            <a:extLst>
              <a:ext uri="{FF2B5EF4-FFF2-40B4-BE49-F238E27FC236}">
                <a16:creationId xmlns:a16="http://schemas.microsoft.com/office/drawing/2014/main" id="{ADF25023-C9B2-A827-1F50-05C11369D9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5980" y="5172324"/>
            <a:ext cx="3660855" cy="932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1614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325"/>
    </mc:Choice>
    <mc:Fallback xmlns="">
      <p:transition spd="slow" advTm="2325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ABA28A-A6BC-2B2D-7519-048A84A46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327" y="26988"/>
            <a:ext cx="11664176" cy="932017"/>
          </a:xfrm>
        </p:spPr>
        <p:txBody>
          <a:bodyPr anchor="ctr">
            <a:normAutofit/>
          </a:bodyPr>
          <a:lstStyle/>
          <a:p>
            <a:r>
              <a:rPr lang="en-GB" altLang="zh-CN" dirty="0"/>
              <a:t>Background: Streaming Machine Learning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269A1A6-1964-C481-91A7-225B7B41E3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spcAft>
                <a:spcPts val="700"/>
              </a:spcAft>
              <a:defRPr sz="2300" b="1">
                <a:latin typeface="Segoe UI"/>
              </a:defRPr>
            </a:pPr>
            <a:r>
              <a:rPr lang="en-US" altLang="zh-CN" dirty="0"/>
              <a:t> Learn continuously from a data stream</a:t>
            </a:r>
          </a:p>
          <a:p>
            <a:pPr marL="457200" lvl="1" indent="0">
              <a:spcBef>
                <a:spcPts val="0"/>
              </a:spcBef>
              <a:spcAft>
                <a:spcPts val="700"/>
              </a:spcAft>
              <a:defRPr sz="2100" b="0">
                <a:latin typeface="Segoe UI"/>
              </a:defRPr>
            </a:pPr>
            <a:r>
              <a:rPr lang="en-US" altLang="zh-CN" dirty="0"/>
              <a:t> Predictions available at any time</a:t>
            </a:r>
          </a:p>
          <a:p>
            <a:pPr marL="457200" lvl="1" indent="0">
              <a:spcBef>
                <a:spcPts val="0"/>
              </a:spcBef>
              <a:spcAft>
                <a:spcPts val="700"/>
              </a:spcAft>
              <a:defRPr sz="2100" b="0">
                <a:latin typeface="Segoe UI"/>
              </a:defRPr>
            </a:pPr>
            <a:r>
              <a:rPr lang="en-US" altLang="zh-CN" dirty="0"/>
              <a:t> Limited time and memory</a:t>
            </a:r>
          </a:p>
          <a:p>
            <a:pPr marL="457200" lvl="1" indent="0">
              <a:spcBef>
                <a:spcPts val="0"/>
              </a:spcBef>
              <a:spcAft>
                <a:spcPts val="700"/>
              </a:spcAft>
              <a:defRPr sz="2100" b="0">
                <a:latin typeface="Segoe UI"/>
              </a:defRPr>
            </a:pPr>
            <a:r>
              <a:rPr lang="en-US" altLang="zh-CN" dirty="0"/>
              <a:t> Single-pass updates</a:t>
            </a:r>
          </a:p>
          <a:p>
            <a:pPr marL="457200" lvl="1" indent="0">
              <a:spcBef>
                <a:spcPts val="0"/>
              </a:spcBef>
              <a:spcAft>
                <a:spcPts val="700"/>
              </a:spcAft>
              <a:buNone/>
              <a:defRPr sz="2100" b="0">
                <a:latin typeface="Segoe UI"/>
              </a:defRPr>
            </a:pPr>
            <a:endParaRPr lang="en-US" altLang="zh-CN" sz="2100" dirty="0"/>
          </a:p>
          <a:p>
            <a:pPr>
              <a:spcBef>
                <a:spcPts val="0"/>
              </a:spcBef>
              <a:spcAft>
                <a:spcPts val="700"/>
              </a:spcAft>
              <a:defRPr sz="2100" b="0">
                <a:latin typeface="Segoe UI"/>
              </a:defRPr>
            </a:pPr>
            <a:r>
              <a:rPr lang="en-US" altLang="zh-CN" sz="2300" b="1" dirty="0"/>
              <a:t>Challenge: concept drift</a:t>
            </a:r>
          </a:p>
          <a:p>
            <a:pPr marL="457200" lvl="1" indent="0">
              <a:spcBef>
                <a:spcPts val="0"/>
              </a:spcBef>
              <a:spcAft>
                <a:spcPts val="800"/>
              </a:spcAft>
              <a:defRPr sz="2200" b="0">
                <a:solidFill>
                  <a:srgbClr val="000000"/>
                </a:solidFill>
                <a:latin typeface="Segoe UI"/>
              </a:defRPr>
            </a:pPr>
            <a:r>
              <a:rPr lang="en-US" altLang="zh-CN" sz="2800" dirty="0"/>
              <a:t> </a:t>
            </a:r>
            <a:r>
              <a:rPr lang="en-US" altLang="zh-CN" sz="2100" dirty="0"/>
              <a:t>The data distribution can change</a:t>
            </a:r>
          </a:p>
          <a:p>
            <a:endParaRPr lang="zh-CN" altLang="en-US" dirty="0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2DC9349-7AFE-E748-B7FC-CDC679D7DE0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50018" y="6404400"/>
            <a:ext cx="124982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it-IT" sz="1100" b="0">
                <a:solidFill>
                  <a:srgbClr val="FFFFFF"/>
                </a:solidFill>
                <a:latin typeface="Segoe UI"/>
              </a:rPr>
              <a:t>October 21, 2026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B63C43B-64DC-292D-E513-93558FC43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45327" y="6409760"/>
            <a:ext cx="1381760" cy="39248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sz="1100" b="0" dirty="0">
                <a:solidFill>
                  <a:srgbClr val="FFFFFF"/>
                </a:solidFill>
                <a:latin typeface="Segoe UI"/>
              </a:rPr>
              <a:t>Zhiqiang Shi</a:t>
            </a:r>
            <a:endParaRPr lang="it-IT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AFD081D-EB4D-D791-FA40-29110342C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61126" y="6405331"/>
            <a:ext cx="44837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FD7128CB-9318-4443-89F2-2A623EAF7AEA}" type="slidenum">
              <a:rPr lang="it-IT" smtClean="0"/>
              <a:pPr>
                <a:spcAft>
                  <a:spcPts val="600"/>
                </a:spcAft>
              </a:pPr>
              <a:t>2</a:t>
            </a:fld>
            <a:endParaRPr lang="it-IT"/>
          </a:p>
        </p:txBody>
      </p:sp>
      <p:pic>
        <p:nvPicPr>
          <p:cNvPr id="20" name="图片 19" descr="The image illustrates a scatter plot showing the original data distribution and a concept drift, indicating a change in the probability distribution p(y|x).&#10;&#10;AI 生成的内容可能不正确。">
            <a:extLst>
              <a:ext uri="{FF2B5EF4-FFF2-40B4-BE49-F238E27FC236}">
                <a16:creationId xmlns:a16="http://schemas.microsoft.com/office/drawing/2014/main" id="{58A539E8-F7C1-D2D4-AD1F-1415E00AD7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5858" y="3311848"/>
            <a:ext cx="4967941" cy="2766207"/>
          </a:xfrm>
          <a:prstGeom prst="rect">
            <a:avLst/>
          </a:prstGeom>
        </p:spPr>
      </p:pic>
      <p:pic>
        <p:nvPicPr>
          <p:cNvPr id="22" name="图片 21" descr="The diagram illustrates a data stream leading to an online predictive model.&#10;&#10;AI 生成的内容可能不正确。">
            <a:extLst>
              <a:ext uri="{FF2B5EF4-FFF2-40B4-BE49-F238E27FC236}">
                <a16:creationId xmlns:a16="http://schemas.microsoft.com/office/drawing/2014/main" id="{B5D7DE92-8FCF-B1B1-106E-DB07401350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5825" y="1212605"/>
            <a:ext cx="4828006" cy="2099243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AF3F1A39-3AF1-4E20-079F-864CF1912ACB}"/>
              </a:ext>
            </a:extLst>
          </p:cNvPr>
          <p:cNvSpPr txBox="1"/>
          <p:nvPr/>
        </p:nvSpPr>
        <p:spPr>
          <a:xfrm>
            <a:off x="6455825" y="2077561"/>
            <a:ext cx="14318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Data + label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05140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5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9167E-6 3.7037E-7 L 0.07331 3.7037E-7 C 0.10612 3.7037E-7 0.14675 0.03194 0.14675 0.0581 L 0.14675 0.1162 " pathEditMode="relative" rAng="0" ptsTypes="AAAA">
                                      <p:cBhvr>
                                        <p:cTn id="22" dur="2000" fill="hold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331" y="581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500"/>
                            </p:stCondLst>
                            <p:childTnLst>
                              <p:par>
                                <p:cTn id="24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build="allAtOnce"/>
      <p:bldP spid="23" grpId="1" build="allAtOnce"/>
      <p:bldP spid="23" grpId="2" build="allAtOnce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92AF36-09B1-5C89-8B76-16F582990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 dirty="0"/>
              <a:t>Background: Ensemble Methods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419A9D1-BD75-EFFF-19DF-AC9298191AB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defRPr sz="2300" b="1">
                <a:latin typeface="Segoe UI"/>
              </a:defRPr>
            </a:pPr>
            <a:r>
              <a:rPr lang="en-US" altLang="zh-CN" dirty="0"/>
              <a:t> Based on Hoeffding trees</a:t>
            </a:r>
            <a:endParaRPr lang="en-US" altLang="zh-CN" b="1" dirty="0"/>
          </a:p>
          <a:p>
            <a:pPr marL="457200" lvl="1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defRPr sz="2100" b="0">
                <a:latin typeface="Segoe UI"/>
              </a:defRPr>
            </a:pPr>
            <a:r>
              <a:rPr lang="en-US" altLang="zh-CN" dirty="0"/>
              <a:t> Streaming Random Patches (SRP)</a:t>
            </a:r>
          </a:p>
          <a:p>
            <a:pPr marL="457200" lvl="1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defRPr sz="2100" b="0">
                <a:latin typeface="Segoe UI"/>
              </a:defRPr>
            </a:pPr>
            <a:r>
              <a:rPr lang="en-US" altLang="zh-CN" dirty="0"/>
              <a:t> Adaptive Random Forest (ARF)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defRPr sz="2100" b="0">
                <a:latin typeface="Segoe UI"/>
              </a:defRPr>
            </a:pPr>
            <a:r>
              <a:rPr lang="en-US" altLang="zh-CN" dirty="0"/>
              <a:t> </a:t>
            </a:r>
            <a:r>
              <a:rPr lang="en-US" altLang="zh-CN" sz="2300" b="1" dirty="0"/>
              <a:t>Based on Mondrian trees</a:t>
            </a:r>
          </a:p>
          <a:p>
            <a:pPr marL="457200" lvl="1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defRPr sz="2100" b="0">
                <a:latin typeface="Segoe UI"/>
              </a:defRPr>
            </a:pPr>
            <a:r>
              <a:rPr lang="en-US" altLang="zh-CN" dirty="0"/>
              <a:t> Aggregated Mondrian Forest (AMF)</a:t>
            </a:r>
          </a:p>
          <a:p>
            <a:pPr marL="0" indent="0">
              <a:lnSpc>
                <a:spcPct val="110000"/>
              </a:lnSpc>
              <a:spcBef>
                <a:spcPts val="1200"/>
              </a:spcBef>
              <a:spcAft>
                <a:spcPts val="700"/>
              </a:spcAft>
              <a:defRPr sz="2300" b="1">
                <a:latin typeface="Segoe UI"/>
              </a:defRPr>
            </a:pPr>
            <a:r>
              <a:rPr lang="en-US" altLang="zh-CN" dirty="0"/>
              <a:t> Key features</a:t>
            </a:r>
          </a:p>
          <a:p>
            <a:pPr marL="457200" lvl="1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defRPr sz="2100" b="0">
                <a:latin typeface="Segoe UI"/>
              </a:defRPr>
            </a:pPr>
            <a:r>
              <a:rPr lang="en-US" altLang="zh-CN" dirty="0"/>
              <a:t> Diversity</a:t>
            </a:r>
          </a:p>
          <a:p>
            <a:pPr marL="457200" lvl="1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defRPr sz="2100" b="0">
                <a:latin typeface="Segoe UI"/>
              </a:defRPr>
            </a:pPr>
            <a:r>
              <a:rPr lang="en-US" altLang="zh-CN" dirty="0"/>
              <a:t> Aggregation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5B16E1A-E685-7633-1F0D-11DCB6433C3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50017" y="6404400"/>
            <a:ext cx="1381759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it-IT" altLang="zh-CN" sz="1100" b="0" dirty="0">
                <a:solidFill>
                  <a:srgbClr val="FFFFFF"/>
                </a:solidFill>
                <a:latin typeface="Segoe UI"/>
              </a:rPr>
              <a:t>October 21, 2026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836A621-A446-8763-B3A5-9A7913341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100" b="0" dirty="0">
                <a:solidFill>
                  <a:srgbClr val="FFFFFF"/>
                </a:solidFill>
                <a:latin typeface="Segoe UI"/>
              </a:rPr>
              <a:t>Zhiqiang Shi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EC4D62B-BEC6-88C4-B317-8DE6E21FA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128CB-9318-4443-89F2-2A623EAF7AEA}" type="slidenum">
              <a:rPr lang="it-IT" smtClean="0"/>
              <a:t>3</a:t>
            </a:fld>
            <a:endParaRPr lang="it-IT"/>
          </a:p>
        </p:txBody>
      </p:sp>
      <p:pic>
        <p:nvPicPr>
          <p:cNvPr id="8" name="图片 7" descr="The diagram illustrates a data flow process where input data is aggregated and then used for final prediction.&#10;&#10;AI 生成的内容可能不正确。">
            <a:extLst>
              <a:ext uri="{FF2B5EF4-FFF2-40B4-BE49-F238E27FC236}">
                <a16:creationId xmlns:a16="http://schemas.microsoft.com/office/drawing/2014/main" id="{3DEF48B4-D40A-463B-DB1A-9E3EB4ABE7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7113" y="959005"/>
            <a:ext cx="4900487" cy="4900487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20EB8DC1-2ACB-5450-3B8E-20B475E4DE0F}"/>
              </a:ext>
            </a:extLst>
          </p:cNvPr>
          <p:cNvSpPr txBox="1"/>
          <p:nvPr/>
        </p:nvSpPr>
        <p:spPr>
          <a:xfrm>
            <a:off x="7745505" y="2551953"/>
            <a:ext cx="9140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Seed = x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173CB5D-7DE2-9172-0F2E-C2D7B7BB8E73}"/>
              </a:ext>
            </a:extLst>
          </p:cNvPr>
          <p:cNvSpPr txBox="1"/>
          <p:nvPr/>
        </p:nvSpPr>
        <p:spPr>
          <a:xfrm>
            <a:off x="10177930" y="2551953"/>
            <a:ext cx="9076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Seed = z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02104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417A40-262F-A508-C275-B876DB99C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 dirty="0"/>
              <a:t>Background: Our Goal</a:t>
            </a:r>
            <a:endParaRPr lang="zh-CN" altLang="en-US" dirty="0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82C162F-06E4-E4ED-1D71-324A5C81A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 sz="1100" b="0">
                <a:solidFill>
                  <a:srgbClr val="FFFFFF"/>
                </a:solidFill>
                <a:latin typeface="Segoe UI"/>
              </a:rPr>
              <a:t>October 21, 2026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12A4391-1913-335E-A4B8-22EE17C42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100" b="0">
                <a:solidFill>
                  <a:srgbClr val="FFFFFF"/>
                </a:solidFill>
                <a:latin typeface="Segoe UI"/>
              </a:rPr>
              <a:t>Zhiqiang Shi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7F3A053-7860-2F0C-9034-75A69AEEA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128CB-9318-4443-89F2-2A623EAF7AEA}" type="slidenum">
              <a:rPr lang="it-IT" smtClean="0"/>
              <a:t>4</a:t>
            </a:fld>
            <a:endParaRPr lang="it-IT"/>
          </a:p>
        </p:txBody>
      </p:sp>
      <p:grpSp>
        <p:nvGrpSpPr>
          <p:cNvPr id="3" name="Unified framework illustration"/>
          <p:cNvGrpSpPr/>
          <p:nvPr/>
        </p:nvGrpSpPr>
        <p:grpSpPr>
          <a:xfrm>
            <a:off x="825500" y="1333500"/>
            <a:ext cx="4127500" cy="1422400"/>
            <a:chOff x="825500" y="1333500"/>
            <a:chExt cx="4127500" cy="1422400"/>
          </a:xfrm>
        </p:grpSpPr>
        <p:sp>
          <p:nvSpPr>
            <p:cNvPr id="8" name="Rounded Rectangle 7"/>
            <p:cNvSpPr/>
            <p:nvPr/>
          </p:nvSpPr>
          <p:spPr>
            <a:xfrm>
              <a:off x="825500" y="1333500"/>
              <a:ext cx="4127500" cy="1422400"/>
            </a:xfrm>
            <a:prstGeom prst="roundRect">
              <a:avLst/>
            </a:prstGeom>
            <a:solidFill>
              <a:srgbClr val="F4F7FB"/>
            </a:solidFill>
            <a:ln>
              <a:solidFill>
                <a:srgbClr val="F4F7F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1117600" y="1511300"/>
              <a:ext cx="990600" cy="368300"/>
            </a:xfrm>
            <a:prstGeom prst="roundRect">
              <a:avLst/>
            </a:prstGeom>
            <a:solidFill>
              <a:srgbClr val="DCE8F5"/>
            </a:solidFill>
            <a:ln>
              <a:solidFill>
                <a:srgbClr val="DCE8F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117600" y="1549400"/>
              <a:ext cx="990600" cy="29210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sz="1500" b="1">
                  <a:solidFill>
                    <a:srgbClr val="285F9B"/>
                  </a:solidFill>
                  <a:latin typeface="Segoe UI"/>
                </a:rPr>
                <a:t>ARF</a:t>
              </a:r>
            </a:p>
          </p:txBody>
        </p:sp>
        <p:cxnSp>
          <p:nvCxnSpPr>
            <p:cNvPr id="11" name="Connector 10"/>
            <p:cNvCxnSpPr/>
            <p:nvPr/>
          </p:nvCxnSpPr>
          <p:spPr>
            <a:xfrm>
              <a:off x="1612900" y="1879600"/>
              <a:ext cx="0" cy="215900"/>
            </a:xfrm>
            <a:prstGeom prst="line">
              <a:avLst/>
            </a:prstGeom>
            <a:ln w="21590">
              <a:solidFill>
                <a:srgbClr val="285F9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ounded Rectangle 11"/>
            <p:cNvSpPr/>
            <p:nvPr/>
          </p:nvSpPr>
          <p:spPr>
            <a:xfrm>
              <a:off x="2311400" y="1511300"/>
              <a:ext cx="990600" cy="368300"/>
            </a:xfrm>
            <a:prstGeom prst="roundRect">
              <a:avLst/>
            </a:prstGeom>
            <a:solidFill>
              <a:srgbClr val="DCE8F5"/>
            </a:solidFill>
            <a:ln>
              <a:solidFill>
                <a:srgbClr val="DCE8F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2311400" y="1549400"/>
              <a:ext cx="990600" cy="29210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sz="1500" b="1">
                  <a:solidFill>
                    <a:srgbClr val="285F9B"/>
                  </a:solidFill>
                  <a:latin typeface="Segoe UI"/>
                </a:rPr>
                <a:t>SRP</a:t>
              </a:r>
            </a:p>
          </p:txBody>
        </p:sp>
        <p:cxnSp>
          <p:nvCxnSpPr>
            <p:cNvPr id="14" name="Connector 13"/>
            <p:cNvCxnSpPr/>
            <p:nvPr/>
          </p:nvCxnSpPr>
          <p:spPr>
            <a:xfrm>
              <a:off x="2806700" y="1879600"/>
              <a:ext cx="0" cy="215900"/>
            </a:xfrm>
            <a:prstGeom prst="line">
              <a:avLst/>
            </a:prstGeom>
            <a:ln w="21590">
              <a:solidFill>
                <a:srgbClr val="285F9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ounded Rectangle 14"/>
            <p:cNvSpPr/>
            <p:nvPr/>
          </p:nvSpPr>
          <p:spPr>
            <a:xfrm>
              <a:off x="3505200" y="1511300"/>
              <a:ext cx="990600" cy="368300"/>
            </a:xfrm>
            <a:prstGeom prst="roundRect">
              <a:avLst/>
            </a:prstGeom>
            <a:solidFill>
              <a:srgbClr val="F7DFC5"/>
            </a:solidFill>
            <a:ln>
              <a:solidFill>
                <a:srgbClr val="F7DFC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505200" y="1549400"/>
              <a:ext cx="990600" cy="29210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sz="1500" b="1">
                  <a:solidFill>
                    <a:srgbClr val="285F9B"/>
                  </a:solidFill>
                  <a:latin typeface="Segoe UI"/>
                </a:rPr>
                <a:t>AMF</a:t>
              </a:r>
            </a:p>
          </p:txBody>
        </p:sp>
        <p:cxnSp>
          <p:nvCxnSpPr>
            <p:cNvPr id="17" name="Connector 16"/>
            <p:cNvCxnSpPr/>
            <p:nvPr/>
          </p:nvCxnSpPr>
          <p:spPr>
            <a:xfrm>
              <a:off x="4000500" y="1879600"/>
              <a:ext cx="0" cy="215900"/>
            </a:xfrm>
            <a:prstGeom prst="line">
              <a:avLst/>
            </a:prstGeom>
            <a:ln w="21590">
              <a:solidFill>
                <a:srgbClr val="285F9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Rounded Rectangle 17"/>
            <p:cNvSpPr/>
            <p:nvPr/>
          </p:nvSpPr>
          <p:spPr>
            <a:xfrm>
              <a:off x="1117600" y="2095500"/>
              <a:ext cx="3378200" cy="44450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B8CDE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117600" y="2146300"/>
              <a:ext cx="3378200" cy="27699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altLang="zh-CN" b="1" dirty="0">
                  <a:solidFill>
                    <a:srgbClr val="285F9B"/>
                  </a:solidFill>
                  <a:latin typeface="Segoe UI"/>
                </a:rPr>
                <a:t>Ensemble methods</a:t>
              </a:r>
            </a:p>
          </p:txBody>
        </p:sp>
      </p:grpSp>
      <p:grpSp>
        <p:nvGrpSpPr>
          <p:cNvPr id="4" name="Distributed processing illustration"/>
          <p:cNvGrpSpPr/>
          <p:nvPr/>
        </p:nvGrpSpPr>
        <p:grpSpPr>
          <a:xfrm>
            <a:off x="825500" y="2959100"/>
            <a:ext cx="4127500" cy="1422400"/>
            <a:chOff x="825500" y="2959100"/>
            <a:chExt cx="4127500" cy="1422400"/>
          </a:xfrm>
        </p:grpSpPr>
        <p:sp>
          <p:nvSpPr>
            <p:cNvPr id="20" name="Rounded Rectangle 19"/>
            <p:cNvSpPr/>
            <p:nvPr/>
          </p:nvSpPr>
          <p:spPr>
            <a:xfrm>
              <a:off x="825500" y="2959100"/>
              <a:ext cx="4127500" cy="1422400"/>
            </a:xfrm>
            <a:prstGeom prst="roundRect">
              <a:avLst/>
            </a:prstGeom>
            <a:solidFill>
              <a:srgbClr val="F4F7FB"/>
            </a:solidFill>
            <a:ln>
              <a:solidFill>
                <a:srgbClr val="F4F7F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1117600" y="3441700"/>
              <a:ext cx="838200" cy="444500"/>
            </a:xfrm>
            <a:prstGeom prst="roundRect">
              <a:avLst/>
            </a:prstGeom>
            <a:solidFill>
              <a:srgbClr val="F7DFC5"/>
            </a:solidFill>
            <a:ln>
              <a:solidFill>
                <a:srgbClr val="F7DFC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1117600" y="3530600"/>
              <a:ext cx="838200" cy="29210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sz="1300" b="1">
                  <a:solidFill>
                    <a:srgbClr val="285F9B"/>
                  </a:solidFill>
                  <a:latin typeface="Segoe UI"/>
                </a:rPr>
                <a:t>Stream</a:t>
              </a:r>
            </a:p>
          </p:txBody>
        </p:sp>
        <p:cxnSp>
          <p:nvCxnSpPr>
            <p:cNvPr id="23" name="Connector 22"/>
            <p:cNvCxnSpPr/>
            <p:nvPr/>
          </p:nvCxnSpPr>
          <p:spPr>
            <a:xfrm>
              <a:off x="1955800" y="3657600"/>
              <a:ext cx="342900" cy="0"/>
            </a:xfrm>
            <a:prstGeom prst="line">
              <a:avLst/>
            </a:prstGeom>
            <a:ln w="21590">
              <a:solidFill>
                <a:srgbClr val="285F9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or 23"/>
            <p:cNvCxnSpPr/>
            <p:nvPr/>
          </p:nvCxnSpPr>
          <p:spPr>
            <a:xfrm>
              <a:off x="2298700" y="3302000"/>
              <a:ext cx="0" cy="711200"/>
            </a:xfrm>
            <a:prstGeom prst="line">
              <a:avLst/>
            </a:prstGeom>
            <a:ln w="21590">
              <a:solidFill>
                <a:srgbClr val="285F9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ctor 24"/>
            <p:cNvCxnSpPr/>
            <p:nvPr/>
          </p:nvCxnSpPr>
          <p:spPr>
            <a:xfrm>
              <a:off x="2298700" y="3302000"/>
              <a:ext cx="304800" cy="0"/>
            </a:xfrm>
            <a:prstGeom prst="line">
              <a:avLst/>
            </a:prstGeom>
            <a:ln w="21590">
              <a:solidFill>
                <a:srgbClr val="285F9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ounded Rectangle 25"/>
            <p:cNvSpPr/>
            <p:nvPr/>
          </p:nvSpPr>
          <p:spPr>
            <a:xfrm>
              <a:off x="2603500" y="3124200"/>
              <a:ext cx="1841500" cy="30480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B8CDE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2717800" y="3200400"/>
              <a:ext cx="292100" cy="152400"/>
            </a:xfrm>
            <a:prstGeom prst="roundRect">
              <a:avLst/>
            </a:prstGeom>
            <a:solidFill>
              <a:srgbClr val="DCE8F5"/>
            </a:solidFill>
            <a:ln>
              <a:solidFill>
                <a:srgbClr val="DCE8F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3124200" y="3200400"/>
              <a:ext cx="292100" cy="152400"/>
            </a:xfrm>
            <a:prstGeom prst="roundRect">
              <a:avLst/>
            </a:prstGeom>
            <a:solidFill>
              <a:srgbClr val="DCE8F5"/>
            </a:solidFill>
            <a:ln>
              <a:solidFill>
                <a:srgbClr val="DCE8F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3530600" y="3200400"/>
              <a:ext cx="292100" cy="152400"/>
            </a:xfrm>
            <a:prstGeom prst="roundRect">
              <a:avLst/>
            </a:prstGeom>
            <a:solidFill>
              <a:srgbClr val="DCE8F5"/>
            </a:solidFill>
            <a:ln>
              <a:solidFill>
                <a:srgbClr val="DCE8F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3937000" y="3200400"/>
              <a:ext cx="292100" cy="152400"/>
            </a:xfrm>
            <a:prstGeom prst="roundRect">
              <a:avLst/>
            </a:prstGeom>
            <a:solidFill>
              <a:srgbClr val="DCE8F5"/>
            </a:solidFill>
            <a:ln>
              <a:solidFill>
                <a:srgbClr val="DCE8F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31" name="Connector 30"/>
            <p:cNvCxnSpPr/>
            <p:nvPr/>
          </p:nvCxnSpPr>
          <p:spPr>
            <a:xfrm>
              <a:off x="2298700" y="3670300"/>
              <a:ext cx="304800" cy="0"/>
            </a:xfrm>
            <a:prstGeom prst="line">
              <a:avLst/>
            </a:prstGeom>
            <a:ln w="21590">
              <a:solidFill>
                <a:srgbClr val="285F9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Rounded Rectangle 31"/>
            <p:cNvSpPr/>
            <p:nvPr/>
          </p:nvSpPr>
          <p:spPr>
            <a:xfrm>
              <a:off x="2603500" y="3492500"/>
              <a:ext cx="1841500" cy="30480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B8CDE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2717800" y="3568700"/>
              <a:ext cx="292100" cy="152400"/>
            </a:xfrm>
            <a:prstGeom prst="roundRect">
              <a:avLst/>
            </a:prstGeom>
            <a:solidFill>
              <a:srgbClr val="DCE8F5"/>
            </a:solidFill>
            <a:ln>
              <a:solidFill>
                <a:srgbClr val="DCE8F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Rounded Rectangle 33"/>
            <p:cNvSpPr/>
            <p:nvPr/>
          </p:nvSpPr>
          <p:spPr>
            <a:xfrm>
              <a:off x="3124200" y="3568700"/>
              <a:ext cx="292100" cy="152400"/>
            </a:xfrm>
            <a:prstGeom prst="roundRect">
              <a:avLst/>
            </a:prstGeom>
            <a:solidFill>
              <a:srgbClr val="DCE8F5"/>
            </a:solidFill>
            <a:ln>
              <a:solidFill>
                <a:srgbClr val="DCE8F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5" name="Rounded Rectangle 34"/>
            <p:cNvSpPr/>
            <p:nvPr/>
          </p:nvSpPr>
          <p:spPr>
            <a:xfrm>
              <a:off x="3530600" y="3568700"/>
              <a:ext cx="292100" cy="152400"/>
            </a:xfrm>
            <a:prstGeom prst="roundRect">
              <a:avLst/>
            </a:prstGeom>
            <a:solidFill>
              <a:srgbClr val="DCE8F5"/>
            </a:solidFill>
            <a:ln>
              <a:solidFill>
                <a:srgbClr val="DCE8F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3937000" y="3568700"/>
              <a:ext cx="292100" cy="152400"/>
            </a:xfrm>
            <a:prstGeom prst="roundRect">
              <a:avLst/>
            </a:prstGeom>
            <a:solidFill>
              <a:srgbClr val="DCE8F5"/>
            </a:solidFill>
            <a:ln>
              <a:solidFill>
                <a:srgbClr val="DCE8F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37" name="Connector 36"/>
            <p:cNvCxnSpPr/>
            <p:nvPr/>
          </p:nvCxnSpPr>
          <p:spPr>
            <a:xfrm>
              <a:off x="2298700" y="4038600"/>
              <a:ext cx="304800" cy="0"/>
            </a:xfrm>
            <a:prstGeom prst="line">
              <a:avLst/>
            </a:prstGeom>
            <a:ln w="21590">
              <a:solidFill>
                <a:srgbClr val="285F9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Rounded Rectangle 37"/>
            <p:cNvSpPr/>
            <p:nvPr/>
          </p:nvSpPr>
          <p:spPr>
            <a:xfrm>
              <a:off x="2603500" y="3860800"/>
              <a:ext cx="1841500" cy="30480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B8CDE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2717800" y="3937000"/>
              <a:ext cx="292100" cy="152400"/>
            </a:xfrm>
            <a:prstGeom prst="roundRect">
              <a:avLst/>
            </a:prstGeom>
            <a:solidFill>
              <a:srgbClr val="DCE8F5"/>
            </a:solidFill>
            <a:ln>
              <a:solidFill>
                <a:srgbClr val="DCE8F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0" name="Rounded Rectangle 39"/>
            <p:cNvSpPr/>
            <p:nvPr/>
          </p:nvSpPr>
          <p:spPr>
            <a:xfrm>
              <a:off x="3124200" y="3937000"/>
              <a:ext cx="292100" cy="152400"/>
            </a:xfrm>
            <a:prstGeom prst="roundRect">
              <a:avLst/>
            </a:prstGeom>
            <a:solidFill>
              <a:srgbClr val="DCE8F5"/>
            </a:solidFill>
            <a:ln>
              <a:solidFill>
                <a:srgbClr val="DCE8F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1" name="Rounded Rectangle 40"/>
            <p:cNvSpPr/>
            <p:nvPr/>
          </p:nvSpPr>
          <p:spPr>
            <a:xfrm>
              <a:off x="3530600" y="3937000"/>
              <a:ext cx="292100" cy="152400"/>
            </a:xfrm>
            <a:prstGeom prst="roundRect">
              <a:avLst/>
            </a:prstGeom>
            <a:solidFill>
              <a:srgbClr val="DCE8F5"/>
            </a:solidFill>
            <a:ln>
              <a:solidFill>
                <a:srgbClr val="DCE8F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2" name="Rounded Rectangle 41"/>
            <p:cNvSpPr/>
            <p:nvPr/>
          </p:nvSpPr>
          <p:spPr>
            <a:xfrm>
              <a:off x="3937000" y="3937000"/>
              <a:ext cx="292100" cy="152400"/>
            </a:xfrm>
            <a:prstGeom prst="roundRect">
              <a:avLst/>
            </a:prstGeom>
            <a:solidFill>
              <a:srgbClr val="DCE8F5"/>
            </a:solidFill>
            <a:ln>
              <a:solidFill>
                <a:srgbClr val="DCE8F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43" name="Performance illustration"/>
          <p:cNvGrpSpPr/>
          <p:nvPr/>
        </p:nvGrpSpPr>
        <p:grpSpPr>
          <a:xfrm>
            <a:off x="825500" y="4584700"/>
            <a:ext cx="4127500" cy="1422400"/>
            <a:chOff x="825500" y="4584700"/>
            <a:chExt cx="4127500" cy="1422400"/>
          </a:xfrm>
        </p:grpSpPr>
        <p:sp>
          <p:nvSpPr>
            <p:cNvPr id="44" name="Rounded Rectangle 43"/>
            <p:cNvSpPr/>
            <p:nvPr/>
          </p:nvSpPr>
          <p:spPr>
            <a:xfrm>
              <a:off x="825500" y="4584700"/>
              <a:ext cx="4127500" cy="1422400"/>
            </a:xfrm>
            <a:prstGeom prst="roundRect">
              <a:avLst/>
            </a:prstGeom>
            <a:solidFill>
              <a:srgbClr val="F4F7FB"/>
            </a:solidFill>
            <a:ln>
              <a:solidFill>
                <a:srgbClr val="F4F7F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45" name="Connector 44"/>
            <p:cNvCxnSpPr/>
            <p:nvPr/>
          </p:nvCxnSpPr>
          <p:spPr>
            <a:xfrm>
              <a:off x="1397000" y="5689600"/>
              <a:ext cx="2882900" cy="0"/>
            </a:xfrm>
            <a:prstGeom prst="line">
              <a:avLst/>
            </a:prstGeom>
            <a:ln w="21590">
              <a:solidFill>
                <a:srgbClr val="285F9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nector 45"/>
            <p:cNvCxnSpPr/>
            <p:nvPr/>
          </p:nvCxnSpPr>
          <p:spPr>
            <a:xfrm flipV="1">
              <a:off x="1397000" y="4851400"/>
              <a:ext cx="0" cy="838200"/>
            </a:xfrm>
            <a:prstGeom prst="line">
              <a:avLst/>
            </a:prstGeom>
            <a:ln w="21590">
              <a:solidFill>
                <a:srgbClr val="285F9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Rectangle 46"/>
            <p:cNvSpPr/>
            <p:nvPr/>
          </p:nvSpPr>
          <p:spPr>
            <a:xfrm>
              <a:off x="1727200" y="5435600"/>
              <a:ext cx="342900" cy="254000"/>
            </a:xfrm>
            <a:prstGeom prst="rect">
              <a:avLst/>
            </a:prstGeom>
            <a:solidFill>
              <a:srgbClr val="DCE8F5"/>
            </a:solidFill>
            <a:ln>
              <a:solidFill>
                <a:srgbClr val="DCE8F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8" name="Rectangle 47"/>
            <p:cNvSpPr/>
            <p:nvPr/>
          </p:nvSpPr>
          <p:spPr>
            <a:xfrm>
              <a:off x="2324100" y="5270500"/>
              <a:ext cx="342900" cy="419100"/>
            </a:xfrm>
            <a:prstGeom prst="rect">
              <a:avLst/>
            </a:prstGeom>
            <a:solidFill>
              <a:srgbClr val="DCE8F5"/>
            </a:solidFill>
            <a:ln>
              <a:solidFill>
                <a:srgbClr val="DCE8F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9" name="Rectangle 48"/>
            <p:cNvSpPr/>
            <p:nvPr/>
          </p:nvSpPr>
          <p:spPr>
            <a:xfrm>
              <a:off x="2921000" y="5092700"/>
              <a:ext cx="342900" cy="596900"/>
            </a:xfrm>
            <a:prstGeom prst="rect">
              <a:avLst/>
            </a:prstGeom>
            <a:solidFill>
              <a:srgbClr val="DCE8F5"/>
            </a:solidFill>
            <a:ln>
              <a:solidFill>
                <a:srgbClr val="DCE8F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0" name="Rectangle 49"/>
            <p:cNvSpPr/>
            <p:nvPr/>
          </p:nvSpPr>
          <p:spPr>
            <a:xfrm>
              <a:off x="3517900" y="4876800"/>
              <a:ext cx="342900" cy="812800"/>
            </a:xfrm>
            <a:prstGeom prst="rect">
              <a:avLst/>
            </a:prstGeom>
            <a:solidFill>
              <a:srgbClr val="E59042"/>
            </a:solidFill>
            <a:ln>
              <a:solidFill>
                <a:srgbClr val="E5904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51" name="Connector 50"/>
            <p:cNvCxnSpPr/>
            <p:nvPr/>
          </p:nvCxnSpPr>
          <p:spPr>
            <a:xfrm flipV="1">
              <a:off x="1778000" y="4800600"/>
              <a:ext cx="1727200" cy="406400"/>
            </a:xfrm>
            <a:prstGeom prst="line">
              <a:avLst/>
            </a:prstGeom>
            <a:ln w="21590">
              <a:solidFill>
                <a:srgbClr val="285F9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Right Arrow 51"/>
            <p:cNvSpPr/>
            <p:nvPr/>
          </p:nvSpPr>
          <p:spPr>
            <a:xfrm>
              <a:off x="3441700" y="4737100"/>
              <a:ext cx="254000" cy="152400"/>
            </a:xfrm>
            <a:prstGeom prst="rightArrow">
              <a:avLst/>
            </a:prstGeom>
            <a:solidFill>
              <a:srgbClr val="E59042"/>
            </a:solidFill>
            <a:ln>
              <a:solidFill>
                <a:srgbClr val="E5904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53" name="TextBox 52"/>
          <p:cNvSpPr txBox="1"/>
          <p:nvPr/>
        </p:nvSpPr>
        <p:spPr>
          <a:xfrm>
            <a:off x="5359400" y="1409700"/>
            <a:ext cx="6362700" cy="3539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300" b="1" dirty="0">
                <a:solidFill>
                  <a:srgbClr val="000000"/>
                </a:solidFill>
                <a:latin typeface="Segoe UI"/>
              </a:rPr>
              <a:t>Unified </a:t>
            </a:r>
            <a:r>
              <a:rPr lang="en-US" sz="2300" b="1" dirty="0">
                <a:solidFill>
                  <a:srgbClr val="000000"/>
                </a:solidFill>
                <a:latin typeface="Segoe UI"/>
              </a:rPr>
              <a:t>Module</a:t>
            </a:r>
            <a:endParaRPr sz="2300" b="1" dirty="0">
              <a:solidFill>
                <a:srgbClr val="000000"/>
              </a:solidFill>
              <a:latin typeface="Segoe UI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5359400" y="1917700"/>
            <a:ext cx="6362700" cy="6463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0" dirty="0">
                <a:solidFill>
                  <a:srgbClr val="000000"/>
                </a:solidFill>
                <a:latin typeface="Segoe UI"/>
              </a:rPr>
              <a:t>Support multiple streaming</a:t>
            </a:r>
          </a:p>
          <a:p>
            <a:r>
              <a:rPr sz="2100" b="0" dirty="0">
                <a:solidFill>
                  <a:srgbClr val="000000"/>
                </a:solidFill>
                <a:latin typeface="Segoe UI"/>
              </a:rPr>
              <a:t>ensemble methods.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359400" y="3035300"/>
            <a:ext cx="6362700" cy="431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300" b="1">
                <a:solidFill>
                  <a:srgbClr val="000000"/>
                </a:solidFill>
                <a:latin typeface="Segoe UI"/>
              </a:rPr>
              <a:t>Distributed processing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359400" y="3543300"/>
            <a:ext cx="6362700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0" dirty="0">
                <a:solidFill>
                  <a:srgbClr val="000000"/>
                </a:solidFill>
                <a:latin typeface="Segoe UI"/>
              </a:rPr>
              <a:t>Scale</a:t>
            </a:r>
            <a:r>
              <a:rPr lang="en-US" sz="2100" dirty="0">
                <a:solidFill>
                  <a:srgbClr val="000000"/>
                </a:solidFill>
                <a:latin typeface="Segoe UI"/>
              </a:rPr>
              <a:t> </a:t>
            </a:r>
            <a:r>
              <a:rPr sz="2100" b="0" dirty="0">
                <a:solidFill>
                  <a:srgbClr val="000000"/>
                </a:solidFill>
                <a:latin typeface="Segoe UI"/>
              </a:rPr>
              <a:t>across cores and machines.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359400" y="4660900"/>
            <a:ext cx="6362700" cy="431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300" b="1">
                <a:solidFill>
                  <a:srgbClr val="000000"/>
                </a:solidFill>
                <a:latin typeface="Segoe UI"/>
              </a:rPr>
              <a:t>Improved performance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359400" y="5168900"/>
            <a:ext cx="6362700" cy="8763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0">
                <a:solidFill>
                  <a:srgbClr val="000000"/>
                </a:solidFill>
                <a:latin typeface="Segoe UI"/>
              </a:rPr>
              <a:t>Increase throughput while preserving</a:t>
            </a:r>
          </a:p>
          <a:p>
            <a:r>
              <a:rPr sz="2100" b="0">
                <a:solidFill>
                  <a:srgbClr val="000000"/>
                </a:solidFill>
                <a:latin typeface="Segoe UI"/>
              </a:rPr>
              <a:t>predictive accuracy.</a:t>
            </a:r>
          </a:p>
        </p:txBody>
      </p:sp>
    </p:spTree>
    <p:extLst>
      <p:ext uri="{BB962C8B-B14F-4D97-AF65-F5344CB8AC3E}">
        <p14:creationId xmlns:p14="http://schemas.microsoft.com/office/powerpoint/2010/main" val="3315885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/>
      <p:bldP spid="54" grpId="0"/>
      <p:bldP spid="55" grpId="0"/>
      <p:bldP spid="56" grpId="0"/>
      <p:bldP spid="57" grpId="0"/>
      <p:bldP spid="5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56D2F4-993F-99B6-5C1A-FFCAAA0B42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E2E6A2-FEC0-BA91-7EFC-B3842DA49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 dirty="0"/>
              <a:t>Background: Mondrian Tree Prediction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2F25979-E9D0-D7A7-A11E-581EA27C17B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defRPr sz="2300" b="1">
                <a:latin typeface="Segoe UI"/>
              </a:defRPr>
            </a:pPr>
            <a:r>
              <a:rPr lang="en-US" altLang="zh-CN" dirty="0"/>
              <a:t> Top-down: reach a leaf</a:t>
            </a:r>
            <a:endParaRPr lang="en-US" altLang="zh-CN" b="1" dirty="0"/>
          </a:p>
          <a:p>
            <a:pPr marL="457200" lvl="1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defRPr sz="2100" b="0">
                <a:latin typeface="Segoe UI"/>
              </a:defRPr>
            </a:pPr>
            <a:r>
              <a:rPr lang="en-US" altLang="zh-CN" dirty="0"/>
              <a:t> Follow feature cuts</a:t>
            </a:r>
          </a:p>
          <a:p>
            <a:pPr marL="457200" lvl="1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defRPr sz="2100" b="0">
                <a:latin typeface="Segoe UI"/>
              </a:defRPr>
            </a:pPr>
            <a:r>
              <a:rPr lang="en-US" altLang="zh-CN" dirty="0"/>
              <a:t> Get initial class probabilities</a:t>
            </a:r>
          </a:p>
          <a:p>
            <a:pPr marL="0" indent="0">
              <a:lnSpc>
                <a:spcPct val="110000"/>
              </a:lnSpc>
              <a:spcBef>
                <a:spcPts val="1200"/>
              </a:spcBef>
              <a:spcAft>
                <a:spcPts val="700"/>
              </a:spcAft>
              <a:defRPr sz="2300" b="1">
                <a:latin typeface="Segoe UI"/>
              </a:defRPr>
            </a:pPr>
            <a:r>
              <a:rPr lang="en-US" altLang="zh-CN" dirty="0"/>
              <a:t> Bottom-up: aggregate to the root</a:t>
            </a:r>
          </a:p>
          <a:p>
            <a:pPr marL="457200" lvl="1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defRPr sz="2100" b="0">
                <a:latin typeface="Segoe UI"/>
              </a:defRPr>
            </a:pPr>
            <a:r>
              <a:rPr lang="en-US" altLang="zh-CN" dirty="0"/>
              <a:t> Context Tree Weighting</a:t>
            </a:r>
          </a:p>
          <a:p>
            <a:pPr marL="457200" lvl="1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defRPr sz="2100" b="0">
                <a:latin typeface="Segoe UI"/>
              </a:defRPr>
            </a:pPr>
            <a:r>
              <a:rPr lang="en-US" altLang="zh-CN" dirty="0"/>
              <a:t> Root output = one tree’s prediction</a:t>
            </a:r>
          </a:p>
        </p:txBody>
      </p:sp>
      <p:pic>
        <p:nvPicPr>
          <p:cNvPr id="9" name="内容占位符 8" descr="A simple diagram showing a triangular connection with three circles connected by lines.&#10;&#10;AI 生成的内容可能不正确。">
            <a:extLst>
              <a:ext uri="{FF2B5EF4-FFF2-40B4-BE49-F238E27FC236}">
                <a16:creationId xmlns:a16="http://schemas.microsoft.com/office/drawing/2014/main" id="{2D3C8FDC-FAFF-9716-4FB0-BF867E9B105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587331" y="1825625"/>
            <a:ext cx="4351338" cy="4351338"/>
          </a:xfrm>
          <a:prstGeom prst="rect">
            <a:avLst/>
          </a:prstGeom>
        </p:spPr>
      </p:pic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2E112E9-FF97-E405-48F3-52554646C2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50018" y="6404400"/>
            <a:ext cx="1381760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it-IT" altLang="zh-CN" sz="1100" b="0" dirty="0">
                <a:solidFill>
                  <a:srgbClr val="FFFFFF"/>
                </a:solidFill>
                <a:latin typeface="Segoe UI"/>
              </a:rPr>
              <a:t>October 21, 2026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6101C94-6531-A2F8-AE3F-AF62E89C2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100" b="0" dirty="0">
                <a:solidFill>
                  <a:srgbClr val="FFFFFF"/>
                </a:solidFill>
                <a:latin typeface="Segoe UI"/>
              </a:rPr>
              <a:t>Zhiqiang Shi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02480C9-92F6-05C6-A568-2DC3BD815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128CB-9318-4443-89F2-2A623EAF7AEA}" type="slidenum">
              <a:rPr lang="it-IT" smtClean="0"/>
              <a:t>5</a:t>
            </a:fld>
            <a:endParaRPr lang="it-IT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1DAE45C-83C9-4DE5-8F2C-309F71A35271}"/>
              </a:ext>
            </a:extLst>
          </p:cNvPr>
          <p:cNvSpPr txBox="1"/>
          <p:nvPr/>
        </p:nvSpPr>
        <p:spPr>
          <a:xfrm>
            <a:off x="7984565" y="1825625"/>
            <a:ext cx="660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Data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3EE9006-F510-2A21-01D8-FF1E61FF6262}"/>
              </a:ext>
            </a:extLst>
          </p:cNvPr>
          <p:cNvSpPr txBox="1"/>
          <p:nvPr/>
        </p:nvSpPr>
        <p:spPr>
          <a:xfrm>
            <a:off x="7769411" y="5689600"/>
            <a:ext cx="1233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Prediction</a:t>
            </a:r>
            <a:endParaRPr lang="zh-CN" altLang="en-US" dirty="0"/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3A61735E-CCD4-E9E0-8B19-CA1BD17C2D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857325" y="1262243"/>
            <a:ext cx="3478578" cy="2046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817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48 0.07593 L 0.0858 0.29098 L -0.00157 0.49931 L -0.00248 0.57246 " pathEditMode="relative" rAng="0" ptsTypes="AAAA">
                                      <p:cBhvr>
                                        <p:cTn id="20" dur="2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414" y="2481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456 -0.06342 L 0.08177 -0.28217 L -0.0056 -0.48866 C -0.00573 -0.51458 -0.00586 -0.54051 -0.00599 -0.5662 " pathEditMode="relative" rAng="0" ptsTypes="AAAA">
                                      <p:cBhvr>
                                        <p:cTn id="36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245" y="-251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allAtOnce"/>
      <p:bldP spid="10" grpId="1" build="allAtOnce"/>
      <p:bldP spid="11" grpId="0"/>
      <p:bldP spid="11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7F91AC-78EE-8C12-8B63-F4A79484E3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 dirty="0"/>
              <a:t>Background: M</a:t>
            </a:r>
            <a:r>
              <a:rPr lang="en-US" altLang="zh-CN" dirty="0" err="1"/>
              <a:t>ondrian</a:t>
            </a:r>
            <a:r>
              <a:rPr lang="en-US" altLang="zh-CN" dirty="0"/>
              <a:t> Tree Learning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4EB34E-0904-0A44-B3C6-0458EB79622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defRPr sz="2400" b="1">
                <a:solidFill>
                  <a:srgbClr val="000000"/>
                </a:solidFill>
                <a:latin typeface="Segoe UI"/>
              </a:defRPr>
            </a:pPr>
            <a:r>
              <a:rPr lang="en-US" altLang="zh-CN" sz="2300" dirty="0"/>
              <a:t> Top-down: update and extend</a:t>
            </a:r>
            <a:endParaRPr lang="en-US" altLang="zh-CN" sz="2300" b="1" dirty="0"/>
          </a:p>
          <a:p>
            <a:pPr marL="457200" lvl="1" indent="0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defRPr sz="2200" b="0">
                <a:solidFill>
                  <a:srgbClr val="000000"/>
                </a:solidFill>
                <a:latin typeface="Segoe UI"/>
              </a:defRPr>
            </a:pPr>
            <a:r>
              <a:rPr lang="en-US" altLang="zh-CN" sz="2100" dirty="0"/>
              <a:t> Update statistics and local weights</a:t>
            </a:r>
          </a:p>
          <a:p>
            <a:pPr marL="457200" lvl="1" indent="0"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  <a:defRPr sz="2200" b="0">
                <a:solidFill>
                  <a:srgbClr val="000000"/>
                </a:solidFill>
                <a:latin typeface="Segoe UI"/>
              </a:defRPr>
            </a:pPr>
            <a:r>
              <a:rPr lang="en-US" altLang="zh-CN" sz="2100" dirty="0"/>
              <a:t> Introduce a split if needed</a:t>
            </a:r>
          </a:p>
          <a:p>
            <a:pPr marL="0" indent="0">
              <a:lnSpc>
                <a:spcPct val="110000"/>
              </a:lnSpc>
              <a:spcBef>
                <a:spcPts val="1200"/>
              </a:spcBef>
              <a:spcAft>
                <a:spcPts val="700"/>
              </a:spcAft>
              <a:defRPr sz="2300" b="1">
                <a:latin typeface="Segoe UI"/>
              </a:defRPr>
            </a:pPr>
            <a:r>
              <a:rPr lang="en-US" altLang="zh-CN" dirty="0"/>
              <a:t> Bottom-up: update sub-weights</a:t>
            </a:r>
          </a:p>
          <a:p>
            <a:pPr marL="457200" lvl="1" indent="0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defRPr sz="2100" b="0">
                <a:latin typeface="Segoe UI"/>
              </a:defRPr>
            </a:pPr>
            <a:r>
              <a:rPr lang="en-US" altLang="zh-CN" sz="2100" dirty="0"/>
              <a:t> Recompute subtree weights</a:t>
            </a:r>
          </a:p>
        </p:txBody>
      </p:sp>
      <p:pic>
        <p:nvPicPr>
          <p:cNvPr id="9" name="内容占位符 8" descr="A simple diagram showing a triangular connection with three circles connected by lines.&#10;&#10;AI 生成的内容可能不正确。">
            <a:extLst>
              <a:ext uri="{FF2B5EF4-FFF2-40B4-BE49-F238E27FC236}">
                <a16:creationId xmlns:a16="http://schemas.microsoft.com/office/drawing/2014/main" id="{0AB13118-0BFB-49F1-B388-2E59A26E35C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587331" y="1825625"/>
            <a:ext cx="4351338" cy="4351338"/>
          </a:xfrm>
          <a:prstGeom prst="rect">
            <a:avLst/>
          </a:prstGeom>
        </p:spPr>
      </p:pic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2CCA913-29C4-F3B6-A790-5F84514C7FC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550017" y="6404400"/>
            <a:ext cx="1381759" cy="365125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it-IT" altLang="zh-CN" sz="1100" b="0" dirty="0">
                <a:solidFill>
                  <a:srgbClr val="FFFFFF"/>
                </a:solidFill>
                <a:latin typeface="Segoe UI"/>
              </a:rPr>
              <a:t>October 21, 2026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AEFF145-FBE9-ED40-ECC6-864F0BB48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100" b="0" dirty="0">
                <a:solidFill>
                  <a:srgbClr val="FFFFFF"/>
                </a:solidFill>
                <a:latin typeface="Segoe UI"/>
              </a:rPr>
              <a:t>Zhiqiang Shi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D4C1010-3B78-68B8-C3D5-2091061F19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128CB-9318-4443-89F2-2A623EAF7AEA}" type="slidenum">
              <a:rPr lang="it-IT" smtClean="0"/>
              <a:t>6</a:t>
            </a:fld>
            <a:endParaRPr lang="it-IT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D0891CA8-A6BE-11A5-88B7-FDFC3DAD8BD0}"/>
              </a:ext>
            </a:extLst>
          </p:cNvPr>
          <p:cNvSpPr txBox="1"/>
          <p:nvPr/>
        </p:nvSpPr>
        <p:spPr>
          <a:xfrm>
            <a:off x="7769411" y="1911542"/>
            <a:ext cx="12939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Data + label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ADAE425-83B6-917E-E63D-77A77CF2A35F}"/>
              </a:ext>
            </a:extLst>
          </p:cNvPr>
          <p:cNvSpPr txBox="1"/>
          <p:nvPr/>
        </p:nvSpPr>
        <p:spPr>
          <a:xfrm>
            <a:off x="7769411" y="5689600"/>
            <a:ext cx="9298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Update</a:t>
            </a:r>
            <a:endParaRPr lang="zh-CN" altLang="en-US" dirty="0"/>
          </a:p>
        </p:txBody>
      </p:sp>
      <p:grpSp>
        <p:nvGrpSpPr>
          <p:cNvPr id="4" name="Old and new nodes comparison">
            <a:extLst>
              <a:ext uri="{FF2B5EF4-FFF2-40B4-BE49-F238E27FC236}">
                <a16:creationId xmlns:a16="http://schemas.microsoft.com/office/drawing/2014/main" id="{BB1AA5AA-8ACC-A456-5DEE-BFA56AEA8999}"/>
              </a:ext>
            </a:extLst>
          </p:cNvPr>
          <p:cNvGrpSpPr/>
          <p:nvPr/>
        </p:nvGrpSpPr>
        <p:grpSpPr>
          <a:xfrm>
            <a:off x="1097280" y="4297680"/>
            <a:ext cx="4297680" cy="1828800"/>
            <a:chOff x="1097280" y="4297680"/>
            <a:chExt cx="4297680" cy="1828800"/>
          </a:xfrm>
        </p:grpSpPr>
        <p:cxnSp>
          <p:nvCxnSpPr>
            <p:cNvPr id="8" name="Connector 31">
              <a:extLst>
                <a:ext uri="{FF2B5EF4-FFF2-40B4-BE49-F238E27FC236}">
                  <a16:creationId xmlns:a16="http://schemas.microsoft.com/office/drawing/2014/main" id="{73CD0140-52F4-786A-D5EC-E8B7D62CE1C8}"/>
                </a:ext>
              </a:extLst>
            </p:cNvPr>
            <p:cNvCxnSpPr/>
            <p:nvPr/>
          </p:nvCxnSpPr>
          <p:spPr>
            <a:xfrm flipV="1">
              <a:off x="1440416" y="4998436"/>
              <a:ext cx="273847" cy="473007"/>
            </a:xfrm>
            <a:prstGeom prst="line">
              <a:avLst/>
            </a:prstGeom>
            <a:ln w="15240">
              <a:solidFill>
                <a:srgbClr val="285F9B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or 32">
              <a:extLst>
                <a:ext uri="{FF2B5EF4-FFF2-40B4-BE49-F238E27FC236}">
                  <a16:creationId xmlns:a16="http://schemas.microsoft.com/office/drawing/2014/main" id="{C4450C0E-4D81-E9A2-B55C-D458047B9B45}"/>
                </a:ext>
              </a:extLst>
            </p:cNvPr>
            <p:cNvCxnSpPr/>
            <p:nvPr/>
          </p:nvCxnSpPr>
          <p:spPr>
            <a:xfrm flipH="1" flipV="1">
              <a:off x="1943336" y="4998436"/>
              <a:ext cx="273847" cy="473007"/>
            </a:xfrm>
            <a:prstGeom prst="line">
              <a:avLst/>
            </a:prstGeom>
            <a:ln w="15240">
              <a:solidFill>
                <a:srgbClr val="285F9B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or 33">
              <a:extLst>
                <a:ext uri="{FF2B5EF4-FFF2-40B4-BE49-F238E27FC236}">
                  <a16:creationId xmlns:a16="http://schemas.microsoft.com/office/drawing/2014/main" id="{E6C60B44-9B1E-90B4-A600-EE842ABCA087}"/>
                </a:ext>
              </a:extLst>
            </p:cNvPr>
            <p:cNvCxnSpPr/>
            <p:nvPr/>
          </p:nvCxnSpPr>
          <p:spPr>
            <a:xfrm flipV="1">
              <a:off x="4120445" y="4704786"/>
              <a:ext cx="263029" cy="328787"/>
            </a:xfrm>
            <a:prstGeom prst="line">
              <a:avLst/>
            </a:prstGeom>
            <a:ln w="15240">
              <a:solidFill>
                <a:srgbClr val="285F9B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or 34">
              <a:extLst>
                <a:ext uri="{FF2B5EF4-FFF2-40B4-BE49-F238E27FC236}">
                  <a16:creationId xmlns:a16="http://schemas.microsoft.com/office/drawing/2014/main" id="{DBC4D2DB-5643-495B-C4F2-B6E9D0BDA8F1}"/>
                </a:ext>
              </a:extLst>
            </p:cNvPr>
            <p:cNvCxnSpPr/>
            <p:nvPr/>
          </p:nvCxnSpPr>
          <p:spPr>
            <a:xfrm flipH="1" flipV="1">
              <a:off x="4682257" y="4693399"/>
              <a:ext cx="328125" cy="351561"/>
            </a:xfrm>
            <a:prstGeom prst="line">
              <a:avLst/>
            </a:prstGeom>
            <a:ln w="15240">
              <a:solidFill>
                <a:srgbClr val="285F9B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or 35">
              <a:extLst>
                <a:ext uri="{FF2B5EF4-FFF2-40B4-BE49-F238E27FC236}">
                  <a16:creationId xmlns:a16="http://schemas.microsoft.com/office/drawing/2014/main" id="{1F0CB6FC-9208-CA45-E473-DE9BA8AB97C7}"/>
                </a:ext>
              </a:extLst>
            </p:cNvPr>
            <p:cNvCxnSpPr/>
            <p:nvPr/>
          </p:nvCxnSpPr>
          <p:spPr>
            <a:xfrm flipV="1">
              <a:off x="3609905" y="5396424"/>
              <a:ext cx="232549" cy="317111"/>
            </a:xfrm>
            <a:prstGeom prst="line">
              <a:avLst/>
            </a:prstGeom>
            <a:ln w="15240">
              <a:solidFill>
                <a:srgbClr val="285F9B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or 36">
              <a:extLst>
                <a:ext uri="{FF2B5EF4-FFF2-40B4-BE49-F238E27FC236}">
                  <a16:creationId xmlns:a16="http://schemas.microsoft.com/office/drawing/2014/main" id="{B1DD79A0-BC0C-6AFB-59C7-91FD37318899}"/>
                </a:ext>
              </a:extLst>
            </p:cNvPr>
            <p:cNvCxnSpPr/>
            <p:nvPr/>
          </p:nvCxnSpPr>
          <p:spPr>
            <a:xfrm flipH="1" flipV="1">
              <a:off x="4112825" y="5396424"/>
              <a:ext cx="232549" cy="317111"/>
            </a:xfrm>
            <a:prstGeom prst="line">
              <a:avLst/>
            </a:prstGeom>
            <a:ln w="15240">
              <a:solidFill>
                <a:srgbClr val="285F9B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old 1">
              <a:extLst>
                <a:ext uri="{FF2B5EF4-FFF2-40B4-BE49-F238E27FC236}">
                  <a16:creationId xmlns:a16="http://schemas.microsoft.com/office/drawing/2014/main" id="{68412F2C-D741-4376-973E-D76EDC3694DD}"/>
                </a:ext>
              </a:extLst>
            </p:cNvPr>
            <p:cNvSpPr/>
            <p:nvPr/>
          </p:nvSpPr>
          <p:spPr>
            <a:xfrm>
              <a:off x="1600200" y="4572000"/>
              <a:ext cx="457200" cy="457200"/>
            </a:xfrm>
            <a:prstGeom prst="ellipse">
              <a:avLst/>
            </a:prstGeom>
            <a:solidFill>
              <a:srgbClr val="FFFFFF"/>
            </a:solidFill>
            <a:ln w="15875">
              <a:solidFill>
                <a:srgbClr val="285F9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sz="1000">
                  <a:solidFill>
                    <a:srgbClr val="102C53"/>
                  </a:solidFill>
                  <a:latin typeface="Segoe UI"/>
                </a:rPr>
                <a:t>old 1</a:t>
              </a:r>
            </a:p>
          </p:txBody>
        </p:sp>
        <p:sp>
          <p:nvSpPr>
            <p:cNvPr id="18" name="old 2">
              <a:extLst>
                <a:ext uri="{FF2B5EF4-FFF2-40B4-BE49-F238E27FC236}">
                  <a16:creationId xmlns:a16="http://schemas.microsoft.com/office/drawing/2014/main" id="{255919AD-27A5-8275-BE60-BE9DA78DB590}"/>
                </a:ext>
              </a:extLst>
            </p:cNvPr>
            <p:cNvSpPr/>
            <p:nvPr/>
          </p:nvSpPr>
          <p:spPr>
            <a:xfrm>
              <a:off x="1097280" y="5440680"/>
              <a:ext cx="457200" cy="457200"/>
            </a:xfrm>
            <a:prstGeom prst="ellipse">
              <a:avLst/>
            </a:prstGeom>
            <a:solidFill>
              <a:srgbClr val="FFFFFF"/>
            </a:solidFill>
            <a:ln w="15875">
              <a:solidFill>
                <a:srgbClr val="285F9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sz="1000">
                  <a:solidFill>
                    <a:srgbClr val="102C53"/>
                  </a:solidFill>
                  <a:latin typeface="Segoe UI"/>
                </a:rPr>
                <a:t>old 2</a:t>
              </a:r>
            </a:p>
          </p:txBody>
        </p:sp>
        <p:sp>
          <p:nvSpPr>
            <p:cNvPr id="19" name="old 3">
              <a:extLst>
                <a:ext uri="{FF2B5EF4-FFF2-40B4-BE49-F238E27FC236}">
                  <a16:creationId xmlns:a16="http://schemas.microsoft.com/office/drawing/2014/main" id="{851734B0-2D40-FDEC-DE06-FFAF51A79D1E}"/>
                </a:ext>
              </a:extLst>
            </p:cNvPr>
            <p:cNvSpPr/>
            <p:nvPr/>
          </p:nvSpPr>
          <p:spPr>
            <a:xfrm>
              <a:off x="2103120" y="5440680"/>
              <a:ext cx="457200" cy="457200"/>
            </a:xfrm>
            <a:prstGeom prst="ellipse">
              <a:avLst/>
            </a:prstGeom>
            <a:solidFill>
              <a:srgbClr val="FFFFFF"/>
            </a:solidFill>
            <a:ln w="15875">
              <a:solidFill>
                <a:srgbClr val="285F9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sz="1000">
                  <a:solidFill>
                    <a:srgbClr val="102C53"/>
                  </a:solidFill>
                  <a:latin typeface="Segoe UI"/>
                </a:rPr>
                <a:t>old 3</a:t>
              </a:r>
            </a:p>
          </p:txBody>
        </p:sp>
        <p:sp>
          <p:nvSpPr>
            <p:cNvPr id="20" name="new 4">
              <a:extLst>
                <a:ext uri="{FF2B5EF4-FFF2-40B4-BE49-F238E27FC236}">
                  <a16:creationId xmlns:a16="http://schemas.microsoft.com/office/drawing/2014/main" id="{2C0EF5C1-A204-9FB0-B024-CB1C9FCAA881}"/>
                </a:ext>
              </a:extLst>
            </p:cNvPr>
            <p:cNvSpPr/>
            <p:nvPr/>
          </p:nvSpPr>
          <p:spPr>
            <a:xfrm>
              <a:off x="4297680" y="4297680"/>
              <a:ext cx="457200" cy="457200"/>
            </a:xfrm>
            <a:prstGeom prst="ellipse">
              <a:avLst/>
            </a:prstGeom>
            <a:solidFill>
              <a:srgbClr val="FFF0DE"/>
            </a:solidFill>
            <a:ln w="15875">
              <a:solidFill>
                <a:srgbClr val="E5904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sz="1000">
                  <a:solidFill>
                    <a:srgbClr val="102C53"/>
                  </a:solidFill>
                  <a:latin typeface="Segoe UI"/>
                </a:rPr>
                <a:t>new 4</a:t>
              </a:r>
            </a:p>
          </p:txBody>
        </p:sp>
        <p:sp>
          <p:nvSpPr>
            <p:cNvPr id="21" name="old 1">
              <a:extLst>
                <a:ext uri="{FF2B5EF4-FFF2-40B4-BE49-F238E27FC236}">
                  <a16:creationId xmlns:a16="http://schemas.microsoft.com/office/drawing/2014/main" id="{E378123E-9DF3-80B7-5B29-F5E547A22F9C}"/>
                </a:ext>
              </a:extLst>
            </p:cNvPr>
            <p:cNvSpPr/>
            <p:nvPr/>
          </p:nvSpPr>
          <p:spPr>
            <a:xfrm>
              <a:off x="3749039" y="4983480"/>
              <a:ext cx="457200" cy="457200"/>
            </a:xfrm>
            <a:prstGeom prst="ellipse">
              <a:avLst/>
            </a:prstGeom>
            <a:solidFill>
              <a:srgbClr val="FFFFFF"/>
            </a:solidFill>
            <a:ln w="15875">
              <a:solidFill>
                <a:srgbClr val="285F9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sz="1000">
                  <a:solidFill>
                    <a:srgbClr val="102C53"/>
                  </a:solidFill>
                  <a:latin typeface="Segoe UI"/>
                </a:rPr>
                <a:t>old 1</a:t>
              </a:r>
            </a:p>
          </p:txBody>
        </p:sp>
        <p:sp>
          <p:nvSpPr>
            <p:cNvPr id="22" name="new 5">
              <a:extLst>
                <a:ext uri="{FF2B5EF4-FFF2-40B4-BE49-F238E27FC236}">
                  <a16:creationId xmlns:a16="http://schemas.microsoft.com/office/drawing/2014/main" id="{312562E1-BB67-B63D-2981-CE4B2B8D1177}"/>
                </a:ext>
              </a:extLst>
            </p:cNvPr>
            <p:cNvSpPr/>
            <p:nvPr/>
          </p:nvSpPr>
          <p:spPr>
            <a:xfrm>
              <a:off x="4937760" y="4983480"/>
              <a:ext cx="457200" cy="457200"/>
            </a:xfrm>
            <a:prstGeom prst="ellipse">
              <a:avLst/>
            </a:prstGeom>
            <a:solidFill>
              <a:srgbClr val="FFF0DE"/>
            </a:solidFill>
            <a:ln w="15875">
              <a:solidFill>
                <a:srgbClr val="E5904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sz="1000">
                  <a:solidFill>
                    <a:srgbClr val="102C53"/>
                  </a:solidFill>
                  <a:latin typeface="Segoe UI"/>
                </a:rPr>
                <a:t>new 5</a:t>
              </a:r>
            </a:p>
          </p:txBody>
        </p:sp>
        <p:sp>
          <p:nvSpPr>
            <p:cNvPr id="23" name="old 2">
              <a:extLst>
                <a:ext uri="{FF2B5EF4-FFF2-40B4-BE49-F238E27FC236}">
                  <a16:creationId xmlns:a16="http://schemas.microsoft.com/office/drawing/2014/main" id="{25463E4E-F43A-C8FE-6754-BDC875471725}"/>
                </a:ext>
              </a:extLst>
            </p:cNvPr>
            <p:cNvSpPr/>
            <p:nvPr/>
          </p:nvSpPr>
          <p:spPr>
            <a:xfrm>
              <a:off x="3246120" y="5669280"/>
              <a:ext cx="457200" cy="457200"/>
            </a:xfrm>
            <a:prstGeom prst="ellipse">
              <a:avLst/>
            </a:prstGeom>
            <a:solidFill>
              <a:srgbClr val="FFFFFF"/>
            </a:solidFill>
            <a:ln w="15875">
              <a:solidFill>
                <a:srgbClr val="285F9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sz="1000">
                  <a:solidFill>
                    <a:srgbClr val="102C53"/>
                  </a:solidFill>
                  <a:latin typeface="Segoe UI"/>
                </a:rPr>
                <a:t>old 2</a:t>
              </a:r>
            </a:p>
          </p:txBody>
        </p:sp>
        <p:sp>
          <p:nvSpPr>
            <p:cNvPr id="24" name="old 3">
              <a:extLst>
                <a:ext uri="{FF2B5EF4-FFF2-40B4-BE49-F238E27FC236}">
                  <a16:creationId xmlns:a16="http://schemas.microsoft.com/office/drawing/2014/main" id="{DC824508-D1BE-78CA-50CC-24AA0F417D1F}"/>
                </a:ext>
              </a:extLst>
            </p:cNvPr>
            <p:cNvSpPr/>
            <p:nvPr/>
          </p:nvSpPr>
          <p:spPr>
            <a:xfrm>
              <a:off x="4251960" y="5669280"/>
              <a:ext cx="457200" cy="457200"/>
            </a:xfrm>
            <a:prstGeom prst="ellipse">
              <a:avLst/>
            </a:prstGeom>
            <a:solidFill>
              <a:srgbClr val="FFFFFF"/>
            </a:solidFill>
            <a:ln w="15875">
              <a:solidFill>
                <a:srgbClr val="285F9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sz="1000">
                  <a:solidFill>
                    <a:srgbClr val="102C53"/>
                  </a:solidFill>
                  <a:latin typeface="Segoe UI"/>
                </a:rPr>
                <a:t>old 3</a:t>
              </a:r>
            </a:p>
          </p:txBody>
        </p:sp>
        <p:cxnSp>
          <p:nvCxnSpPr>
            <p:cNvPr id="25" name="Connector 45">
              <a:extLst>
                <a:ext uri="{FF2B5EF4-FFF2-40B4-BE49-F238E27FC236}">
                  <a16:creationId xmlns:a16="http://schemas.microsoft.com/office/drawing/2014/main" id="{1007817B-CAC2-386E-0FED-0E7022C2BC16}"/>
                </a:ext>
              </a:extLst>
            </p:cNvPr>
            <p:cNvCxnSpPr/>
            <p:nvPr/>
          </p:nvCxnSpPr>
          <p:spPr>
            <a:xfrm>
              <a:off x="2788920" y="5166360"/>
              <a:ext cx="365760" cy="0"/>
            </a:xfrm>
            <a:prstGeom prst="line">
              <a:avLst/>
            </a:prstGeom>
            <a:ln w="15240">
              <a:solidFill>
                <a:srgbClr val="285F9B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23057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248 0.07593 L 0.0858 0.29098 L -0.00157 0.49931 L -0.00248 0.57246 " pathEditMode="relative" rAng="0" ptsTypes="AAAA">
                                      <p:cBhvr>
                                        <p:cTn id="14" dur="20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414" y="2481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0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456 -0.06342 L 0.08177 -0.28217 L -0.0056 -0.48866 C -0.00573 -0.51458 -0.00586 -0.54051 -0.00599 -0.5662 " pathEditMode="relative" rAng="0" ptsTypes="AAAA">
                                      <p:cBhvr>
                                        <p:cTn id="31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245" y="-251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000"/>
                            </p:stCondLst>
                            <p:childTnLst>
                              <p:par>
                                <p:cTn id="33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allAtOnce"/>
      <p:bldP spid="12" grpId="1" build="allAtOnce"/>
      <p:bldP spid="13" grpId="0"/>
      <p:bldP spid="13" grpId="1"/>
      <p:bldP spid="13" grpId="2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55D918-A63B-7EC9-82B3-110C269D43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 dirty="0"/>
              <a:t>Background: Renoir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993F60E-1FDD-AFFF-6D72-AE471A29DD9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spcAft>
                <a:spcPts val="700"/>
              </a:spcAft>
              <a:defRPr sz="2300" b="1">
                <a:latin typeface="Segoe UI"/>
              </a:defRPr>
            </a:pPr>
            <a:r>
              <a:rPr lang="en-US" altLang="zh-CN" sz="2300" b="1" dirty="0">
                <a:latin typeface="Segoe UI"/>
              </a:rPr>
              <a:t>Rust-based framework</a:t>
            </a:r>
          </a:p>
          <a:p>
            <a:pPr>
              <a:spcAft>
                <a:spcPts val="700"/>
              </a:spcAft>
              <a:defRPr sz="2300" b="1">
                <a:latin typeface="Segoe UI"/>
              </a:defRPr>
            </a:pPr>
            <a:r>
              <a:rPr lang="en-US" altLang="zh-CN" sz="2300" b="1" dirty="0">
                <a:latin typeface="Segoe UI"/>
              </a:rPr>
              <a:t>Dataflow programming model</a:t>
            </a:r>
          </a:p>
          <a:p>
            <a:pPr lvl="1">
              <a:spcAft>
                <a:spcPts val="1600"/>
              </a:spcAft>
              <a:defRPr sz="2100" b="0">
                <a:latin typeface="Segoe UI"/>
              </a:defRPr>
            </a:pPr>
            <a:r>
              <a:rPr lang="en-US" altLang="zh-CN" sz="2100" b="0" dirty="0">
                <a:latin typeface="Segoe UI"/>
              </a:rPr>
              <a:t>Operators connected by streams</a:t>
            </a:r>
          </a:p>
          <a:p>
            <a:pPr>
              <a:spcAft>
                <a:spcPts val="700"/>
              </a:spcAft>
              <a:defRPr sz="2300" b="1">
                <a:latin typeface="Segoe UI"/>
              </a:defRPr>
            </a:pPr>
            <a:r>
              <a:rPr lang="en-US" altLang="zh-CN" sz="2300" b="1" dirty="0">
                <a:latin typeface="Segoe UI"/>
              </a:rPr>
              <a:t>Parallel execution</a:t>
            </a:r>
          </a:p>
          <a:p>
            <a:pPr lvl="1">
              <a:spcAft>
                <a:spcPts val="1600"/>
              </a:spcAft>
              <a:defRPr sz="2100" b="0">
                <a:latin typeface="Segoe UI"/>
              </a:defRPr>
            </a:pPr>
            <a:r>
              <a:rPr lang="en-US" altLang="zh-CN" sz="2100" b="0" dirty="0">
                <a:latin typeface="Segoe UI"/>
              </a:rPr>
              <a:t>Across cores and machines</a:t>
            </a:r>
          </a:p>
        </p:txBody>
      </p:sp>
      <p:pic>
        <p:nvPicPr>
          <p:cNvPr id="9" name="内容占位符 8" descr="适配后的 Renoir 图">
            <a:extLst>
              <a:ext uri="{FF2B5EF4-FFF2-40B4-BE49-F238E27FC236}">
                <a16:creationId xmlns:a16="http://schemas.microsoft.com/office/drawing/2014/main" id="{713F70E9-ED67-0AA8-E0B8-7B7D2D0D45F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389543" y="1825625"/>
            <a:ext cx="4746914" cy="4351338"/>
          </a:xfrm>
          <a:prstGeom prst="rect">
            <a:avLst/>
          </a:prstGeom>
        </p:spPr>
      </p:pic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A8A4371-251C-B976-54BE-617C866A3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 sz="1100" b="0">
                <a:solidFill>
                  <a:srgbClr val="FFFFFF"/>
                </a:solidFill>
                <a:latin typeface="Segoe UI"/>
              </a:rPr>
              <a:t>October 21, 2026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2A20002-A59A-5FAA-87B4-7060F986D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100" b="0">
                <a:solidFill>
                  <a:srgbClr val="FFFFFF"/>
                </a:solidFill>
                <a:latin typeface="Segoe UI"/>
              </a:rPr>
              <a:t>Zhiqiang Shi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9C55E3C-A336-7C94-C738-222AD7A90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128CB-9318-4443-89F2-2A623EAF7AEA}" type="slidenum">
              <a:rPr lang="it-IT" smtClean="0"/>
              <a:t>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24447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C10FD2-C124-F985-87FB-B2D36C30F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5327" y="26988"/>
            <a:ext cx="11664176" cy="932017"/>
          </a:xfrm>
        </p:spPr>
        <p:txBody>
          <a:bodyPr anchor="ctr">
            <a:normAutofit/>
          </a:bodyPr>
          <a:lstStyle/>
          <a:p>
            <a:r>
              <a:rPr lang="en-US" altLang="zh-CN" dirty="0"/>
              <a:t>Renoir Pipeline</a:t>
            </a:r>
            <a:endParaRPr lang="zh-CN" altLang="en-US" dirty="0"/>
          </a:p>
        </p:txBody>
      </p:sp>
      <p:pic>
        <p:nvPicPr>
          <p:cNvPr id="13" name="图片 12" descr="The diagram illustrates a network diagram with various interconnected nodes, possibly representing a data flow or system architecture.&#10;&#10;AI 生成的内容可能不正确。">
            <a:extLst>
              <a:ext uri="{FF2B5EF4-FFF2-40B4-BE49-F238E27FC236}">
                <a16:creationId xmlns:a16="http://schemas.microsoft.com/office/drawing/2014/main" id="{61C90566-DC10-D89D-B5E5-2AC4FF0402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327" y="1841149"/>
            <a:ext cx="11664176" cy="3790857"/>
          </a:xfrm>
          <a:prstGeom prst="rect">
            <a:avLst/>
          </a:prstGeom>
          <a:noFill/>
        </p:spPr>
      </p:pic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E6C948F-7250-DF3C-472B-E5CB6EDB23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50018" y="6404400"/>
            <a:ext cx="124982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it-IT" sz="1100" b="0">
                <a:solidFill>
                  <a:srgbClr val="FFFFFF"/>
                </a:solidFill>
                <a:latin typeface="Segoe UI"/>
              </a:rPr>
              <a:t>October 21, 2026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4E385D0-8D0A-E690-B22B-D5FE593554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45327" y="6409760"/>
            <a:ext cx="1381760" cy="392480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it-IT" sz="1100" b="0">
                <a:solidFill>
                  <a:srgbClr val="FFFFFF"/>
                </a:solidFill>
                <a:latin typeface="Segoe UI"/>
              </a:rPr>
              <a:t>Zhiqiang Shi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1A5B158-632B-14BF-053B-A7B73268F5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61126" y="6405331"/>
            <a:ext cx="44837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FD7128CB-9318-4443-89F2-2A623EAF7AEA}" type="slidenum">
              <a:rPr lang="it-IT" smtClean="0"/>
              <a:pPr>
                <a:spcAft>
                  <a:spcPts val="600"/>
                </a:spcAft>
              </a:pPr>
              <a:t>8</a:t>
            </a:fld>
            <a:endParaRPr lang="it-IT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858F0E7-1293-7F46-A8E1-0FE410318442}"/>
              </a:ext>
            </a:extLst>
          </p:cNvPr>
          <p:cNvSpPr txBox="1"/>
          <p:nvPr/>
        </p:nvSpPr>
        <p:spPr>
          <a:xfrm>
            <a:off x="675154" y="4232541"/>
            <a:ext cx="660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Data</a:t>
            </a:r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D6978268-3AA1-0482-E10A-16E5D4304E4B}"/>
              </a:ext>
            </a:extLst>
          </p:cNvPr>
          <p:cNvSpPr txBox="1"/>
          <p:nvPr/>
        </p:nvSpPr>
        <p:spPr>
          <a:xfrm>
            <a:off x="2384612" y="2976283"/>
            <a:ext cx="660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Data</a:t>
            </a:r>
            <a:endParaRPr lang="zh-CN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0596FFF-A6B2-BAC9-BCE2-8FB2ACFF564B}"/>
              </a:ext>
            </a:extLst>
          </p:cNvPr>
          <p:cNvSpPr txBox="1"/>
          <p:nvPr/>
        </p:nvSpPr>
        <p:spPr>
          <a:xfrm>
            <a:off x="2384612" y="4119478"/>
            <a:ext cx="660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Data</a:t>
            </a:r>
            <a:endParaRPr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9B2179A-F6E3-609B-D382-E93052F28F59}"/>
              </a:ext>
            </a:extLst>
          </p:cNvPr>
          <p:cNvSpPr txBox="1"/>
          <p:nvPr/>
        </p:nvSpPr>
        <p:spPr>
          <a:xfrm>
            <a:off x="4509974" y="3345615"/>
            <a:ext cx="1233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Prediction</a:t>
            </a:r>
            <a:endParaRPr lang="zh-CN" altLang="en-US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4094CF97-750D-61F2-D28D-AB292D8DC389}"/>
              </a:ext>
            </a:extLst>
          </p:cNvPr>
          <p:cNvSpPr txBox="1"/>
          <p:nvPr/>
        </p:nvSpPr>
        <p:spPr>
          <a:xfrm>
            <a:off x="4509974" y="4963459"/>
            <a:ext cx="12334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Prediction</a:t>
            </a:r>
            <a:endParaRPr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A76B222-8D16-D613-AE42-229B6A4C5877}"/>
              </a:ext>
            </a:extLst>
          </p:cNvPr>
          <p:cNvSpPr txBox="1"/>
          <p:nvPr/>
        </p:nvSpPr>
        <p:spPr>
          <a:xfrm>
            <a:off x="8163858" y="2540000"/>
            <a:ext cx="8149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Result</a:t>
            </a:r>
            <a:endParaRPr lang="zh-CN" altLang="en-US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EFDD7F7-03FD-2EAC-03E4-7DA6223B89D6}"/>
              </a:ext>
            </a:extLst>
          </p:cNvPr>
          <p:cNvSpPr txBox="1"/>
          <p:nvPr/>
        </p:nvSpPr>
        <p:spPr>
          <a:xfrm>
            <a:off x="375882" y="5632006"/>
            <a:ext cx="14414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stream_iter</a:t>
            </a:r>
            <a:r>
              <a:rPr lang="en-US" altLang="zh-CN" dirty="0"/>
              <a:t>()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AAE258F-1AEE-012F-5867-34885D5CE907}"/>
              </a:ext>
            </a:extLst>
          </p:cNvPr>
          <p:cNvSpPr txBox="1"/>
          <p:nvPr/>
        </p:nvSpPr>
        <p:spPr>
          <a:xfrm>
            <a:off x="1947857" y="5632006"/>
            <a:ext cx="1194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flat_map</a:t>
            </a:r>
            <a:r>
              <a:rPr lang="en-US" altLang="zh-CN" dirty="0"/>
              <a:t>()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88353C2-A47E-C8CD-0E00-1977A57B854C}"/>
              </a:ext>
            </a:extLst>
          </p:cNvPr>
          <p:cNvSpPr txBox="1"/>
          <p:nvPr/>
        </p:nvSpPr>
        <p:spPr>
          <a:xfrm>
            <a:off x="3822700" y="5632006"/>
            <a:ext cx="2235200" cy="5588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500" dirty="0" err="1"/>
              <a:t>rich_map()</a:t>
            </a:r>
            <a:endParaRPr lang="zh-CN" altLang="en-US" dirty="0"/>
          </a:p>
          <a:p>
            <a:r>
              <a:rPr lang="en-US" altLang="zh-CN" sz="1500" dirty="0" err="1"/>
              <a:t>key: tree_id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08E51DC-6523-C90C-20D5-19B36022D160}"/>
              </a:ext>
            </a:extLst>
          </p:cNvPr>
          <p:cNvSpPr txBox="1"/>
          <p:nvPr/>
        </p:nvSpPr>
        <p:spPr>
          <a:xfrm>
            <a:off x="6350000" y="5630885"/>
            <a:ext cx="1891865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500" dirty="0" err="1"/>
              <a:t>rich_map_transient</a:t>
            </a:r>
            <a:r>
              <a:rPr lang="en-US" altLang="zh-CN" sz="1500" dirty="0"/>
              <a:t>()</a:t>
            </a:r>
            <a:endParaRPr lang="zh-CN" altLang="en-US" dirty="0"/>
          </a:p>
          <a:p>
            <a:r>
              <a:rPr lang="en-US" altLang="zh-CN" sz="1500" dirty="0" err="1"/>
              <a:t>key: instance_id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FACC05F-1562-DB2E-EDF3-0BCBC19E3C46}"/>
              </a:ext>
            </a:extLst>
          </p:cNvPr>
          <p:cNvSpPr txBox="1"/>
          <p:nvPr/>
        </p:nvSpPr>
        <p:spPr>
          <a:xfrm>
            <a:off x="9990893" y="5630885"/>
            <a:ext cx="12344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write_csv</a:t>
            </a:r>
            <a:r>
              <a:rPr lang="en-US" altLang="zh-CN" dirty="0"/>
              <a:t>()</a:t>
            </a:r>
            <a:endParaRPr lang="zh-CN" altLang="en-US" dirty="0"/>
          </a:p>
        </p:txBody>
      </p:sp>
      <p:sp>
        <p:nvSpPr>
          <p:cNvPr id="11" name="Stage 1 focus">
            <a:extLst>
              <a:ext uri="{FF2B5EF4-FFF2-40B4-BE49-F238E27FC236}">
                <a16:creationId xmlns:a16="http://schemas.microsoft.com/office/drawing/2014/main" id="{04D86CA7-5690-3027-8BD3-7C9136F36AE2}"/>
              </a:ext>
            </a:extLst>
          </p:cNvPr>
          <p:cNvSpPr/>
          <p:nvPr/>
        </p:nvSpPr>
        <p:spPr>
          <a:xfrm>
            <a:off x="330758" y="2017600"/>
            <a:ext cx="2739487" cy="4222400"/>
          </a:xfrm>
          <a:prstGeom prst="roundRect">
            <a:avLst>
              <a:gd name="adj" fmla="val 4500"/>
            </a:avLst>
          </a:prstGeom>
          <a:noFill/>
          <a:ln w="38100">
            <a:solidFill>
              <a:srgbClr val="1676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tage 1 focus">
            <a:extLst>
              <a:ext uri="{FF2B5EF4-FFF2-40B4-BE49-F238E27FC236}">
                <a16:creationId xmlns:a16="http://schemas.microsoft.com/office/drawing/2014/main" id="{262A98B8-1B2E-6ED5-8B1B-93C416AA86F1}"/>
              </a:ext>
            </a:extLst>
          </p:cNvPr>
          <p:cNvSpPr/>
          <p:nvPr/>
        </p:nvSpPr>
        <p:spPr>
          <a:xfrm>
            <a:off x="3112079" y="2017600"/>
            <a:ext cx="2739487" cy="4222400"/>
          </a:xfrm>
          <a:prstGeom prst="roundRect">
            <a:avLst>
              <a:gd name="adj" fmla="val 4500"/>
            </a:avLst>
          </a:prstGeom>
          <a:noFill/>
          <a:ln w="38100">
            <a:solidFill>
              <a:srgbClr val="1676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tage 1 focus">
            <a:extLst>
              <a:ext uri="{FF2B5EF4-FFF2-40B4-BE49-F238E27FC236}">
                <a16:creationId xmlns:a16="http://schemas.microsoft.com/office/drawing/2014/main" id="{1634C687-D627-457C-89CB-2A033BDC30EC}"/>
              </a:ext>
            </a:extLst>
          </p:cNvPr>
          <p:cNvSpPr/>
          <p:nvPr/>
        </p:nvSpPr>
        <p:spPr>
          <a:xfrm>
            <a:off x="5908192" y="2017600"/>
            <a:ext cx="3174564" cy="4222400"/>
          </a:xfrm>
          <a:prstGeom prst="roundRect">
            <a:avLst>
              <a:gd name="adj" fmla="val 4500"/>
            </a:avLst>
          </a:prstGeom>
          <a:noFill/>
          <a:ln w="38100">
            <a:solidFill>
              <a:srgbClr val="1676D2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tage 1 focus">
            <a:extLst>
              <a:ext uri="{FF2B5EF4-FFF2-40B4-BE49-F238E27FC236}">
                <a16:creationId xmlns:a16="http://schemas.microsoft.com/office/drawing/2014/main" id="{EC977D47-A672-5DBF-182E-FD687494C5AE}"/>
              </a:ext>
            </a:extLst>
          </p:cNvPr>
          <p:cNvSpPr/>
          <p:nvPr/>
        </p:nvSpPr>
        <p:spPr>
          <a:xfrm>
            <a:off x="9198329" y="2017600"/>
            <a:ext cx="2739487" cy="4222400"/>
          </a:xfrm>
          <a:prstGeom prst="roundRect">
            <a:avLst>
              <a:gd name="adj" fmla="val 4500"/>
            </a:avLst>
          </a:prstGeom>
          <a:noFill/>
          <a:ln w="38100">
            <a:solidFill>
              <a:srgbClr val="1676D2"/>
            </a:solidFill>
          </a:ln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164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-1.48148E-6 L 0.12057 -1.48148E-6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02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2000"/>
                            </p:stCondLst>
                            <p:childTnLst>
                              <p:par>
                                <p:cTn id="16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3.7037E-7 L 0.08906 -0.00255 " pathEditMode="relative" rAng="0" ptsTypes="AA">
                                      <p:cBhvr>
                                        <p:cTn id="32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453" y="-139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3.7037E-6 L 0.08906 0.00254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453" y="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000"/>
                            </p:stCondLst>
                            <p:childTnLst>
                              <p:par>
                                <p:cTn id="39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25 0 E" pathEditMode="relative" ptsTypes="">
                                      <p:cBhvr>
                                        <p:cTn id="55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6" presetID="63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-4.44444E-6 L 0.24427 -0.1912 " pathEditMode="relative" rAng="0" ptsTypes="AA">
                                      <p:cBhvr>
                                        <p:cTn id="57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214" y="-956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000"/>
                            </p:stCondLst>
                            <p:childTnLst>
                              <p:par>
                                <p:cTn id="59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9167E-6 -2.22222E-6 L 0.17305 0.03681 " pathEditMode="relative" rAng="0" ptsTypes="AA">
                                      <p:cBhvr>
                                        <p:cTn id="77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646" y="182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2000"/>
                            </p:stCondLst>
                            <p:childTnLst>
                              <p:par>
                                <p:cTn id="79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4" grpId="1"/>
      <p:bldP spid="14" grpId="2"/>
      <p:bldP spid="16" grpId="0"/>
      <p:bldP spid="16" grpId="1"/>
      <p:bldP spid="16" grpId="2"/>
      <p:bldP spid="18" grpId="0"/>
      <p:bldP spid="18" grpId="1"/>
      <p:bldP spid="18" grpId="2"/>
      <p:bldP spid="19" grpId="0"/>
      <p:bldP spid="19" grpId="1"/>
      <p:bldP spid="19" grpId="2"/>
      <p:bldP spid="21" grpId="0"/>
      <p:bldP spid="21" grpId="1"/>
      <p:bldP spid="21" grpId="2"/>
      <p:bldP spid="22" grpId="0"/>
      <p:bldP spid="22" grpId="1"/>
      <p:bldP spid="22" grpId="2"/>
      <p:bldP spid="3" grpId="0"/>
      <p:bldP spid="4" grpId="0"/>
      <p:bldP spid="8" grpId="0"/>
      <p:bldP spid="9" grpId="0"/>
      <p:bldP spid="10" grpId="0"/>
      <p:bldP spid="11" grpId="0" animBg="1"/>
      <p:bldP spid="11" grpId="1" animBg="1"/>
      <p:bldP spid="12" grpId="0" animBg="1"/>
      <p:bldP spid="12" grpId="1" animBg="1"/>
      <p:bldP spid="12" grpId="2" animBg="1"/>
      <p:bldP spid="15" grpId="0" animBg="1"/>
      <p:bldP spid="15" grpId="1" animBg="1"/>
      <p:bldP spid="17" grpId="0" animBg="1"/>
      <p:bldP spid="17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D5B9A9-4A31-23F9-6041-B20F8E70DC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Experimental Setup</a:t>
            </a:r>
            <a:endParaRPr lang="zh-CN" altLang="en-US" dirty="0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F15BEDC-91F1-4A50-8696-62991EEA6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 sz="1100" b="0">
                <a:solidFill>
                  <a:srgbClr val="FFFFFF"/>
                </a:solidFill>
                <a:latin typeface="Segoe UI"/>
              </a:rPr>
              <a:t>October 21, 2026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7E83428-2493-149F-9E7A-1B1965E50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100" b="0">
                <a:solidFill>
                  <a:srgbClr val="FFFFFF"/>
                </a:solidFill>
                <a:latin typeface="Segoe UI"/>
              </a:rPr>
              <a:t>Zhiqiang Shi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FB8E375-2F52-13C7-F67A-CFAE7F69E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128CB-9318-4443-89F2-2A623EAF7AEA}" type="slidenum">
              <a:rPr lang="it-IT" smtClean="0"/>
              <a:t>9</a:t>
            </a:fld>
            <a:endParaRPr lang="it-IT"/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FC65F3BC-E57F-D5A4-5DA3-BCB2F4F897CE}"/>
              </a:ext>
            </a:extLst>
          </p:cNvPr>
          <p:cNvCxnSpPr/>
          <p:nvPr/>
        </p:nvCxnSpPr>
        <p:spPr>
          <a:xfrm>
            <a:off x="1016000" y="2235200"/>
            <a:ext cx="4648200" cy="0"/>
          </a:xfrm>
          <a:prstGeom prst="line">
            <a:avLst/>
          </a:prstGeom>
          <a:ln w="12700">
            <a:solidFill>
              <a:srgbClr val="CCD5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534D3235-95CC-1215-F654-23B35EB29BD2}"/>
              </a:ext>
            </a:extLst>
          </p:cNvPr>
          <p:cNvCxnSpPr/>
          <p:nvPr/>
        </p:nvCxnSpPr>
        <p:spPr>
          <a:xfrm>
            <a:off x="6527800" y="2235200"/>
            <a:ext cx="4648200" cy="0"/>
          </a:xfrm>
          <a:prstGeom prst="line">
            <a:avLst/>
          </a:prstGeom>
          <a:ln w="12700">
            <a:solidFill>
              <a:srgbClr val="CCD5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D8C16D6A-A626-AC2C-F63B-39AAD7D53F58}"/>
              </a:ext>
            </a:extLst>
          </p:cNvPr>
          <p:cNvCxnSpPr/>
          <p:nvPr/>
        </p:nvCxnSpPr>
        <p:spPr>
          <a:xfrm>
            <a:off x="1016000" y="4508500"/>
            <a:ext cx="4648200" cy="0"/>
          </a:xfrm>
          <a:prstGeom prst="line">
            <a:avLst/>
          </a:prstGeom>
          <a:ln w="12700">
            <a:solidFill>
              <a:srgbClr val="CCD5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4DB88CEA-2688-8BC6-EB97-29DCD0D2FEF6}"/>
              </a:ext>
            </a:extLst>
          </p:cNvPr>
          <p:cNvCxnSpPr/>
          <p:nvPr/>
        </p:nvCxnSpPr>
        <p:spPr>
          <a:xfrm>
            <a:off x="6527800" y="4508500"/>
            <a:ext cx="4648200" cy="0"/>
          </a:xfrm>
          <a:prstGeom prst="line">
            <a:avLst/>
          </a:prstGeom>
          <a:ln w="12700">
            <a:solidFill>
              <a:srgbClr val="CCD5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SetupCard">
            <a:extLst>
              <a:ext uri="{FF2B5EF4-FFF2-40B4-BE49-F238E27FC236}">
                <a16:creationId xmlns:a16="http://schemas.microsoft.com/office/drawing/2014/main" id="{15C26D1F-9ECD-226B-AA27-373276F60682}"/>
              </a:ext>
            </a:extLst>
          </p:cNvPr>
          <p:cNvSpPr/>
          <p:nvPr/>
        </p:nvSpPr>
        <p:spPr>
          <a:xfrm>
            <a:off x="736600" y="1625600"/>
            <a:ext cx="5207000" cy="1993900"/>
          </a:xfrm>
          <a:prstGeom prst="roundRect">
            <a:avLst>
              <a:gd name="adj" fmla="val 7000"/>
            </a:avLst>
          </a:prstGeom>
          <a:solidFill>
            <a:srgbClr val="F7FAFB"/>
          </a:solidFill>
          <a:ln w="12700">
            <a:solidFill>
              <a:srgbClr val="CCD5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SetupText">
            <a:extLst>
              <a:ext uri="{FF2B5EF4-FFF2-40B4-BE49-F238E27FC236}">
                <a16:creationId xmlns:a16="http://schemas.microsoft.com/office/drawing/2014/main" id="{368AB124-5F96-2FFB-C555-547A7F9EF30A}"/>
              </a:ext>
            </a:extLst>
          </p:cNvPr>
          <p:cNvSpPr txBox="1"/>
          <p:nvPr/>
        </p:nvSpPr>
        <p:spPr>
          <a:xfrm>
            <a:off x="1016000" y="1828800"/>
            <a:ext cx="4648200" cy="2923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900" b="1">
                <a:solidFill>
                  <a:srgbClr val="102C53"/>
                </a:solidFill>
                <a:latin typeface="Segoe UI" panose="020B0502040204020203" pitchFamily="34" charset="0"/>
              </a:rPr>
              <a:t>HARDWARE</a:t>
            </a:r>
            <a:endParaRPr lang="zh-CN" altLang="en-US" sz="1900" b="1">
              <a:solidFill>
                <a:srgbClr val="102C53"/>
              </a:solidFill>
              <a:latin typeface="Segoe UI" panose="020B0502040204020203" pitchFamily="34" charset="0"/>
            </a:endParaRP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2A78A023-F3CB-2C63-2C37-52B39589CCEE}"/>
              </a:ext>
            </a:extLst>
          </p:cNvPr>
          <p:cNvCxnSpPr/>
          <p:nvPr/>
        </p:nvCxnSpPr>
        <p:spPr>
          <a:xfrm>
            <a:off x="1016000" y="2235200"/>
            <a:ext cx="4648200" cy="0"/>
          </a:xfrm>
          <a:prstGeom prst="line">
            <a:avLst/>
          </a:prstGeom>
          <a:ln w="12700">
            <a:solidFill>
              <a:srgbClr val="CCD5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SetupCard">
            <a:extLst>
              <a:ext uri="{FF2B5EF4-FFF2-40B4-BE49-F238E27FC236}">
                <a16:creationId xmlns:a16="http://schemas.microsoft.com/office/drawing/2014/main" id="{FCC0FE3C-2292-9AEC-A4F1-45A2A0947D46}"/>
              </a:ext>
            </a:extLst>
          </p:cNvPr>
          <p:cNvSpPr/>
          <p:nvPr/>
        </p:nvSpPr>
        <p:spPr>
          <a:xfrm>
            <a:off x="6248400" y="1625600"/>
            <a:ext cx="5207000" cy="1993900"/>
          </a:xfrm>
          <a:prstGeom prst="roundRect">
            <a:avLst>
              <a:gd name="adj" fmla="val 7000"/>
            </a:avLst>
          </a:prstGeom>
          <a:solidFill>
            <a:srgbClr val="F7FAFB"/>
          </a:solidFill>
          <a:ln w="12700">
            <a:solidFill>
              <a:srgbClr val="CCD5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SetupText">
            <a:extLst>
              <a:ext uri="{FF2B5EF4-FFF2-40B4-BE49-F238E27FC236}">
                <a16:creationId xmlns:a16="http://schemas.microsoft.com/office/drawing/2014/main" id="{58B5C579-55E3-12DB-25CB-9857AE60424F}"/>
              </a:ext>
            </a:extLst>
          </p:cNvPr>
          <p:cNvSpPr txBox="1"/>
          <p:nvPr/>
        </p:nvSpPr>
        <p:spPr>
          <a:xfrm>
            <a:off x="6527800" y="1828800"/>
            <a:ext cx="4648200" cy="2923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900" b="1">
                <a:solidFill>
                  <a:srgbClr val="102C53"/>
                </a:solidFill>
                <a:latin typeface="Segoe UI" panose="020B0502040204020203" pitchFamily="34" charset="0"/>
              </a:rPr>
              <a:t>FRAMEWORKS</a:t>
            </a:r>
            <a:endParaRPr lang="zh-CN" altLang="en-US" sz="1900" b="1">
              <a:solidFill>
                <a:srgbClr val="102C53"/>
              </a:solidFill>
              <a:latin typeface="Segoe UI" panose="020B0502040204020203" pitchFamily="34" charset="0"/>
            </a:endParaRPr>
          </a:p>
        </p:txBody>
      </p: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0650BBA2-1F20-BDE9-3EC8-8E0C6C6AE26D}"/>
              </a:ext>
            </a:extLst>
          </p:cNvPr>
          <p:cNvCxnSpPr/>
          <p:nvPr/>
        </p:nvCxnSpPr>
        <p:spPr>
          <a:xfrm>
            <a:off x="6527800" y="2235200"/>
            <a:ext cx="4648200" cy="0"/>
          </a:xfrm>
          <a:prstGeom prst="line">
            <a:avLst/>
          </a:prstGeom>
          <a:ln w="12700">
            <a:solidFill>
              <a:srgbClr val="CCD5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SetupCard">
            <a:extLst>
              <a:ext uri="{FF2B5EF4-FFF2-40B4-BE49-F238E27FC236}">
                <a16:creationId xmlns:a16="http://schemas.microsoft.com/office/drawing/2014/main" id="{AF6D977F-EEA3-A659-AA4C-F57054717AE7}"/>
              </a:ext>
            </a:extLst>
          </p:cNvPr>
          <p:cNvSpPr/>
          <p:nvPr/>
        </p:nvSpPr>
        <p:spPr>
          <a:xfrm>
            <a:off x="736600" y="3898900"/>
            <a:ext cx="5207000" cy="1993900"/>
          </a:xfrm>
          <a:prstGeom prst="roundRect">
            <a:avLst>
              <a:gd name="adj" fmla="val 7000"/>
            </a:avLst>
          </a:prstGeom>
          <a:solidFill>
            <a:srgbClr val="F7FAFB"/>
          </a:solidFill>
          <a:ln w="12700">
            <a:solidFill>
              <a:srgbClr val="CCD5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SetupText">
            <a:extLst>
              <a:ext uri="{FF2B5EF4-FFF2-40B4-BE49-F238E27FC236}">
                <a16:creationId xmlns:a16="http://schemas.microsoft.com/office/drawing/2014/main" id="{1ECACF29-C0DF-6AB9-D3C4-A3641B350E0A}"/>
              </a:ext>
            </a:extLst>
          </p:cNvPr>
          <p:cNvSpPr txBox="1"/>
          <p:nvPr/>
        </p:nvSpPr>
        <p:spPr>
          <a:xfrm>
            <a:off x="1016000" y="4102100"/>
            <a:ext cx="4648200" cy="2923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900" b="1">
                <a:solidFill>
                  <a:srgbClr val="102C53"/>
                </a:solidFill>
                <a:latin typeface="Segoe UI" panose="020B0502040204020203" pitchFamily="34" charset="0"/>
              </a:rPr>
              <a:t>DATASETS</a:t>
            </a:r>
            <a:endParaRPr lang="zh-CN" altLang="en-US" sz="1900" b="1">
              <a:solidFill>
                <a:srgbClr val="102C53"/>
              </a:solidFill>
              <a:latin typeface="Segoe UI" panose="020B0502040204020203" pitchFamily="34" charset="0"/>
            </a:endParaRPr>
          </a:p>
        </p:txBody>
      </p: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064A2BDC-3E41-3947-3C89-79160C72EE10}"/>
              </a:ext>
            </a:extLst>
          </p:cNvPr>
          <p:cNvCxnSpPr/>
          <p:nvPr/>
        </p:nvCxnSpPr>
        <p:spPr>
          <a:xfrm>
            <a:off x="1016000" y="4508500"/>
            <a:ext cx="4648200" cy="0"/>
          </a:xfrm>
          <a:prstGeom prst="line">
            <a:avLst/>
          </a:prstGeom>
          <a:ln w="12700">
            <a:solidFill>
              <a:srgbClr val="CCD5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SetupCard">
            <a:extLst>
              <a:ext uri="{FF2B5EF4-FFF2-40B4-BE49-F238E27FC236}">
                <a16:creationId xmlns:a16="http://schemas.microsoft.com/office/drawing/2014/main" id="{55D7F497-3E8F-7C99-FB02-680FCC986FEB}"/>
              </a:ext>
            </a:extLst>
          </p:cNvPr>
          <p:cNvSpPr/>
          <p:nvPr/>
        </p:nvSpPr>
        <p:spPr>
          <a:xfrm>
            <a:off x="6248400" y="3898900"/>
            <a:ext cx="5207000" cy="1993900"/>
          </a:xfrm>
          <a:prstGeom prst="roundRect">
            <a:avLst>
              <a:gd name="adj" fmla="val 7000"/>
            </a:avLst>
          </a:prstGeom>
          <a:solidFill>
            <a:srgbClr val="F7FAFB"/>
          </a:solidFill>
          <a:ln w="12700">
            <a:solidFill>
              <a:srgbClr val="CCD5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SetupText">
            <a:extLst>
              <a:ext uri="{FF2B5EF4-FFF2-40B4-BE49-F238E27FC236}">
                <a16:creationId xmlns:a16="http://schemas.microsoft.com/office/drawing/2014/main" id="{090B62B0-9EE0-034E-F477-07EAE574FF16}"/>
              </a:ext>
            </a:extLst>
          </p:cNvPr>
          <p:cNvSpPr txBox="1"/>
          <p:nvPr/>
        </p:nvSpPr>
        <p:spPr>
          <a:xfrm>
            <a:off x="6527800" y="4102100"/>
            <a:ext cx="4648200" cy="2923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sz="1900" b="1">
                <a:solidFill>
                  <a:srgbClr val="102C53"/>
                </a:solidFill>
                <a:latin typeface="Segoe UI" panose="020B0502040204020203" pitchFamily="34" charset="0"/>
              </a:rPr>
              <a:t>METRICS</a:t>
            </a:r>
            <a:endParaRPr lang="zh-CN" altLang="en-US" sz="1900" b="1">
              <a:solidFill>
                <a:srgbClr val="102C53"/>
              </a:solidFill>
              <a:latin typeface="Segoe UI" panose="020B0502040204020203" pitchFamily="34" charset="0"/>
            </a:endParaRPr>
          </a:p>
        </p:txBody>
      </p: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B240C4DF-2CE6-C1E3-F4D6-52E019749CB3}"/>
              </a:ext>
            </a:extLst>
          </p:cNvPr>
          <p:cNvCxnSpPr/>
          <p:nvPr/>
        </p:nvCxnSpPr>
        <p:spPr>
          <a:xfrm>
            <a:off x="6527800" y="4508500"/>
            <a:ext cx="4648200" cy="0"/>
          </a:xfrm>
          <a:prstGeom prst="line">
            <a:avLst/>
          </a:prstGeom>
          <a:ln w="12700">
            <a:solidFill>
              <a:srgbClr val="CCD5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SetupText">
            <a:extLst>
              <a:ext uri="{FF2B5EF4-FFF2-40B4-BE49-F238E27FC236}">
                <a16:creationId xmlns:a16="http://schemas.microsoft.com/office/drawing/2014/main" id="{5DB2BDF0-995F-C19A-5837-A59F53A956A1}"/>
              </a:ext>
            </a:extLst>
          </p:cNvPr>
          <p:cNvSpPr txBox="1"/>
          <p:nvPr/>
        </p:nvSpPr>
        <p:spPr>
          <a:xfrm>
            <a:off x="1016000" y="2374900"/>
            <a:ext cx="4648200" cy="101566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defRPr sz="2100">
                <a:latin typeface="Segoe UI"/>
              </a:defRPr>
            </a:pPr>
            <a:r>
              <a:rPr lang="en-US" altLang="zh-CN" sz="2100" dirty="0">
                <a:solidFill>
                  <a:srgbClr val="102C53"/>
                </a:solidFill>
                <a:latin typeface="Segoe UI" panose="020B0502040204020203" pitchFamily="34" charset="0"/>
              </a:rPr>
              <a:t>AMD Ryzen 9 9950X</a:t>
            </a:r>
          </a:p>
          <a:p>
            <a:pPr>
              <a:defRPr sz="2100">
                <a:latin typeface="Segoe UI"/>
              </a:defRPr>
            </a:pPr>
            <a:r>
              <a:rPr lang="en-US" altLang="zh-CN" sz="2100" dirty="0">
                <a:solidFill>
                  <a:srgbClr val="102C53"/>
                </a:solidFill>
                <a:latin typeface="Segoe UI" panose="020B0502040204020203" pitchFamily="34" charset="0"/>
              </a:rPr>
              <a:t>16 cores, 32 threads</a:t>
            </a:r>
          </a:p>
          <a:p>
            <a:pPr>
              <a:defRPr sz="2100">
                <a:latin typeface="Segoe UI"/>
              </a:defRPr>
            </a:pPr>
            <a:r>
              <a:rPr lang="en-US" altLang="zh-CN" sz="2100" dirty="0">
                <a:solidFill>
                  <a:srgbClr val="102C53"/>
                </a:solidFill>
                <a:latin typeface="Segoe UI" panose="020B0502040204020203" pitchFamily="34" charset="0"/>
              </a:rPr>
              <a:t>64 GB RAM</a:t>
            </a:r>
            <a:endParaRPr lang="zh-CN" altLang="en-US" sz="2100" dirty="0">
              <a:solidFill>
                <a:srgbClr val="102C53"/>
              </a:solidFill>
              <a:latin typeface="Segoe UI" panose="020B0502040204020203" pitchFamily="34" charset="0"/>
            </a:endParaRPr>
          </a:p>
        </p:txBody>
      </p:sp>
      <p:sp>
        <p:nvSpPr>
          <p:cNvPr id="34" name="SetupText">
            <a:extLst>
              <a:ext uri="{FF2B5EF4-FFF2-40B4-BE49-F238E27FC236}">
                <a16:creationId xmlns:a16="http://schemas.microsoft.com/office/drawing/2014/main" id="{83EA6B86-9D8F-6D98-E614-62A7D53B31F3}"/>
              </a:ext>
            </a:extLst>
          </p:cNvPr>
          <p:cNvSpPr txBox="1"/>
          <p:nvPr/>
        </p:nvSpPr>
        <p:spPr>
          <a:xfrm>
            <a:off x="6527800" y="2425700"/>
            <a:ext cx="4724400" cy="64633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defRPr sz="2100">
                <a:latin typeface="Segoe UI"/>
              </a:defRPr>
            </a:pPr>
            <a:r>
              <a:rPr lang="en-US" altLang="zh-CN" sz="2100" b="0" dirty="0">
                <a:solidFill>
                  <a:srgbClr val="102C53"/>
                </a:solidFill>
                <a:latin typeface="Segoe UI" panose="020B0502040204020203" pitchFamily="34" charset="0"/>
              </a:rPr>
              <a:t>ARF, SRP:  MOA, Renoir</a:t>
            </a:r>
          </a:p>
          <a:p>
            <a:pPr>
              <a:defRPr sz="2100">
                <a:latin typeface="Segoe UI"/>
              </a:defRPr>
            </a:pPr>
            <a:r>
              <a:rPr lang="en-US" altLang="zh-CN" sz="2100" b="0" dirty="0">
                <a:solidFill>
                  <a:srgbClr val="102C53"/>
                </a:solidFill>
                <a:latin typeface="Segoe UI" panose="020B0502040204020203" pitchFamily="34" charset="0"/>
              </a:rPr>
              <a:t>AMF:  </a:t>
            </a:r>
            <a:r>
              <a:rPr lang="en-US" altLang="zh-CN" sz="2100" b="1" dirty="0" err="1">
                <a:solidFill>
                  <a:srgbClr val="102C53"/>
                </a:solidFill>
                <a:latin typeface="Segoe UI" panose="020B0502040204020203" pitchFamily="34" charset="0"/>
              </a:rPr>
              <a:t>Onelearn</a:t>
            </a:r>
            <a:r>
              <a:rPr lang="en-US" altLang="zh-CN" sz="2100" b="0" dirty="0">
                <a:solidFill>
                  <a:srgbClr val="102C53"/>
                </a:solidFill>
                <a:latin typeface="Segoe UI" panose="020B0502040204020203" pitchFamily="34" charset="0"/>
              </a:rPr>
              <a:t>, River, </a:t>
            </a:r>
            <a:r>
              <a:rPr lang="en-US" altLang="zh-CN" sz="2100" b="1" dirty="0">
                <a:solidFill>
                  <a:srgbClr val="102C53"/>
                </a:solidFill>
                <a:latin typeface="Segoe UI" panose="020B0502040204020203" pitchFamily="34" charset="0"/>
              </a:rPr>
              <a:t>Renoir</a:t>
            </a:r>
            <a:endParaRPr lang="zh-CN" altLang="en-US" sz="2100" b="1" dirty="0">
              <a:solidFill>
                <a:srgbClr val="102C53"/>
              </a:solidFill>
              <a:latin typeface="Segoe UI" panose="020B0502040204020203" pitchFamily="34" charset="0"/>
            </a:endParaRPr>
          </a:p>
        </p:txBody>
      </p:sp>
      <p:sp>
        <p:nvSpPr>
          <p:cNvPr id="35" name="SetupText">
            <a:extLst>
              <a:ext uri="{FF2B5EF4-FFF2-40B4-BE49-F238E27FC236}">
                <a16:creationId xmlns:a16="http://schemas.microsoft.com/office/drawing/2014/main" id="{8423109F-AC2A-D58E-BA57-E00C9EFF4DE7}"/>
              </a:ext>
            </a:extLst>
          </p:cNvPr>
          <p:cNvSpPr txBox="1"/>
          <p:nvPr/>
        </p:nvSpPr>
        <p:spPr>
          <a:xfrm>
            <a:off x="1016000" y="4648200"/>
            <a:ext cx="4724400" cy="96949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defRPr sz="2100">
                <a:latin typeface="Segoe UI"/>
              </a:defRPr>
            </a:pPr>
            <a:r>
              <a:rPr lang="en-US" altLang="zh-CN" sz="2100">
                <a:solidFill>
                  <a:srgbClr val="102C53"/>
                </a:solidFill>
                <a:latin typeface="Segoe UI" panose="020B0502040204020203" pitchFamily="34" charset="0"/>
              </a:rPr>
              <a:t>7 real-world (3k–5M instances)</a:t>
            </a:r>
          </a:p>
          <a:p>
            <a:pPr>
              <a:defRPr sz="2100">
                <a:latin typeface="Segoe UI"/>
              </a:defRPr>
            </a:pPr>
            <a:r>
              <a:rPr lang="en-US" altLang="zh-CN" sz="2100">
                <a:solidFill>
                  <a:srgbClr val="102C53"/>
                </a:solidFill>
                <a:latin typeface="Segoe UI" panose="020B0502040204020203" pitchFamily="34" charset="0"/>
              </a:rPr>
              <a:t>6 synthetic (1M instances)</a:t>
            </a:r>
          </a:p>
          <a:p>
            <a:pPr>
              <a:defRPr sz="2100">
                <a:latin typeface="Segoe UI"/>
              </a:defRPr>
            </a:pPr>
            <a:r>
              <a:rPr lang="en-US" altLang="zh-CN" sz="2100">
                <a:solidFill>
                  <a:srgbClr val="102C53"/>
                </a:solidFill>
                <a:latin typeface="Segoe UI" panose="020B0502040204020203" pitchFamily="34" charset="0"/>
              </a:rPr>
              <a:t>7–40k original features</a:t>
            </a:r>
            <a:endParaRPr lang="zh-CN" altLang="en-US" sz="2100">
              <a:solidFill>
                <a:srgbClr val="102C53"/>
              </a:solidFill>
              <a:latin typeface="Segoe UI" panose="020B0502040204020203" pitchFamily="34" charset="0"/>
            </a:endParaRPr>
          </a:p>
        </p:txBody>
      </p:sp>
      <p:sp>
        <p:nvSpPr>
          <p:cNvPr id="36" name="SetupText">
            <a:extLst>
              <a:ext uri="{FF2B5EF4-FFF2-40B4-BE49-F238E27FC236}">
                <a16:creationId xmlns:a16="http://schemas.microsoft.com/office/drawing/2014/main" id="{7DB0E6B2-8300-750A-AC00-191CEB666BAB}"/>
              </a:ext>
            </a:extLst>
          </p:cNvPr>
          <p:cNvSpPr txBox="1"/>
          <p:nvPr/>
        </p:nvSpPr>
        <p:spPr>
          <a:xfrm>
            <a:off x="6527800" y="4648200"/>
            <a:ext cx="4648200" cy="1015663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>
              <a:defRPr sz="2100">
                <a:latin typeface="Segoe UI"/>
              </a:defRPr>
            </a:pPr>
            <a:r>
              <a:rPr lang="en-US" altLang="zh-CN" sz="2100">
                <a:solidFill>
                  <a:srgbClr val="102C53"/>
                </a:solidFill>
                <a:latin typeface="Segoe UI" panose="020B0502040204020203" pitchFamily="34" charset="0"/>
              </a:rPr>
              <a:t>Accuracy</a:t>
            </a:r>
          </a:p>
          <a:p>
            <a:pPr>
              <a:defRPr sz="2100">
                <a:latin typeface="Segoe UI"/>
              </a:defRPr>
            </a:pPr>
            <a:r>
              <a:rPr lang="en-US" altLang="zh-CN" sz="2100">
                <a:solidFill>
                  <a:srgbClr val="102C53"/>
                </a:solidFill>
                <a:latin typeface="Segoe UI" panose="020B0502040204020203" pitchFamily="34" charset="0"/>
              </a:rPr>
              <a:t>Speedup</a:t>
            </a:r>
          </a:p>
          <a:p>
            <a:pPr>
              <a:defRPr sz="2100">
                <a:latin typeface="Segoe UI"/>
              </a:defRPr>
            </a:pPr>
            <a:r>
              <a:rPr lang="en-US" altLang="zh-CN" sz="2100">
                <a:solidFill>
                  <a:srgbClr val="102C53"/>
                </a:solidFill>
                <a:latin typeface="Segoe UI" panose="020B0502040204020203" pitchFamily="34" charset="0"/>
              </a:rPr>
              <a:t>Scalability</a:t>
            </a:r>
            <a:endParaRPr lang="zh-CN" altLang="en-US" sz="2100">
              <a:solidFill>
                <a:srgbClr val="102C53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01585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DC64A9-1D4F-BF39-9FA1-6C4CEB9BA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Accuracy: AMF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3C882B8-39D0-4FA3-79DE-DC2C72C06D8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altLang="zh-CN" sz="2300" b="1" dirty="0"/>
              <a:t>Absolute difference</a:t>
            </a:r>
          </a:p>
          <a:p>
            <a:pPr lvl="1"/>
            <a:r>
              <a:rPr lang="en-US" altLang="zh-CN" sz="2100" dirty="0"/>
              <a:t>Gap &lt;1 pp on 10/13 datasets</a:t>
            </a:r>
          </a:p>
          <a:p>
            <a:pPr lvl="1"/>
            <a:r>
              <a:rPr lang="en-US" altLang="zh-CN" sz="2100" b="1" dirty="0"/>
              <a:t>Max: 3.66 pp</a:t>
            </a:r>
          </a:p>
          <a:p>
            <a:pPr lvl="1"/>
            <a:r>
              <a:rPr lang="en-US" altLang="zh-CN" sz="2100" b="1" dirty="0"/>
              <a:t>Min: 0.00 pp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1820E1B-5B92-E551-F898-3060CD907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 sz="1100" b="0">
                <a:solidFill>
                  <a:srgbClr val="FFFFFF"/>
                </a:solidFill>
                <a:latin typeface="Segoe UI"/>
              </a:rPr>
              <a:t>October 21, 2026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994CB5-F422-153B-F543-F0996FF64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100" b="0">
                <a:solidFill>
                  <a:srgbClr val="FFFFFF"/>
                </a:solidFill>
                <a:latin typeface="Segoe UI"/>
              </a:rPr>
              <a:t>Zhiqiang Shi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209879E-1A36-FE47-B4BF-F83823CA4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128CB-9318-4443-89F2-2A623EAF7AEA}" type="slidenum">
              <a:rPr lang="it-IT" smtClean="0"/>
              <a:t>10</a:t>
            </a:fld>
            <a:endParaRPr lang="it-IT"/>
          </a:p>
        </p:txBody>
      </p:sp>
      <p:graphicFrame>
        <p:nvGraphicFramePr>
          <p:cNvPr id="3" name="Chart 1">
            <a:extLst>
              <a:ext uri="{FF2B5EF4-FFF2-40B4-BE49-F238E27FC236}">
                <a16:creationId xmlns:a16="http://schemas.microsoft.com/office/drawing/2014/main" id="{32CA090C-E1C9-65EA-06AE-1CBEC436157E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825625"/>
          <a:ext cx="5181600" cy="43513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5304426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5B9E7B-4B02-8693-6FDE-EE6F24FB85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Single-thread Speedup: AMF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5FEFFB0-6505-304D-EFEE-696D09C55BC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altLang="zh-CN" sz="2300" b="1" dirty="0"/>
              <a:t>Max speedup: 18.24×</a:t>
            </a:r>
          </a:p>
          <a:p>
            <a:r>
              <a:rPr lang="en-US" altLang="zh-CN" sz="2300" b="1" dirty="0"/>
              <a:t>Min speedup: 0.87×</a:t>
            </a:r>
            <a:endParaRPr lang="zh-CN" altLang="en-US" sz="2300" b="1" dirty="0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800B860-C301-DF2E-3D19-20BB03113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 sz="1100" b="0">
                <a:solidFill>
                  <a:srgbClr val="FFFFFF"/>
                </a:solidFill>
                <a:latin typeface="Segoe UI"/>
              </a:rPr>
              <a:t>October 21, 2026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1893354-5251-82C3-B125-FD9802595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100" b="0">
                <a:solidFill>
                  <a:srgbClr val="FFFFFF"/>
                </a:solidFill>
                <a:latin typeface="Segoe UI"/>
              </a:rPr>
              <a:t>Zhiqiang Shi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BC35C06-E23C-09CB-51BD-74D3FF625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128CB-9318-4443-89F2-2A623EAF7AEA}" type="slidenum">
              <a:rPr lang="it-IT" smtClean="0"/>
              <a:t>11</a:t>
            </a:fld>
            <a:endParaRPr lang="it-IT"/>
          </a:p>
        </p:txBody>
      </p:sp>
      <p:graphicFrame>
        <p:nvGraphicFramePr>
          <p:cNvPr id="9" name="Chart 3">
            <a:extLst>
              <a:ext uri="{FF2B5EF4-FFF2-40B4-BE49-F238E27FC236}">
                <a16:creationId xmlns:a16="http://schemas.microsoft.com/office/drawing/2014/main" id="{B1939930-7445-A85E-0569-ECBF42D44A79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200766826"/>
              </p:ext>
            </p:extLst>
          </p:nvPr>
        </p:nvGraphicFramePr>
        <p:xfrm>
          <a:off x="838200" y="1825625"/>
          <a:ext cx="5181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3" name="Chart 9">
            <a:extLst>
              <a:ext uri="{FF2B5EF4-FFF2-40B4-BE49-F238E27FC236}">
                <a16:creationId xmlns:a16="http://schemas.microsoft.com/office/drawing/2014/main" id="{3299CF6C-C755-904A-ED55-1F4D1CBD2C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9057509"/>
              </p:ext>
            </p:extLst>
          </p:nvPr>
        </p:nvGraphicFramePr>
        <p:xfrm>
          <a:off x="6273800" y="3429000"/>
          <a:ext cx="5181600" cy="251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0507912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F5499E-8870-A053-E903-65C1B7A95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Scalability: AMF</a:t>
            </a:r>
            <a:endParaRPr lang="zh-CN" altLang="en-US" dirty="0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AB67FA7-DF30-8189-1C4B-1FD85CDF8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 sz="1100" b="0">
                <a:solidFill>
                  <a:srgbClr val="FFFFFF"/>
                </a:solidFill>
                <a:latin typeface="Segoe UI"/>
              </a:rPr>
              <a:t>October 21, 2026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8F3A6BF-4530-348F-0E1F-6B9A4654C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100" b="0">
                <a:solidFill>
                  <a:srgbClr val="FFFFFF"/>
                </a:solidFill>
                <a:latin typeface="Segoe UI"/>
              </a:rPr>
              <a:t>Zhiqiang Shi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95528" y="1826056"/>
          <a:ext cx="5440680" cy="38706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1826056"/>
            <a:ext cx="5257800" cy="37340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237744" indent="-192024">
              <a:lnSpc>
                <a:spcPct val="105000"/>
              </a:lnSpc>
              <a:spcAft>
                <a:spcPts val="1400"/>
              </a:spcAft>
              <a:buChar char="•"/>
              <a:defRPr sz="2300" b="1">
                <a:latin typeface="Segoe UI"/>
              </a:defRPr>
            </a:pPr>
            <a:r>
              <a:rPr sz="2300" b="1" dirty="0">
                <a:solidFill>
                  <a:srgbClr val="000000"/>
                </a:solidFill>
                <a:latin typeface="Segoe UI"/>
              </a:rPr>
              <a:t>RBF(m): scales to 17.66×</a:t>
            </a:r>
          </a:p>
          <a:p>
            <a:pPr marL="237744" indent="-192024">
              <a:lnSpc>
                <a:spcPct val="105000"/>
              </a:lnSpc>
              <a:spcAft>
                <a:spcPts val="2800"/>
              </a:spcAft>
              <a:buChar char="•"/>
              <a:defRPr sz="2300" b="1">
                <a:latin typeface="Segoe UI"/>
              </a:defRPr>
            </a:pPr>
            <a:r>
              <a:rPr sz="2300" b="1" dirty="0">
                <a:solidFill>
                  <a:srgbClr val="000000"/>
                </a:solidFill>
                <a:latin typeface="Segoe UI"/>
              </a:rPr>
              <a:t>Spam Corpus: plateaus near 3×</a:t>
            </a:r>
          </a:p>
          <a:p>
            <a:pPr marL="237744" indent="-192024">
              <a:lnSpc>
                <a:spcPct val="105000"/>
              </a:lnSpc>
              <a:spcAft>
                <a:spcPts val="1200"/>
              </a:spcAft>
              <a:buChar char="•"/>
              <a:defRPr sz="2300" b="1">
                <a:latin typeface="Segoe UI"/>
              </a:defRPr>
            </a:pPr>
            <a:r>
              <a:rPr sz="2300" b="1" dirty="0">
                <a:solidFill>
                  <a:srgbClr val="000000"/>
                </a:solidFill>
                <a:latin typeface="Segoe UI"/>
              </a:rPr>
              <a:t>Why below ideal scaling?</a:t>
            </a:r>
          </a:p>
          <a:p>
            <a:pPr marL="594360" lvl="1" indent="-192024">
              <a:lnSpc>
                <a:spcPct val="105000"/>
              </a:lnSpc>
              <a:spcAft>
                <a:spcPts val="1200"/>
              </a:spcAft>
              <a:buChar char="•"/>
            </a:pPr>
            <a:r>
              <a:rPr sz="1900" b="0" dirty="0">
                <a:solidFill>
                  <a:srgbClr val="000000"/>
                </a:solidFill>
                <a:latin typeface="Segoe UI"/>
              </a:rPr>
              <a:t>20 trees: limited tree-level parallelism</a:t>
            </a:r>
          </a:p>
          <a:p>
            <a:pPr marL="594360" lvl="1" indent="-192024">
              <a:lnSpc>
                <a:spcPct val="105000"/>
              </a:lnSpc>
              <a:spcAft>
                <a:spcPts val="1200"/>
              </a:spcAft>
              <a:buChar char="•"/>
            </a:pPr>
            <a:r>
              <a:rPr sz="1900" b="0" dirty="0">
                <a:solidFill>
                  <a:srgbClr val="000000"/>
                </a:solidFill>
                <a:latin typeface="Segoe UI"/>
              </a:rPr>
              <a:t>SMT: 32 logical threads share 16 physical cores</a:t>
            </a:r>
          </a:p>
          <a:p>
            <a:pPr marL="594360" lvl="1" indent="-192024">
              <a:lnSpc>
                <a:spcPct val="105000"/>
              </a:lnSpc>
              <a:spcAft>
                <a:spcPts val="1200"/>
              </a:spcAft>
              <a:buChar char="•"/>
            </a:pPr>
            <a:r>
              <a:rPr sz="1900" b="0" dirty="0">
                <a:solidFill>
                  <a:srgbClr val="000000"/>
                </a:solidFill>
                <a:latin typeface="Segoe UI"/>
              </a:rPr>
              <a:t>Amdahl’s law: serial work limits speedup</a:t>
            </a:r>
          </a:p>
          <a:p>
            <a:pPr marL="594360" lvl="1" indent="-192024">
              <a:lnSpc>
                <a:spcPct val="105000"/>
              </a:lnSpc>
              <a:spcAft>
                <a:spcPts val="0"/>
              </a:spcAft>
              <a:buChar char="•"/>
            </a:pPr>
            <a:r>
              <a:rPr sz="1900" b="0" dirty="0">
                <a:solidFill>
                  <a:srgbClr val="000000"/>
                </a:solidFill>
                <a:latin typeface="Segoe UI"/>
              </a:rPr>
              <a:t>High dimensionality</a:t>
            </a:r>
          </a:p>
        </p:txBody>
      </p:sp>
      <p:sp>
        <p:nvSpPr>
          <p:cNvPr id="12" name="灯片编号占位符 6">
            <a:extLst>
              <a:ext uri="{FF2B5EF4-FFF2-40B4-BE49-F238E27FC236}">
                <a16:creationId xmlns:a16="http://schemas.microsoft.com/office/drawing/2014/main" id="{2BC35C06-E23C-09CB-51BD-74D3FF625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128CB-9318-4443-89F2-2A623EAF7AEA}" type="slidenum">
              <a:rPr lang="it-IT" smtClean="0"/>
              <a:t>12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34009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A9B4C9-E0CB-DE4B-8BD0-C1CD2D058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Distributed Execution</a:t>
            </a:r>
            <a:endParaRPr lang="zh-CN" altLang="en-US" dirty="0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47A7162-240E-F092-3B5E-6993EC2B65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 sz="1100" b="0">
                <a:solidFill>
                  <a:srgbClr val="FFFFFF"/>
                </a:solidFill>
                <a:latin typeface="Segoe UI"/>
              </a:rPr>
              <a:t>October 21, 2026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EDC04BB-4F04-EEEA-83E8-9E833E42E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100" b="0">
                <a:solidFill>
                  <a:srgbClr val="FFFFFF"/>
                </a:solidFill>
                <a:latin typeface="Segoe UI"/>
              </a:rPr>
              <a:t>Zhiqiang Shi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9FE2333-5E66-EA98-2D53-C7B047A88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128CB-9318-4443-89F2-2A623EAF7AEA}" type="slidenum">
              <a:rPr lang="it-IT" smtClean="0"/>
              <a:t>13</a:t>
            </a:fld>
            <a:endParaRPr lang="it-IT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5FEFFB0-6505-304D-EFEE-696D09C55B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6260"/>
            <a:ext cx="5181600" cy="1422400"/>
          </a:xfrm>
        </p:spPr>
        <p:txBody>
          <a:bodyPr>
            <a:normAutofit/>
          </a:bodyPr>
          <a:lstStyle/>
          <a:p>
            <a:pPr>
              <a:defRPr sz="2300" b="1">
                <a:latin typeface="Segoe UI"/>
              </a:defRPr>
            </a:pPr>
            <a:r>
              <a:rPr lang="en-US" altLang="zh-CN" sz="2300" b="1" dirty="0">
                <a:latin typeface="Segoe UI"/>
              </a:rPr>
              <a:t>Max efficiency: 103.43%</a:t>
            </a:r>
          </a:p>
          <a:p>
            <a:pPr>
              <a:defRPr sz="2300" b="1">
                <a:latin typeface="Segoe UI"/>
              </a:defRPr>
            </a:pPr>
            <a:r>
              <a:rPr lang="en-US" altLang="zh-CN" sz="2300" b="1" dirty="0">
                <a:latin typeface="Segoe UI"/>
              </a:rPr>
              <a:t>Min efficiency: 72.17%</a:t>
            </a:r>
            <a:endParaRPr lang="zh-CN" altLang="en-US" sz="2300" b="1" dirty="0">
              <a:latin typeface="Segoe UI"/>
            </a:endParaRP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838200" y="1826260"/>
          <a:ext cx="5181600" cy="4254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6" name="Chart 11">
            <a:extLst>
              <a:ext uri="{FF2B5EF4-FFF2-40B4-BE49-F238E27FC236}">
                <a16:creationId xmlns:a16="http://schemas.microsoft.com/office/drawing/2014/main" id="{578A2DA7-F12F-0459-EB2D-89D7B6B31990}"/>
              </a:ext>
            </a:extLst>
          </p:cNvPr>
          <p:cNvGraphicFramePr>
            <a:graphicFrameLocks noGrp="1"/>
          </p:cNvGraphicFramePr>
          <p:nvPr/>
        </p:nvGraphicFramePr>
        <p:xfrm>
          <a:off x="6273800" y="3429000"/>
          <a:ext cx="5181600" cy="251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1814073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3DB744-79A3-886F-CD2E-6F92BB3FF1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/>
            </a:pPr>
            <a:r>
              <a:rPr lang="en-US" altLang="zh-CN" sz="4400" dirty="0"/>
              <a:t>Effect of Ensemble Size</a:t>
            </a:r>
            <a:endParaRPr lang="zh-CN" altLang="en-US" sz="4400" dirty="0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988F211-2816-8AD8-0A7C-0F25E8457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 sz="1100" b="0">
                <a:solidFill>
                  <a:srgbClr val="FFFFFF"/>
                </a:solidFill>
                <a:latin typeface="Segoe UI"/>
              </a:rPr>
              <a:t>October 21, 2026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EE2857A-B1D1-04F9-3E5A-D013FD8B6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100" b="0">
                <a:solidFill>
                  <a:srgbClr val="FFFFFF"/>
                </a:solidFill>
                <a:latin typeface="Segoe UI"/>
              </a:rPr>
              <a:t>Zhiqiang Shi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D6FA4C-AFF0-22B2-09E4-6CF8FFC6C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128CB-9318-4443-89F2-2A623EAF7AEA}" type="slidenum">
              <a:rPr lang="it-IT" smtClean="0"/>
              <a:t>14</a:t>
            </a:fld>
            <a:endParaRPr lang="it-IT"/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87400" y="1206500"/>
          <a:ext cx="5181600" cy="22987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87400" y="3644900"/>
          <a:ext cx="5181600" cy="22987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286500" y="1600200"/>
            <a:ext cx="5194300" cy="812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300" b="1" dirty="0">
                <a:solidFill>
                  <a:srgbClr val="000000"/>
                </a:solidFill>
                <a:latin typeface="Segoe UI"/>
              </a:rPr>
              <a:t>• Accuracy gains depend on the dataset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200" y="2540000"/>
            <a:ext cx="4953000" cy="825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0" dirty="0" err="1">
                <a:solidFill>
                  <a:srgbClr val="000000"/>
                </a:solidFill>
                <a:latin typeface="Segoe UI"/>
              </a:rPr>
              <a:t>covtypeNorm</a:t>
            </a:r>
            <a:r>
              <a:rPr sz="2100" b="0" dirty="0">
                <a:solidFill>
                  <a:srgbClr val="000000"/>
                </a:solidFill>
                <a:latin typeface="Segoe UI"/>
              </a:rPr>
              <a:t>: +0.80 pp at 80 trees</a:t>
            </a:r>
          </a:p>
          <a:p>
            <a:r>
              <a:rPr sz="2100" b="0" dirty="0">
                <a:solidFill>
                  <a:srgbClr val="000000"/>
                </a:solidFill>
                <a:latin typeface="Segoe UI"/>
              </a:rPr>
              <a:t>RBF(f): +7.40 pp at 80 trees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86500" y="3517900"/>
            <a:ext cx="5194300" cy="76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300" b="1">
                <a:solidFill>
                  <a:srgbClr val="000000"/>
                </a:solidFill>
                <a:latin typeface="Segoe UI"/>
              </a:rPr>
              <a:t>• More trees reduce throughput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3200" y="4241800"/>
            <a:ext cx="4953000" cy="812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0">
                <a:solidFill>
                  <a:srgbClr val="000000"/>
                </a:solidFill>
                <a:latin typeface="Segoe UI"/>
              </a:rPr>
              <a:t>80 trees retain only 16–18%</a:t>
            </a:r>
          </a:p>
          <a:p>
            <a:r>
              <a:rPr sz="2100" b="0">
                <a:solidFill>
                  <a:srgbClr val="000000"/>
                </a:solidFill>
                <a:latin typeface="Segoe UI"/>
              </a:rPr>
              <a:t>of the 10-tree throughput.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6500" y="5372100"/>
            <a:ext cx="5194300" cy="8255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300" b="1" dirty="0">
                <a:solidFill>
                  <a:srgbClr val="000000"/>
                </a:solidFill>
                <a:latin typeface="Segoe UI"/>
              </a:rPr>
              <a:t>• 15 trees retain &gt;90% of baseline</a:t>
            </a:r>
          </a:p>
          <a:p>
            <a:r>
              <a:rPr sz="2300" b="1" dirty="0">
                <a:solidFill>
                  <a:srgbClr val="000000"/>
                </a:solidFill>
                <a:latin typeface="Segoe UI"/>
              </a:rPr>
              <a:t>throughput on both datasets</a:t>
            </a:r>
          </a:p>
        </p:txBody>
      </p:sp>
    </p:spTree>
    <p:extLst>
      <p:ext uri="{BB962C8B-B14F-4D97-AF65-F5344CB8AC3E}">
        <p14:creationId xmlns:p14="http://schemas.microsoft.com/office/powerpoint/2010/main" val="3491720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8" grpId="0">
        <p:bldAsOne/>
      </p:bldGraphic>
      <p:bldGraphic spid="10" grpId="0">
        <p:bldAsOne/>
      </p:bldGraphic>
      <p:bldP spid="12" grpId="0"/>
      <p:bldP spid="13" grpId="0"/>
      <p:bldP spid="14" grpId="0"/>
      <p:bldP spid="15" grpId="0"/>
      <p:bldP spid="1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AE4DFC-DF39-AF57-9828-2F1898EA5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Future Work</a:t>
            </a:r>
            <a:endParaRPr lang="zh-CN" altLang="en-US" dirty="0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0EA1BCF-7FBA-2430-C421-6C09B1EDA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 sz="1100" b="0">
                <a:solidFill>
                  <a:srgbClr val="FFFFFF"/>
                </a:solidFill>
                <a:latin typeface="Segoe UI"/>
              </a:rPr>
              <a:t>October 21, 2026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6C5BC34-F3A2-A1EB-8FFB-FB55CE7C9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100" b="0">
                <a:solidFill>
                  <a:srgbClr val="FFFFFF"/>
                </a:solidFill>
                <a:latin typeface="Segoe UI"/>
              </a:rPr>
              <a:t>Zhiqiang Shi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83551B6-0D79-6B36-2B95-60494AE9D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128CB-9318-4443-89F2-2A623EAF7AEA}" type="slidenum">
              <a:rPr lang="it-IT" smtClean="0"/>
              <a:t>15</a:t>
            </a:fld>
            <a:endParaRPr lang="it-IT"/>
          </a:p>
        </p:txBody>
      </p:sp>
      <p:grpSp>
        <p:nvGrpSpPr>
          <p:cNvPr id="3" name="Per-node bounds — editable illustration"/>
          <p:cNvGrpSpPr/>
          <p:nvPr/>
        </p:nvGrpSpPr>
        <p:grpSpPr>
          <a:xfrm>
            <a:off x="825500" y="1422400"/>
            <a:ext cx="5016500" cy="2209800"/>
            <a:chOff x="825500" y="1422400"/>
            <a:chExt cx="5016500" cy="2209800"/>
          </a:xfrm>
        </p:grpSpPr>
        <p:sp>
          <p:nvSpPr>
            <p:cNvPr id="8" name="Memory panel"/>
            <p:cNvSpPr/>
            <p:nvPr/>
          </p:nvSpPr>
          <p:spPr>
            <a:xfrm>
              <a:off x="825500" y="1422400"/>
              <a:ext cx="5016500" cy="2209800"/>
            </a:xfrm>
            <a:prstGeom prst="roundRect">
              <a:avLst/>
            </a:prstGeom>
            <a:solidFill>
              <a:srgbClr val="F4F7FB"/>
            </a:solidFill>
            <a:ln w="16510">
              <a:solidFill>
                <a:srgbClr val="F4F7F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Node caption"/>
            <p:cNvSpPr txBox="1"/>
            <p:nvPr/>
          </p:nvSpPr>
          <p:spPr>
            <a:xfrm>
              <a:off x="1079500" y="1574800"/>
              <a:ext cx="4508500" cy="29210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sz="1500" b="1">
                  <a:solidFill>
                    <a:srgbClr val="102C53"/>
                  </a:solidFill>
                  <a:latin typeface="Segoe UI"/>
                </a:rPr>
                <a:t>Stored in each node</a:t>
              </a:r>
            </a:p>
          </p:txBody>
        </p:sp>
        <p:sp>
          <p:nvSpPr>
            <p:cNvPr id="10" name="Node data container"/>
            <p:cNvSpPr/>
            <p:nvPr/>
          </p:nvSpPr>
          <p:spPr>
            <a:xfrm>
              <a:off x="1422400" y="1955800"/>
              <a:ext cx="3822700" cy="1358900"/>
            </a:xfrm>
            <a:prstGeom prst="roundRect">
              <a:avLst/>
            </a:prstGeom>
            <a:solidFill>
              <a:srgbClr val="FFFFFF"/>
            </a:solidFill>
            <a:ln w="16510">
              <a:solidFill>
                <a:srgbClr val="B8CDE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Node label"/>
            <p:cNvSpPr txBox="1"/>
            <p:nvPr/>
          </p:nvSpPr>
          <p:spPr>
            <a:xfrm>
              <a:off x="1574800" y="2451100"/>
              <a:ext cx="723900" cy="29210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sz="1500" b="1">
                  <a:solidFill>
                    <a:srgbClr val="285F9B"/>
                  </a:solidFill>
                  <a:latin typeface="Segoe UI"/>
                </a:rPr>
                <a:t>Node</a:t>
              </a:r>
            </a:p>
          </p:txBody>
        </p:sp>
        <p:sp>
          <p:nvSpPr>
            <p:cNvPr id="12" name="Bound field 0 0"/>
            <p:cNvSpPr/>
            <p:nvPr/>
          </p:nvSpPr>
          <p:spPr>
            <a:xfrm>
              <a:off x="2463800" y="2044700"/>
              <a:ext cx="1206500" cy="254000"/>
            </a:xfrm>
            <a:prstGeom prst="roundRect">
              <a:avLst/>
            </a:prstGeom>
            <a:solidFill>
              <a:srgbClr val="DCE8F5"/>
            </a:solidFill>
            <a:ln w="16510">
              <a:solidFill>
                <a:srgbClr val="DCE8F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Bound label 0 0"/>
            <p:cNvSpPr txBox="1"/>
            <p:nvPr/>
          </p:nvSpPr>
          <p:spPr>
            <a:xfrm>
              <a:off x="2463800" y="2044700"/>
              <a:ext cx="1206500" cy="26670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sz="1300" b="0">
                  <a:solidFill>
                    <a:srgbClr val="102C53"/>
                  </a:solidFill>
                  <a:latin typeface="Segoe UI"/>
                </a:rPr>
                <a:t>Min₁</a:t>
              </a:r>
            </a:p>
          </p:txBody>
        </p:sp>
        <p:sp>
          <p:nvSpPr>
            <p:cNvPr id="14" name="Bound field 0 1"/>
            <p:cNvSpPr/>
            <p:nvPr/>
          </p:nvSpPr>
          <p:spPr>
            <a:xfrm>
              <a:off x="3797300" y="2044700"/>
              <a:ext cx="1206500" cy="254000"/>
            </a:xfrm>
            <a:prstGeom prst="roundRect">
              <a:avLst/>
            </a:prstGeom>
            <a:solidFill>
              <a:srgbClr val="F7DFC5"/>
            </a:solidFill>
            <a:ln w="16510">
              <a:solidFill>
                <a:srgbClr val="F7DFC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Bound label 0 1"/>
            <p:cNvSpPr txBox="1"/>
            <p:nvPr/>
          </p:nvSpPr>
          <p:spPr>
            <a:xfrm>
              <a:off x="3797300" y="2044700"/>
              <a:ext cx="1206500" cy="26670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sz="1300" b="0">
                  <a:solidFill>
                    <a:srgbClr val="102C53"/>
                  </a:solidFill>
                  <a:latin typeface="Segoe UI"/>
                </a:rPr>
                <a:t>Max₁</a:t>
              </a:r>
            </a:p>
          </p:txBody>
        </p:sp>
        <p:sp>
          <p:nvSpPr>
            <p:cNvPr id="16" name="Bound field 1 0"/>
            <p:cNvSpPr/>
            <p:nvPr/>
          </p:nvSpPr>
          <p:spPr>
            <a:xfrm>
              <a:off x="2463800" y="2336800"/>
              <a:ext cx="1206500" cy="254000"/>
            </a:xfrm>
            <a:prstGeom prst="roundRect">
              <a:avLst/>
            </a:prstGeom>
            <a:solidFill>
              <a:srgbClr val="DCE8F5"/>
            </a:solidFill>
            <a:ln w="16510">
              <a:solidFill>
                <a:srgbClr val="DCE8F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Bound label 1 0"/>
            <p:cNvSpPr txBox="1"/>
            <p:nvPr/>
          </p:nvSpPr>
          <p:spPr>
            <a:xfrm>
              <a:off x="2463800" y="2336800"/>
              <a:ext cx="1206500" cy="26670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sz="1300" b="0">
                  <a:solidFill>
                    <a:srgbClr val="102C53"/>
                  </a:solidFill>
                  <a:latin typeface="Segoe UI"/>
                </a:rPr>
                <a:t>Min₂</a:t>
              </a:r>
            </a:p>
          </p:txBody>
        </p:sp>
        <p:sp>
          <p:nvSpPr>
            <p:cNvPr id="18" name="Bound field 1 1"/>
            <p:cNvSpPr/>
            <p:nvPr/>
          </p:nvSpPr>
          <p:spPr>
            <a:xfrm>
              <a:off x="3797300" y="2336800"/>
              <a:ext cx="1206500" cy="254000"/>
            </a:xfrm>
            <a:prstGeom prst="roundRect">
              <a:avLst/>
            </a:prstGeom>
            <a:solidFill>
              <a:srgbClr val="F7DFC5"/>
            </a:solidFill>
            <a:ln w="16510">
              <a:solidFill>
                <a:srgbClr val="F7DFC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Bound label 1 1"/>
            <p:cNvSpPr txBox="1"/>
            <p:nvPr/>
          </p:nvSpPr>
          <p:spPr>
            <a:xfrm>
              <a:off x="3797300" y="2336800"/>
              <a:ext cx="1206500" cy="26670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sz="1300" b="0">
                  <a:solidFill>
                    <a:srgbClr val="102C53"/>
                  </a:solidFill>
                  <a:latin typeface="Segoe UI"/>
                </a:rPr>
                <a:t>Max₂</a:t>
              </a:r>
            </a:p>
          </p:txBody>
        </p:sp>
        <p:sp>
          <p:nvSpPr>
            <p:cNvPr id="20" name="Bound label 2 0"/>
            <p:cNvSpPr txBox="1"/>
            <p:nvPr/>
          </p:nvSpPr>
          <p:spPr>
            <a:xfrm>
              <a:off x="2463800" y="2628900"/>
              <a:ext cx="1206500" cy="26670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sz="1300" b="0">
                  <a:solidFill>
                    <a:srgbClr val="102C53"/>
                  </a:solidFill>
                  <a:latin typeface="Segoe UI"/>
                </a:rPr>
                <a:t>⋮</a:t>
              </a:r>
            </a:p>
          </p:txBody>
        </p:sp>
        <p:sp>
          <p:nvSpPr>
            <p:cNvPr id="21" name="Bound label 2 1"/>
            <p:cNvSpPr txBox="1"/>
            <p:nvPr/>
          </p:nvSpPr>
          <p:spPr>
            <a:xfrm>
              <a:off x="3797300" y="2628900"/>
              <a:ext cx="1206500" cy="26670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sz="1300" b="0">
                  <a:solidFill>
                    <a:srgbClr val="102C53"/>
                  </a:solidFill>
                  <a:latin typeface="Segoe UI"/>
                </a:rPr>
                <a:t>⋮</a:t>
              </a:r>
            </a:p>
          </p:txBody>
        </p:sp>
        <p:sp>
          <p:nvSpPr>
            <p:cNvPr id="22" name="Bound field 3 0"/>
            <p:cNvSpPr/>
            <p:nvPr/>
          </p:nvSpPr>
          <p:spPr>
            <a:xfrm>
              <a:off x="2463800" y="2921000"/>
              <a:ext cx="1206500" cy="254000"/>
            </a:xfrm>
            <a:prstGeom prst="roundRect">
              <a:avLst/>
            </a:prstGeom>
            <a:solidFill>
              <a:srgbClr val="DCE8F5"/>
            </a:solidFill>
            <a:ln w="16510">
              <a:solidFill>
                <a:srgbClr val="DCE8F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" name="Bound label 3 0"/>
            <p:cNvSpPr txBox="1"/>
            <p:nvPr/>
          </p:nvSpPr>
          <p:spPr>
            <a:xfrm>
              <a:off x="2463800" y="2921000"/>
              <a:ext cx="1206500" cy="26670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sz="1300" b="0">
                  <a:solidFill>
                    <a:srgbClr val="102C53"/>
                  </a:solidFill>
                  <a:latin typeface="Segoe UI"/>
                </a:rPr>
                <a:t>Minₙ</a:t>
              </a:r>
            </a:p>
          </p:txBody>
        </p:sp>
        <p:sp>
          <p:nvSpPr>
            <p:cNvPr id="24" name="Bound field 3 1"/>
            <p:cNvSpPr/>
            <p:nvPr/>
          </p:nvSpPr>
          <p:spPr>
            <a:xfrm>
              <a:off x="3797300" y="2921000"/>
              <a:ext cx="1206500" cy="254000"/>
            </a:xfrm>
            <a:prstGeom prst="roundRect">
              <a:avLst/>
            </a:prstGeom>
            <a:solidFill>
              <a:srgbClr val="F7DFC5"/>
            </a:solidFill>
            <a:ln w="16510">
              <a:solidFill>
                <a:srgbClr val="F7DFC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5" name="Bound label 3 1"/>
            <p:cNvSpPr txBox="1"/>
            <p:nvPr/>
          </p:nvSpPr>
          <p:spPr>
            <a:xfrm>
              <a:off x="3797300" y="2921000"/>
              <a:ext cx="1206500" cy="26670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sz="1300" b="0">
                  <a:solidFill>
                    <a:srgbClr val="102C53"/>
                  </a:solidFill>
                  <a:latin typeface="Segoe UI"/>
                </a:rPr>
                <a:t>Maxₙ</a:t>
              </a:r>
            </a:p>
          </p:txBody>
        </p:sp>
      </p:grpSp>
      <p:grpSp>
        <p:nvGrpSpPr>
          <p:cNvPr id="4" name="Current and future tree parallelism — editable concept"/>
          <p:cNvGrpSpPr/>
          <p:nvPr/>
        </p:nvGrpSpPr>
        <p:grpSpPr>
          <a:xfrm>
            <a:off x="825500" y="4038600"/>
            <a:ext cx="5016500" cy="2171700"/>
            <a:chOff x="825500" y="4038600"/>
            <a:chExt cx="5016500" cy="2171700"/>
          </a:xfrm>
        </p:grpSpPr>
        <p:sp>
          <p:nvSpPr>
            <p:cNvPr id="26" name="Parallel panel"/>
            <p:cNvSpPr/>
            <p:nvPr/>
          </p:nvSpPr>
          <p:spPr>
            <a:xfrm>
              <a:off x="825500" y="4038600"/>
              <a:ext cx="5016500" cy="2171700"/>
            </a:xfrm>
            <a:prstGeom prst="roundRect">
              <a:avLst/>
            </a:prstGeom>
            <a:solidFill>
              <a:srgbClr val="F4F7FB"/>
            </a:solidFill>
            <a:ln w="16510">
              <a:solidFill>
                <a:srgbClr val="F4F7F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" name="Current caption"/>
            <p:cNvSpPr txBox="1"/>
            <p:nvPr/>
          </p:nvSpPr>
          <p:spPr>
            <a:xfrm>
              <a:off x="1092200" y="4216400"/>
              <a:ext cx="1854200" cy="30480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sz="1500" b="1">
                  <a:solidFill>
                    <a:srgbClr val="102C53"/>
                  </a:solidFill>
                  <a:latin typeface="Segoe UI"/>
                </a:rPr>
                <a:t>Current</a:t>
              </a:r>
            </a:p>
          </p:txBody>
        </p:sp>
        <p:sp>
          <p:nvSpPr>
            <p:cNvPr id="28" name="Future caption"/>
            <p:cNvSpPr txBox="1"/>
            <p:nvPr/>
          </p:nvSpPr>
          <p:spPr>
            <a:xfrm>
              <a:off x="3632200" y="4216400"/>
              <a:ext cx="1854200" cy="30480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sz="1500" b="1">
                  <a:solidFill>
                    <a:srgbClr val="102C53"/>
                  </a:solidFill>
                  <a:latin typeface="Segoe UI"/>
                </a:rPr>
                <a:t>Future?</a:t>
              </a:r>
            </a:p>
          </p:txBody>
        </p:sp>
        <p:cxnSp>
          <p:nvCxnSpPr>
            <p:cNvPr id="29" name="Connector 28"/>
            <p:cNvCxnSpPr/>
            <p:nvPr/>
          </p:nvCxnSpPr>
          <p:spPr>
            <a:xfrm flipH="1">
              <a:off x="1676400" y="4660900"/>
              <a:ext cx="342900" cy="279400"/>
            </a:xfrm>
            <a:prstGeom prst="line">
              <a:avLst/>
            </a:prstGeom>
            <a:ln w="22860">
              <a:solidFill>
                <a:srgbClr val="285F9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nector 29"/>
            <p:cNvCxnSpPr/>
            <p:nvPr/>
          </p:nvCxnSpPr>
          <p:spPr>
            <a:xfrm>
              <a:off x="2019300" y="4660900"/>
              <a:ext cx="342900" cy="279400"/>
            </a:xfrm>
            <a:prstGeom prst="line">
              <a:avLst/>
            </a:prstGeom>
            <a:ln w="22860">
              <a:solidFill>
                <a:srgbClr val="285F9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nector 30"/>
            <p:cNvCxnSpPr/>
            <p:nvPr/>
          </p:nvCxnSpPr>
          <p:spPr>
            <a:xfrm flipH="1">
              <a:off x="1485900" y="4940300"/>
              <a:ext cx="190500" cy="304800"/>
            </a:xfrm>
            <a:prstGeom prst="line">
              <a:avLst/>
            </a:prstGeom>
            <a:ln w="22860">
              <a:solidFill>
                <a:srgbClr val="285F9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nector 31"/>
            <p:cNvCxnSpPr/>
            <p:nvPr/>
          </p:nvCxnSpPr>
          <p:spPr>
            <a:xfrm>
              <a:off x="1676400" y="4940300"/>
              <a:ext cx="177800" cy="304800"/>
            </a:xfrm>
            <a:prstGeom prst="line">
              <a:avLst/>
            </a:prstGeom>
            <a:ln w="22860">
              <a:solidFill>
                <a:srgbClr val="285F9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nector 32"/>
            <p:cNvCxnSpPr/>
            <p:nvPr/>
          </p:nvCxnSpPr>
          <p:spPr>
            <a:xfrm flipH="1">
              <a:off x="2184400" y="4940300"/>
              <a:ext cx="177800" cy="304800"/>
            </a:xfrm>
            <a:prstGeom prst="line">
              <a:avLst/>
            </a:prstGeom>
            <a:ln w="22860">
              <a:solidFill>
                <a:srgbClr val="285F9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ctor 33"/>
            <p:cNvCxnSpPr/>
            <p:nvPr/>
          </p:nvCxnSpPr>
          <p:spPr>
            <a:xfrm>
              <a:off x="2362200" y="4940300"/>
              <a:ext cx="190500" cy="304800"/>
            </a:xfrm>
            <a:prstGeom prst="line">
              <a:avLst/>
            </a:prstGeom>
            <a:ln w="22860">
              <a:solidFill>
                <a:srgbClr val="285F9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Tree 159 node 0"/>
            <p:cNvSpPr/>
            <p:nvPr/>
          </p:nvSpPr>
          <p:spPr>
            <a:xfrm>
              <a:off x="1955800" y="4597400"/>
              <a:ext cx="127000" cy="127000"/>
            </a:xfrm>
            <a:prstGeom prst="ellipse">
              <a:avLst/>
            </a:prstGeom>
            <a:solidFill>
              <a:srgbClr val="FFFFFF"/>
            </a:solidFill>
            <a:ln w="16510">
              <a:solidFill>
                <a:srgbClr val="285F9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" name="Tree 159 node 1"/>
            <p:cNvSpPr/>
            <p:nvPr/>
          </p:nvSpPr>
          <p:spPr>
            <a:xfrm>
              <a:off x="1612900" y="4876800"/>
              <a:ext cx="127000" cy="127000"/>
            </a:xfrm>
            <a:prstGeom prst="ellipse">
              <a:avLst/>
            </a:prstGeom>
            <a:solidFill>
              <a:srgbClr val="FFFFFF"/>
            </a:solidFill>
            <a:ln w="16510">
              <a:solidFill>
                <a:srgbClr val="285F9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7" name="Tree 159 node 2"/>
            <p:cNvSpPr/>
            <p:nvPr/>
          </p:nvSpPr>
          <p:spPr>
            <a:xfrm>
              <a:off x="2298700" y="4876800"/>
              <a:ext cx="127000" cy="127000"/>
            </a:xfrm>
            <a:prstGeom prst="ellipse">
              <a:avLst/>
            </a:prstGeom>
            <a:solidFill>
              <a:srgbClr val="FFFFFF"/>
            </a:solidFill>
            <a:ln w="16510">
              <a:solidFill>
                <a:srgbClr val="285F9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8" name="Tree 159 node 3"/>
            <p:cNvSpPr/>
            <p:nvPr/>
          </p:nvSpPr>
          <p:spPr>
            <a:xfrm>
              <a:off x="1422400" y="5181600"/>
              <a:ext cx="127000" cy="127000"/>
            </a:xfrm>
            <a:prstGeom prst="ellipse">
              <a:avLst/>
            </a:prstGeom>
            <a:solidFill>
              <a:srgbClr val="FFFFFF"/>
            </a:solidFill>
            <a:ln w="16510">
              <a:solidFill>
                <a:srgbClr val="285F9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9" name="Tree 159 node 4"/>
            <p:cNvSpPr/>
            <p:nvPr/>
          </p:nvSpPr>
          <p:spPr>
            <a:xfrm>
              <a:off x="1790700" y="5181600"/>
              <a:ext cx="127000" cy="127000"/>
            </a:xfrm>
            <a:prstGeom prst="ellipse">
              <a:avLst/>
            </a:prstGeom>
            <a:solidFill>
              <a:srgbClr val="FFFFFF"/>
            </a:solidFill>
            <a:ln w="16510">
              <a:solidFill>
                <a:srgbClr val="285F9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0" name="Tree 159 node 5"/>
            <p:cNvSpPr/>
            <p:nvPr/>
          </p:nvSpPr>
          <p:spPr>
            <a:xfrm>
              <a:off x="2120900" y="5181600"/>
              <a:ext cx="127000" cy="127000"/>
            </a:xfrm>
            <a:prstGeom prst="ellipse">
              <a:avLst/>
            </a:prstGeom>
            <a:solidFill>
              <a:srgbClr val="FFFFFF"/>
            </a:solidFill>
            <a:ln w="16510">
              <a:solidFill>
                <a:srgbClr val="285F9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1" name="Tree 159 node 6"/>
            <p:cNvSpPr/>
            <p:nvPr/>
          </p:nvSpPr>
          <p:spPr>
            <a:xfrm>
              <a:off x="2489200" y="5181600"/>
              <a:ext cx="127000" cy="127000"/>
            </a:xfrm>
            <a:prstGeom prst="ellipse">
              <a:avLst/>
            </a:prstGeom>
            <a:solidFill>
              <a:srgbClr val="FFFFFF"/>
            </a:solidFill>
            <a:ln w="16510">
              <a:solidFill>
                <a:srgbClr val="285F9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42" name="Connector 41"/>
            <p:cNvCxnSpPr/>
            <p:nvPr/>
          </p:nvCxnSpPr>
          <p:spPr>
            <a:xfrm flipH="1">
              <a:off x="4216400" y="4660900"/>
              <a:ext cx="342900" cy="279400"/>
            </a:xfrm>
            <a:prstGeom prst="line">
              <a:avLst/>
            </a:prstGeom>
            <a:ln w="22860">
              <a:solidFill>
                <a:srgbClr val="285F9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nector 42"/>
            <p:cNvCxnSpPr/>
            <p:nvPr/>
          </p:nvCxnSpPr>
          <p:spPr>
            <a:xfrm>
              <a:off x="4559300" y="4660900"/>
              <a:ext cx="342900" cy="279400"/>
            </a:xfrm>
            <a:prstGeom prst="line">
              <a:avLst/>
            </a:prstGeom>
            <a:ln w="22860">
              <a:solidFill>
                <a:srgbClr val="285F9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nector 43"/>
            <p:cNvCxnSpPr/>
            <p:nvPr/>
          </p:nvCxnSpPr>
          <p:spPr>
            <a:xfrm flipH="1">
              <a:off x="4025900" y="4940300"/>
              <a:ext cx="190500" cy="304800"/>
            </a:xfrm>
            <a:prstGeom prst="line">
              <a:avLst/>
            </a:prstGeom>
            <a:ln w="22860">
              <a:solidFill>
                <a:srgbClr val="285F9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Connector 44"/>
            <p:cNvCxnSpPr/>
            <p:nvPr/>
          </p:nvCxnSpPr>
          <p:spPr>
            <a:xfrm>
              <a:off x="4216400" y="4940300"/>
              <a:ext cx="177800" cy="304800"/>
            </a:xfrm>
            <a:prstGeom prst="line">
              <a:avLst/>
            </a:prstGeom>
            <a:ln w="22860">
              <a:solidFill>
                <a:srgbClr val="285F9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nector 45"/>
            <p:cNvCxnSpPr/>
            <p:nvPr/>
          </p:nvCxnSpPr>
          <p:spPr>
            <a:xfrm flipH="1">
              <a:off x="4724400" y="4940300"/>
              <a:ext cx="177800" cy="304800"/>
            </a:xfrm>
            <a:prstGeom prst="line">
              <a:avLst/>
            </a:prstGeom>
            <a:ln w="22860">
              <a:solidFill>
                <a:srgbClr val="285F9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Connector 46"/>
            <p:cNvCxnSpPr/>
            <p:nvPr/>
          </p:nvCxnSpPr>
          <p:spPr>
            <a:xfrm>
              <a:off x="4902200" y="4940300"/>
              <a:ext cx="190500" cy="304800"/>
            </a:xfrm>
            <a:prstGeom prst="line">
              <a:avLst/>
            </a:prstGeom>
            <a:ln w="22860">
              <a:solidFill>
                <a:srgbClr val="285F9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Tree 359 node 0"/>
            <p:cNvSpPr/>
            <p:nvPr/>
          </p:nvSpPr>
          <p:spPr>
            <a:xfrm>
              <a:off x="4495800" y="4597400"/>
              <a:ext cx="127000" cy="127000"/>
            </a:xfrm>
            <a:prstGeom prst="ellipse">
              <a:avLst/>
            </a:prstGeom>
            <a:solidFill>
              <a:srgbClr val="FFFFFF"/>
            </a:solidFill>
            <a:ln w="16510">
              <a:solidFill>
                <a:srgbClr val="285F9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9" name="Tree 359 node 1"/>
            <p:cNvSpPr/>
            <p:nvPr/>
          </p:nvSpPr>
          <p:spPr>
            <a:xfrm>
              <a:off x="4152900" y="4876800"/>
              <a:ext cx="127000" cy="127000"/>
            </a:xfrm>
            <a:prstGeom prst="ellipse">
              <a:avLst/>
            </a:prstGeom>
            <a:solidFill>
              <a:srgbClr val="FFFFFF"/>
            </a:solidFill>
            <a:ln w="16510">
              <a:solidFill>
                <a:srgbClr val="285F9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0" name="Tree 359 node 2"/>
            <p:cNvSpPr/>
            <p:nvPr/>
          </p:nvSpPr>
          <p:spPr>
            <a:xfrm>
              <a:off x="4838700" y="4876800"/>
              <a:ext cx="127000" cy="127000"/>
            </a:xfrm>
            <a:prstGeom prst="ellipse">
              <a:avLst/>
            </a:prstGeom>
            <a:solidFill>
              <a:srgbClr val="FFFFFF"/>
            </a:solidFill>
            <a:ln w="16510">
              <a:solidFill>
                <a:srgbClr val="285F9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1" name="Tree 359 node 3"/>
            <p:cNvSpPr/>
            <p:nvPr/>
          </p:nvSpPr>
          <p:spPr>
            <a:xfrm>
              <a:off x="3962400" y="5181600"/>
              <a:ext cx="127000" cy="127000"/>
            </a:xfrm>
            <a:prstGeom prst="ellipse">
              <a:avLst/>
            </a:prstGeom>
            <a:solidFill>
              <a:srgbClr val="FFFFFF"/>
            </a:solidFill>
            <a:ln w="16510">
              <a:solidFill>
                <a:srgbClr val="285F9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2" name="Tree 359 node 4"/>
            <p:cNvSpPr/>
            <p:nvPr/>
          </p:nvSpPr>
          <p:spPr>
            <a:xfrm>
              <a:off x="4330700" y="5181600"/>
              <a:ext cx="127000" cy="127000"/>
            </a:xfrm>
            <a:prstGeom prst="ellipse">
              <a:avLst/>
            </a:prstGeom>
            <a:solidFill>
              <a:srgbClr val="FFFFFF"/>
            </a:solidFill>
            <a:ln w="16510">
              <a:solidFill>
                <a:srgbClr val="285F9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3" name="Tree 359 node 5"/>
            <p:cNvSpPr/>
            <p:nvPr/>
          </p:nvSpPr>
          <p:spPr>
            <a:xfrm>
              <a:off x="4660900" y="5181600"/>
              <a:ext cx="127000" cy="127000"/>
            </a:xfrm>
            <a:prstGeom prst="ellipse">
              <a:avLst/>
            </a:prstGeom>
            <a:solidFill>
              <a:srgbClr val="FFFFFF"/>
            </a:solidFill>
            <a:ln w="16510">
              <a:solidFill>
                <a:srgbClr val="285F9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4" name="Tree 359 node 6"/>
            <p:cNvSpPr/>
            <p:nvPr/>
          </p:nvSpPr>
          <p:spPr>
            <a:xfrm>
              <a:off x="5029200" y="5181600"/>
              <a:ext cx="127000" cy="127000"/>
            </a:xfrm>
            <a:prstGeom prst="ellipse">
              <a:avLst/>
            </a:prstGeom>
            <a:solidFill>
              <a:srgbClr val="FFFFFF"/>
            </a:solidFill>
            <a:ln w="16510">
              <a:solidFill>
                <a:srgbClr val="285F9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55" name="Connector 54"/>
            <p:cNvCxnSpPr/>
            <p:nvPr/>
          </p:nvCxnSpPr>
          <p:spPr>
            <a:xfrm>
              <a:off x="2019300" y="5346700"/>
              <a:ext cx="0" cy="215900"/>
            </a:xfrm>
            <a:prstGeom prst="line">
              <a:avLst/>
            </a:prstGeom>
            <a:ln w="22860">
              <a:solidFill>
                <a:srgbClr val="285F9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Single core"/>
            <p:cNvSpPr/>
            <p:nvPr/>
          </p:nvSpPr>
          <p:spPr>
            <a:xfrm>
              <a:off x="1511300" y="5562600"/>
              <a:ext cx="1016000" cy="368300"/>
            </a:xfrm>
            <a:prstGeom prst="roundRect">
              <a:avLst/>
            </a:prstGeom>
            <a:solidFill>
              <a:srgbClr val="DCE8F5"/>
            </a:solidFill>
            <a:ln w="16510">
              <a:solidFill>
                <a:srgbClr val="DCE8F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7" name="Single core label"/>
            <p:cNvSpPr txBox="1"/>
            <p:nvPr/>
          </p:nvSpPr>
          <p:spPr>
            <a:xfrm>
              <a:off x="1511300" y="5626100"/>
              <a:ext cx="1016000" cy="25400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sz="1200" b="1">
                  <a:solidFill>
                    <a:srgbClr val="285F9B"/>
                  </a:solidFill>
                  <a:latin typeface="Segoe UI"/>
                </a:rPr>
                <a:t>1 core</a:t>
              </a:r>
            </a:p>
          </p:txBody>
        </p:sp>
        <p:cxnSp>
          <p:nvCxnSpPr>
            <p:cNvPr id="58" name="Connector 57"/>
            <p:cNvCxnSpPr/>
            <p:nvPr/>
          </p:nvCxnSpPr>
          <p:spPr>
            <a:xfrm>
              <a:off x="4559300" y="5346700"/>
              <a:ext cx="0" cy="215900"/>
            </a:xfrm>
            <a:prstGeom prst="line">
              <a:avLst/>
            </a:prstGeom>
            <a:ln w="25400">
              <a:solidFill>
                <a:srgbClr val="E59042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Multiple cores outline"/>
            <p:cNvSpPr/>
            <p:nvPr/>
          </p:nvSpPr>
          <p:spPr>
            <a:xfrm>
              <a:off x="3695700" y="5562600"/>
              <a:ext cx="1739900" cy="368300"/>
            </a:xfrm>
            <a:prstGeom prst="roundRect">
              <a:avLst/>
            </a:prstGeom>
            <a:solidFill>
              <a:srgbClr val="FFFFFF"/>
            </a:solidFill>
            <a:ln w="16510">
              <a:solidFill>
                <a:srgbClr val="B8CDE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0" name="Core icon 0"/>
            <p:cNvSpPr/>
            <p:nvPr/>
          </p:nvSpPr>
          <p:spPr>
            <a:xfrm>
              <a:off x="3784600" y="5638800"/>
              <a:ext cx="330200" cy="215900"/>
            </a:xfrm>
            <a:prstGeom prst="roundRect">
              <a:avLst/>
            </a:prstGeom>
            <a:solidFill>
              <a:srgbClr val="DCE8F5"/>
            </a:solidFill>
            <a:ln w="16510">
              <a:solidFill>
                <a:srgbClr val="DCE8F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1" name="Core icon 1"/>
            <p:cNvSpPr/>
            <p:nvPr/>
          </p:nvSpPr>
          <p:spPr>
            <a:xfrm>
              <a:off x="4191000" y="5638800"/>
              <a:ext cx="330200" cy="215900"/>
            </a:xfrm>
            <a:prstGeom prst="roundRect">
              <a:avLst/>
            </a:prstGeom>
            <a:solidFill>
              <a:srgbClr val="DCE8F5"/>
            </a:solidFill>
            <a:ln w="16510">
              <a:solidFill>
                <a:srgbClr val="DCE8F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2" name="Core icon 2"/>
            <p:cNvSpPr/>
            <p:nvPr/>
          </p:nvSpPr>
          <p:spPr>
            <a:xfrm>
              <a:off x="4597400" y="5638800"/>
              <a:ext cx="330200" cy="215900"/>
            </a:xfrm>
            <a:prstGeom prst="roundRect">
              <a:avLst/>
            </a:prstGeom>
            <a:solidFill>
              <a:srgbClr val="DCE8F5"/>
            </a:solidFill>
            <a:ln w="16510">
              <a:solidFill>
                <a:srgbClr val="DCE8F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3" name="Core icon 3"/>
            <p:cNvSpPr/>
            <p:nvPr/>
          </p:nvSpPr>
          <p:spPr>
            <a:xfrm>
              <a:off x="5003800" y="5638800"/>
              <a:ext cx="330200" cy="215900"/>
            </a:xfrm>
            <a:prstGeom prst="roundRect">
              <a:avLst/>
            </a:prstGeom>
            <a:solidFill>
              <a:srgbClr val="DCE8F5"/>
            </a:solidFill>
            <a:ln w="16510">
              <a:solidFill>
                <a:srgbClr val="DCE8F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4" name="Single tree future label"/>
            <p:cNvSpPr txBox="1"/>
            <p:nvPr/>
          </p:nvSpPr>
          <p:spPr>
            <a:xfrm>
              <a:off x="3695700" y="5969000"/>
              <a:ext cx="1739900" cy="22860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sz="1200" b="1">
                  <a:solidFill>
                    <a:srgbClr val="285F9B"/>
                  </a:solidFill>
                  <a:latin typeface="Segoe UI"/>
                </a:rPr>
                <a:t>Multiple cores</a:t>
              </a:r>
            </a:p>
          </p:txBody>
        </p:sp>
        <p:sp>
          <p:nvSpPr>
            <p:cNvPr id="65" name="Explore arrow"/>
            <p:cNvSpPr/>
            <p:nvPr/>
          </p:nvSpPr>
          <p:spPr>
            <a:xfrm>
              <a:off x="3073400" y="4965700"/>
              <a:ext cx="431800" cy="228600"/>
            </a:xfrm>
            <a:prstGeom prst="rightArrow">
              <a:avLst/>
            </a:prstGeom>
            <a:solidFill>
              <a:srgbClr val="E59042"/>
            </a:solidFill>
            <a:ln w="16510">
              <a:solidFill>
                <a:srgbClr val="E5904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66" name="Memory heading"/>
          <p:cNvSpPr txBox="1"/>
          <p:nvPr/>
        </p:nvSpPr>
        <p:spPr>
          <a:xfrm>
            <a:off x="6286500" y="1803400"/>
            <a:ext cx="5219700" cy="774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300" b="1">
                <a:solidFill>
                  <a:srgbClr val="000000"/>
                </a:solidFill>
                <a:latin typeface="Segoe UI"/>
              </a:rPr>
              <a:t>Explore memory optimization</a:t>
            </a:r>
          </a:p>
        </p:txBody>
      </p:sp>
      <p:sp>
        <p:nvSpPr>
          <p:cNvPr id="67" name="Memory explanation"/>
          <p:cNvSpPr txBox="1"/>
          <p:nvPr/>
        </p:nvSpPr>
        <p:spPr>
          <a:xfrm>
            <a:off x="6553200" y="2654300"/>
            <a:ext cx="4953000" cy="787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0">
                <a:solidFill>
                  <a:srgbClr val="000000"/>
                </a:solidFill>
                <a:latin typeface="Segoe UI"/>
              </a:rPr>
              <a:t>Investigate ways to reduce</a:t>
            </a:r>
          </a:p>
          <a:p>
            <a:r>
              <a:rPr sz="2100" b="0">
                <a:solidFill>
                  <a:srgbClr val="000000"/>
                </a:solidFill>
                <a:latin typeface="Segoe UI"/>
              </a:rPr>
              <a:t>AMF’s memory usage.</a:t>
            </a:r>
          </a:p>
        </p:txBody>
      </p:sp>
      <p:sp>
        <p:nvSpPr>
          <p:cNvPr id="68" name="Parallelism heading"/>
          <p:cNvSpPr txBox="1"/>
          <p:nvPr/>
        </p:nvSpPr>
        <p:spPr>
          <a:xfrm>
            <a:off x="6286500" y="4343400"/>
            <a:ext cx="5219700" cy="774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300" b="1">
                <a:solidFill>
                  <a:srgbClr val="000000"/>
                </a:solidFill>
                <a:latin typeface="Segoe UI"/>
              </a:rPr>
              <a:t>Explore intra-tree parallelism</a:t>
            </a:r>
          </a:p>
        </p:txBody>
      </p:sp>
      <p:sp>
        <p:nvSpPr>
          <p:cNvPr id="69" name="Parallelism explanation"/>
          <p:cNvSpPr txBox="1"/>
          <p:nvPr/>
        </p:nvSpPr>
        <p:spPr>
          <a:xfrm>
            <a:off x="6553200" y="5080000"/>
            <a:ext cx="4953000" cy="11557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0">
                <a:solidFill>
                  <a:srgbClr val="000000"/>
                </a:solidFill>
                <a:latin typeface="Segoe UI"/>
              </a:rPr>
              <a:t>Each tree uses one worker at a time.</a:t>
            </a:r>
          </a:p>
          <a:p>
            <a:r>
              <a:rPr sz="2100" b="0">
                <a:solidFill>
                  <a:srgbClr val="000000"/>
                </a:solidFill>
                <a:latin typeface="Segoe UI"/>
              </a:rPr>
              <a:t>Can multiple workers process</a:t>
            </a:r>
          </a:p>
          <a:p>
            <a:r>
              <a:rPr sz="2100" b="0">
                <a:solidFill>
                  <a:srgbClr val="000000"/>
                </a:solidFill>
                <a:latin typeface="Segoe UI"/>
              </a:rPr>
              <a:t>a single tree?</a:t>
            </a:r>
          </a:p>
        </p:txBody>
      </p:sp>
    </p:spTree>
    <p:extLst>
      <p:ext uri="{BB962C8B-B14F-4D97-AF65-F5344CB8AC3E}">
        <p14:creationId xmlns:p14="http://schemas.microsoft.com/office/powerpoint/2010/main" val="1911573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/>
      <p:bldP spid="67" grpId="0"/>
      <p:bldP spid="68" grpId="0"/>
      <p:bldP spid="6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8A3AE9-B359-67CB-BFF6-5DE4ACE8E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Conclusion</a:t>
            </a:r>
            <a:endParaRPr lang="zh-CN" altLang="en-US" dirty="0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F8FCF4-C14B-671E-20D4-AFDE75014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 sz="1100" b="0">
                <a:solidFill>
                  <a:srgbClr val="FFFFFF"/>
                </a:solidFill>
                <a:latin typeface="Segoe UI"/>
              </a:rPr>
              <a:t>October 21, 2026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1D993C6-D98A-6F73-AE5E-D216BB413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100" b="0">
                <a:solidFill>
                  <a:srgbClr val="FFFFFF"/>
                </a:solidFill>
                <a:latin typeface="Segoe UI"/>
              </a:rPr>
              <a:t>Zhiqiang Shi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1B2D353-8808-16EF-40E1-FA1B3FF4B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128CB-9318-4443-89F2-2A623EAF7AEA}" type="slidenum">
              <a:rPr lang="it-IT" smtClean="0"/>
              <a:t>16</a:t>
            </a:fld>
            <a:endParaRPr lang="it-IT"/>
          </a:p>
        </p:txBody>
      </p:sp>
      <p:grpSp>
        <p:nvGrpSpPr>
          <p:cNvPr id="3" name="Unified framework illustration"/>
          <p:cNvGrpSpPr/>
          <p:nvPr/>
        </p:nvGrpSpPr>
        <p:grpSpPr>
          <a:xfrm>
            <a:off x="825500" y="1333500"/>
            <a:ext cx="4127500" cy="1422400"/>
            <a:chOff x="825500" y="1333500"/>
            <a:chExt cx="4127500" cy="1422400"/>
          </a:xfrm>
        </p:grpSpPr>
        <p:sp>
          <p:nvSpPr>
            <p:cNvPr id="8" name="Rounded Rectangle 7"/>
            <p:cNvSpPr/>
            <p:nvPr/>
          </p:nvSpPr>
          <p:spPr>
            <a:xfrm>
              <a:off x="825500" y="1333500"/>
              <a:ext cx="4127500" cy="1422400"/>
            </a:xfrm>
            <a:prstGeom prst="roundRect">
              <a:avLst/>
            </a:prstGeom>
            <a:solidFill>
              <a:srgbClr val="F4F7FB"/>
            </a:solidFill>
            <a:ln>
              <a:solidFill>
                <a:srgbClr val="F4F7F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1117600" y="1511300"/>
              <a:ext cx="990600" cy="368300"/>
            </a:xfrm>
            <a:prstGeom prst="roundRect">
              <a:avLst/>
            </a:prstGeom>
            <a:solidFill>
              <a:srgbClr val="DCE8F5"/>
            </a:solidFill>
            <a:ln>
              <a:solidFill>
                <a:srgbClr val="DCE8F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1117600" y="1549400"/>
              <a:ext cx="990600" cy="29210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sz="1500" b="1">
                  <a:solidFill>
                    <a:srgbClr val="285F9B"/>
                  </a:solidFill>
                  <a:latin typeface="Segoe UI"/>
                </a:rPr>
                <a:t>ARF</a:t>
              </a:r>
            </a:p>
          </p:txBody>
        </p:sp>
        <p:cxnSp>
          <p:nvCxnSpPr>
            <p:cNvPr id="11" name="Connector 10"/>
            <p:cNvCxnSpPr/>
            <p:nvPr/>
          </p:nvCxnSpPr>
          <p:spPr>
            <a:xfrm>
              <a:off x="1612900" y="1879600"/>
              <a:ext cx="0" cy="215900"/>
            </a:xfrm>
            <a:prstGeom prst="line">
              <a:avLst/>
            </a:prstGeom>
            <a:ln w="21590">
              <a:solidFill>
                <a:srgbClr val="285F9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ounded Rectangle 11"/>
            <p:cNvSpPr/>
            <p:nvPr/>
          </p:nvSpPr>
          <p:spPr>
            <a:xfrm>
              <a:off x="2311400" y="1511300"/>
              <a:ext cx="990600" cy="368300"/>
            </a:xfrm>
            <a:prstGeom prst="roundRect">
              <a:avLst/>
            </a:prstGeom>
            <a:solidFill>
              <a:srgbClr val="DCE8F5"/>
            </a:solidFill>
            <a:ln>
              <a:solidFill>
                <a:srgbClr val="DCE8F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2311400" y="1549400"/>
              <a:ext cx="990600" cy="29210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sz="1500" b="1">
                  <a:solidFill>
                    <a:srgbClr val="285F9B"/>
                  </a:solidFill>
                  <a:latin typeface="Segoe UI"/>
                </a:rPr>
                <a:t>SRP</a:t>
              </a:r>
            </a:p>
          </p:txBody>
        </p:sp>
        <p:cxnSp>
          <p:nvCxnSpPr>
            <p:cNvPr id="14" name="Connector 13"/>
            <p:cNvCxnSpPr/>
            <p:nvPr/>
          </p:nvCxnSpPr>
          <p:spPr>
            <a:xfrm>
              <a:off x="2806700" y="1879600"/>
              <a:ext cx="0" cy="215900"/>
            </a:xfrm>
            <a:prstGeom prst="line">
              <a:avLst/>
            </a:prstGeom>
            <a:ln w="21590">
              <a:solidFill>
                <a:srgbClr val="285F9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ounded Rectangle 14"/>
            <p:cNvSpPr/>
            <p:nvPr/>
          </p:nvSpPr>
          <p:spPr>
            <a:xfrm>
              <a:off x="3505200" y="1511300"/>
              <a:ext cx="990600" cy="368300"/>
            </a:xfrm>
            <a:prstGeom prst="roundRect">
              <a:avLst/>
            </a:prstGeom>
            <a:solidFill>
              <a:srgbClr val="F7DFC5"/>
            </a:solidFill>
            <a:ln>
              <a:solidFill>
                <a:srgbClr val="F7DFC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505200" y="1549400"/>
              <a:ext cx="990600" cy="29210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sz="1500" b="1">
                  <a:solidFill>
                    <a:srgbClr val="285F9B"/>
                  </a:solidFill>
                  <a:latin typeface="Segoe UI"/>
                </a:rPr>
                <a:t>AMF</a:t>
              </a:r>
            </a:p>
          </p:txBody>
        </p:sp>
        <p:cxnSp>
          <p:nvCxnSpPr>
            <p:cNvPr id="17" name="Connector 16"/>
            <p:cNvCxnSpPr/>
            <p:nvPr/>
          </p:nvCxnSpPr>
          <p:spPr>
            <a:xfrm>
              <a:off x="4000500" y="1879600"/>
              <a:ext cx="0" cy="215900"/>
            </a:xfrm>
            <a:prstGeom prst="line">
              <a:avLst/>
            </a:prstGeom>
            <a:ln w="21590">
              <a:solidFill>
                <a:srgbClr val="285F9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Rounded Rectangle 17"/>
            <p:cNvSpPr/>
            <p:nvPr/>
          </p:nvSpPr>
          <p:spPr>
            <a:xfrm>
              <a:off x="1117600" y="2095500"/>
              <a:ext cx="3378200" cy="44450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B8CDE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1117600" y="2146300"/>
              <a:ext cx="3378200" cy="276999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lang="en-US" sz="1800" b="1" dirty="0">
                  <a:solidFill>
                    <a:srgbClr val="285F9B"/>
                  </a:solidFill>
                  <a:latin typeface="Segoe UI"/>
                </a:rPr>
                <a:t>E</a:t>
              </a:r>
              <a:r>
                <a:rPr lang="en-US" altLang="zh-CN" sz="1800" b="1" dirty="0">
                  <a:solidFill>
                    <a:srgbClr val="285F9B"/>
                  </a:solidFill>
                  <a:latin typeface="Segoe UI"/>
                </a:rPr>
                <a:t>nsemble methods</a:t>
              </a:r>
              <a:endParaRPr sz="1800" b="1" dirty="0">
                <a:solidFill>
                  <a:srgbClr val="285F9B"/>
                </a:solidFill>
                <a:latin typeface="Segoe UI"/>
              </a:endParaRPr>
            </a:p>
          </p:txBody>
        </p:sp>
      </p:grpSp>
      <p:grpSp>
        <p:nvGrpSpPr>
          <p:cNvPr id="4" name="Distributed processing illustration"/>
          <p:cNvGrpSpPr/>
          <p:nvPr/>
        </p:nvGrpSpPr>
        <p:grpSpPr>
          <a:xfrm>
            <a:off x="825500" y="2959100"/>
            <a:ext cx="4127500" cy="1422400"/>
            <a:chOff x="825500" y="2959100"/>
            <a:chExt cx="4127500" cy="1422400"/>
          </a:xfrm>
        </p:grpSpPr>
        <p:sp>
          <p:nvSpPr>
            <p:cNvPr id="20" name="Rounded Rectangle 19"/>
            <p:cNvSpPr/>
            <p:nvPr/>
          </p:nvSpPr>
          <p:spPr>
            <a:xfrm>
              <a:off x="825500" y="2959100"/>
              <a:ext cx="4127500" cy="1422400"/>
            </a:xfrm>
            <a:prstGeom prst="roundRect">
              <a:avLst/>
            </a:prstGeom>
            <a:solidFill>
              <a:srgbClr val="F4F7FB"/>
            </a:solidFill>
            <a:ln>
              <a:solidFill>
                <a:srgbClr val="F4F7F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1117600" y="3441700"/>
              <a:ext cx="838200" cy="444500"/>
            </a:xfrm>
            <a:prstGeom prst="roundRect">
              <a:avLst/>
            </a:prstGeom>
            <a:solidFill>
              <a:srgbClr val="F7DFC5"/>
            </a:solidFill>
            <a:ln>
              <a:solidFill>
                <a:srgbClr val="F7DFC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1117600" y="3530600"/>
              <a:ext cx="838200" cy="292100"/>
            </a:xfrm>
            <a:prstGeom prst="rect">
              <a:avLst/>
            </a:prstGeom>
            <a:noFill/>
          </p:spPr>
          <p:txBody>
            <a:bodyPr wrap="square" lIns="0" tIns="0" rIns="0" bIns="0">
              <a:spAutoFit/>
            </a:bodyPr>
            <a:lstStyle/>
            <a:p>
              <a:pPr algn="ctr"/>
              <a:r>
                <a:rPr sz="1300" b="1">
                  <a:solidFill>
                    <a:srgbClr val="285F9B"/>
                  </a:solidFill>
                  <a:latin typeface="Segoe UI"/>
                </a:rPr>
                <a:t>Stream</a:t>
              </a:r>
            </a:p>
          </p:txBody>
        </p:sp>
        <p:cxnSp>
          <p:nvCxnSpPr>
            <p:cNvPr id="23" name="Connector 22"/>
            <p:cNvCxnSpPr/>
            <p:nvPr/>
          </p:nvCxnSpPr>
          <p:spPr>
            <a:xfrm>
              <a:off x="1955800" y="3657600"/>
              <a:ext cx="342900" cy="0"/>
            </a:xfrm>
            <a:prstGeom prst="line">
              <a:avLst/>
            </a:prstGeom>
            <a:ln w="21590">
              <a:solidFill>
                <a:srgbClr val="285F9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or 23"/>
            <p:cNvCxnSpPr/>
            <p:nvPr/>
          </p:nvCxnSpPr>
          <p:spPr>
            <a:xfrm>
              <a:off x="2298700" y="3302000"/>
              <a:ext cx="0" cy="711200"/>
            </a:xfrm>
            <a:prstGeom prst="line">
              <a:avLst/>
            </a:prstGeom>
            <a:ln w="21590">
              <a:solidFill>
                <a:srgbClr val="285F9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ctor 24"/>
            <p:cNvCxnSpPr/>
            <p:nvPr/>
          </p:nvCxnSpPr>
          <p:spPr>
            <a:xfrm>
              <a:off x="2298700" y="3302000"/>
              <a:ext cx="304800" cy="0"/>
            </a:xfrm>
            <a:prstGeom prst="line">
              <a:avLst/>
            </a:prstGeom>
            <a:ln w="21590">
              <a:solidFill>
                <a:srgbClr val="285F9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Rounded Rectangle 25"/>
            <p:cNvSpPr/>
            <p:nvPr/>
          </p:nvSpPr>
          <p:spPr>
            <a:xfrm>
              <a:off x="2603500" y="3124200"/>
              <a:ext cx="1841500" cy="30480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B8CDE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7" name="Rounded Rectangle 26"/>
            <p:cNvSpPr/>
            <p:nvPr/>
          </p:nvSpPr>
          <p:spPr>
            <a:xfrm>
              <a:off x="2717800" y="3200400"/>
              <a:ext cx="292100" cy="152400"/>
            </a:xfrm>
            <a:prstGeom prst="roundRect">
              <a:avLst/>
            </a:prstGeom>
            <a:solidFill>
              <a:srgbClr val="DCE8F5"/>
            </a:solidFill>
            <a:ln>
              <a:solidFill>
                <a:srgbClr val="DCE8F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" name="Rounded Rectangle 27"/>
            <p:cNvSpPr/>
            <p:nvPr/>
          </p:nvSpPr>
          <p:spPr>
            <a:xfrm>
              <a:off x="3124200" y="3200400"/>
              <a:ext cx="292100" cy="152400"/>
            </a:xfrm>
            <a:prstGeom prst="roundRect">
              <a:avLst/>
            </a:prstGeom>
            <a:solidFill>
              <a:srgbClr val="DCE8F5"/>
            </a:solidFill>
            <a:ln>
              <a:solidFill>
                <a:srgbClr val="DCE8F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9" name="Rounded Rectangle 28"/>
            <p:cNvSpPr/>
            <p:nvPr/>
          </p:nvSpPr>
          <p:spPr>
            <a:xfrm>
              <a:off x="3530600" y="3200400"/>
              <a:ext cx="292100" cy="152400"/>
            </a:xfrm>
            <a:prstGeom prst="roundRect">
              <a:avLst/>
            </a:prstGeom>
            <a:solidFill>
              <a:srgbClr val="DCE8F5"/>
            </a:solidFill>
            <a:ln>
              <a:solidFill>
                <a:srgbClr val="DCE8F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" name="Rounded Rectangle 29"/>
            <p:cNvSpPr/>
            <p:nvPr/>
          </p:nvSpPr>
          <p:spPr>
            <a:xfrm>
              <a:off x="3937000" y="3200400"/>
              <a:ext cx="292100" cy="152400"/>
            </a:xfrm>
            <a:prstGeom prst="roundRect">
              <a:avLst/>
            </a:prstGeom>
            <a:solidFill>
              <a:srgbClr val="DCE8F5"/>
            </a:solidFill>
            <a:ln>
              <a:solidFill>
                <a:srgbClr val="DCE8F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31" name="Connector 30"/>
            <p:cNvCxnSpPr/>
            <p:nvPr/>
          </p:nvCxnSpPr>
          <p:spPr>
            <a:xfrm>
              <a:off x="2298700" y="3670300"/>
              <a:ext cx="304800" cy="0"/>
            </a:xfrm>
            <a:prstGeom prst="line">
              <a:avLst/>
            </a:prstGeom>
            <a:ln w="21590">
              <a:solidFill>
                <a:srgbClr val="285F9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Rounded Rectangle 31"/>
            <p:cNvSpPr/>
            <p:nvPr/>
          </p:nvSpPr>
          <p:spPr>
            <a:xfrm>
              <a:off x="2603500" y="3492500"/>
              <a:ext cx="1841500" cy="30480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B8CDE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3" name="Rounded Rectangle 32"/>
            <p:cNvSpPr/>
            <p:nvPr/>
          </p:nvSpPr>
          <p:spPr>
            <a:xfrm>
              <a:off x="2717800" y="3568700"/>
              <a:ext cx="292100" cy="152400"/>
            </a:xfrm>
            <a:prstGeom prst="roundRect">
              <a:avLst/>
            </a:prstGeom>
            <a:solidFill>
              <a:srgbClr val="DCE8F5"/>
            </a:solidFill>
            <a:ln>
              <a:solidFill>
                <a:srgbClr val="DCE8F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Rounded Rectangle 33"/>
            <p:cNvSpPr/>
            <p:nvPr/>
          </p:nvSpPr>
          <p:spPr>
            <a:xfrm>
              <a:off x="3124200" y="3568700"/>
              <a:ext cx="292100" cy="152400"/>
            </a:xfrm>
            <a:prstGeom prst="roundRect">
              <a:avLst/>
            </a:prstGeom>
            <a:solidFill>
              <a:srgbClr val="DCE8F5"/>
            </a:solidFill>
            <a:ln>
              <a:solidFill>
                <a:srgbClr val="DCE8F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5" name="Rounded Rectangle 34"/>
            <p:cNvSpPr/>
            <p:nvPr/>
          </p:nvSpPr>
          <p:spPr>
            <a:xfrm>
              <a:off x="3530600" y="3568700"/>
              <a:ext cx="292100" cy="152400"/>
            </a:xfrm>
            <a:prstGeom prst="roundRect">
              <a:avLst/>
            </a:prstGeom>
            <a:solidFill>
              <a:srgbClr val="DCE8F5"/>
            </a:solidFill>
            <a:ln>
              <a:solidFill>
                <a:srgbClr val="DCE8F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6" name="Rounded Rectangle 35"/>
            <p:cNvSpPr/>
            <p:nvPr/>
          </p:nvSpPr>
          <p:spPr>
            <a:xfrm>
              <a:off x="3937000" y="3568700"/>
              <a:ext cx="292100" cy="152400"/>
            </a:xfrm>
            <a:prstGeom prst="roundRect">
              <a:avLst/>
            </a:prstGeom>
            <a:solidFill>
              <a:srgbClr val="DCE8F5"/>
            </a:solidFill>
            <a:ln>
              <a:solidFill>
                <a:srgbClr val="DCE8F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37" name="Connector 36"/>
            <p:cNvCxnSpPr/>
            <p:nvPr/>
          </p:nvCxnSpPr>
          <p:spPr>
            <a:xfrm>
              <a:off x="2298700" y="4038600"/>
              <a:ext cx="304800" cy="0"/>
            </a:xfrm>
            <a:prstGeom prst="line">
              <a:avLst/>
            </a:prstGeom>
            <a:ln w="21590">
              <a:solidFill>
                <a:srgbClr val="285F9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Rounded Rectangle 37"/>
            <p:cNvSpPr/>
            <p:nvPr/>
          </p:nvSpPr>
          <p:spPr>
            <a:xfrm>
              <a:off x="2603500" y="3860800"/>
              <a:ext cx="1841500" cy="304800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B8CDE3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2717800" y="3937000"/>
              <a:ext cx="292100" cy="152400"/>
            </a:xfrm>
            <a:prstGeom prst="roundRect">
              <a:avLst/>
            </a:prstGeom>
            <a:solidFill>
              <a:srgbClr val="DCE8F5"/>
            </a:solidFill>
            <a:ln>
              <a:solidFill>
                <a:srgbClr val="DCE8F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0" name="Rounded Rectangle 39"/>
            <p:cNvSpPr/>
            <p:nvPr/>
          </p:nvSpPr>
          <p:spPr>
            <a:xfrm>
              <a:off x="3124200" y="3937000"/>
              <a:ext cx="292100" cy="152400"/>
            </a:xfrm>
            <a:prstGeom prst="roundRect">
              <a:avLst/>
            </a:prstGeom>
            <a:solidFill>
              <a:srgbClr val="DCE8F5"/>
            </a:solidFill>
            <a:ln>
              <a:solidFill>
                <a:srgbClr val="DCE8F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1" name="Rounded Rectangle 40"/>
            <p:cNvSpPr/>
            <p:nvPr/>
          </p:nvSpPr>
          <p:spPr>
            <a:xfrm>
              <a:off x="3530600" y="3937000"/>
              <a:ext cx="292100" cy="152400"/>
            </a:xfrm>
            <a:prstGeom prst="roundRect">
              <a:avLst/>
            </a:prstGeom>
            <a:solidFill>
              <a:srgbClr val="DCE8F5"/>
            </a:solidFill>
            <a:ln>
              <a:solidFill>
                <a:srgbClr val="DCE8F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2" name="Rounded Rectangle 41"/>
            <p:cNvSpPr/>
            <p:nvPr/>
          </p:nvSpPr>
          <p:spPr>
            <a:xfrm>
              <a:off x="3937000" y="3937000"/>
              <a:ext cx="292100" cy="152400"/>
            </a:xfrm>
            <a:prstGeom prst="roundRect">
              <a:avLst/>
            </a:prstGeom>
            <a:solidFill>
              <a:srgbClr val="DCE8F5"/>
            </a:solidFill>
            <a:ln>
              <a:solidFill>
                <a:srgbClr val="DCE8F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grpSp>
        <p:nvGrpSpPr>
          <p:cNvPr id="43" name="Performance illustration"/>
          <p:cNvGrpSpPr/>
          <p:nvPr/>
        </p:nvGrpSpPr>
        <p:grpSpPr>
          <a:xfrm>
            <a:off x="825500" y="4584700"/>
            <a:ext cx="4127500" cy="1422400"/>
            <a:chOff x="825500" y="4584700"/>
            <a:chExt cx="4127500" cy="1422400"/>
          </a:xfrm>
        </p:grpSpPr>
        <p:sp>
          <p:nvSpPr>
            <p:cNvPr id="44" name="Rounded Rectangle 43"/>
            <p:cNvSpPr/>
            <p:nvPr/>
          </p:nvSpPr>
          <p:spPr>
            <a:xfrm>
              <a:off x="825500" y="4584700"/>
              <a:ext cx="4127500" cy="1422400"/>
            </a:xfrm>
            <a:prstGeom prst="roundRect">
              <a:avLst/>
            </a:prstGeom>
            <a:solidFill>
              <a:srgbClr val="F4F7FB"/>
            </a:solidFill>
            <a:ln>
              <a:solidFill>
                <a:srgbClr val="F4F7F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45" name="Connector 44"/>
            <p:cNvCxnSpPr/>
            <p:nvPr/>
          </p:nvCxnSpPr>
          <p:spPr>
            <a:xfrm>
              <a:off x="1397000" y="5689600"/>
              <a:ext cx="2882900" cy="0"/>
            </a:xfrm>
            <a:prstGeom prst="line">
              <a:avLst/>
            </a:prstGeom>
            <a:ln w="21590">
              <a:solidFill>
                <a:srgbClr val="285F9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nector 45"/>
            <p:cNvCxnSpPr/>
            <p:nvPr/>
          </p:nvCxnSpPr>
          <p:spPr>
            <a:xfrm flipV="1">
              <a:off x="1397000" y="4851400"/>
              <a:ext cx="0" cy="838200"/>
            </a:xfrm>
            <a:prstGeom prst="line">
              <a:avLst/>
            </a:prstGeom>
            <a:ln w="21590">
              <a:solidFill>
                <a:srgbClr val="285F9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Rectangle 46"/>
            <p:cNvSpPr/>
            <p:nvPr/>
          </p:nvSpPr>
          <p:spPr>
            <a:xfrm>
              <a:off x="1727200" y="5435600"/>
              <a:ext cx="342900" cy="254000"/>
            </a:xfrm>
            <a:prstGeom prst="rect">
              <a:avLst/>
            </a:prstGeom>
            <a:solidFill>
              <a:srgbClr val="DCE8F5"/>
            </a:solidFill>
            <a:ln>
              <a:solidFill>
                <a:srgbClr val="DCE8F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8" name="Rectangle 47"/>
            <p:cNvSpPr/>
            <p:nvPr/>
          </p:nvSpPr>
          <p:spPr>
            <a:xfrm>
              <a:off x="2324100" y="5270500"/>
              <a:ext cx="342900" cy="419100"/>
            </a:xfrm>
            <a:prstGeom prst="rect">
              <a:avLst/>
            </a:prstGeom>
            <a:solidFill>
              <a:srgbClr val="DCE8F5"/>
            </a:solidFill>
            <a:ln>
              <a:solidFill>
                <a:srgbClr val="DCE8F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9" name="Rectangle 48"/>
            <p:cNvSpPr/>
            <p:nvPr/>
          </p:nvSpPr>
          <p:spPr>
            <a:xfrm>
              <a:off x="2921000" y="5092700"/>
              <a:ext cx="342900" cy="596900"/>
            </a:xfrm>
            <a:prstGeom prst="rect">
              <a:avLst/>
            </a:prstGeom>
            <a:solidFill>
              <a:srgbClr val="DCE8F5"/>
            </a:solidFill>
            <a:ln>
              <a:solidFill>
                <a:srgbClr val="DCE8F5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0" name="Rectangle 49"/>
            <p:cNvSpPr/>
            <p:nvPr/>
          </p:nvSpPr>
          <p:spPr>
            <a:xfrm>
              <a:off x="3517900" y="4876800"/>
              <a:ext cx="342900" cy="812800"/>
            </a:xfrm>
            <a:prstGeom prst="rect">
              <a:avLst/>
            </a:prstGeom>
            <a:solidFill>
              <a:srgbClr val="E59042"/>
            </a:solidFill>
            <a:ln>
              <a:solidFill>
                <a:srgbClr val="E5904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51" name="Connector 50"/>
            <p:cNvCxnSpPr/>
            <p:nvPr/>
          </p:nvCxnSpPr>
          <p:spPr>
            <a:xfrm flipV="1">
              <a:off x="1778000" y="4800600"/>
              <a:ext cx="1727200" cy="406400"/>
            </a:xfrm>
            <a:prstGeom prst="line">
              <a:avLst/>
            </a:prstGeom>
            <a:ln w="21590">
              <a:solidFill>
                <a:srgbClr val="285F9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Right Arrow 51"/>
            <p:cNvSpPr/>
            <p:nvPr/>
          </p:nvSpPr>
          <p:spPr>
            <a:xfrm>
              <a:off x="3441700" y="4737100"/>
              <a:ext cx="254000" cy="152400"/>
            </a:xfrm>
            <a:prstGeom prst="rightArrow">
              <a:avLst/>
            </a:prstGeom>
            <a:solidFill>
              <a:srgbClr val="E59042"/>
            </a:solidFill>
            <a:ln>
              <a:solidFill>
                <a:srgbClr val="E5904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53" name="TextBox 52"/>
          <p:cNvSpPr txBox="1"/>
          <p:nvPr/>
        </p:nvSpPr>
        <p:spPr>
          <a:xfrm>
            <a:off x="5359400" y="1409700"/>
            <a:ext cx="6362700" cy="3539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300" b="1" dirty="0">
                <a:solidFill>
                  <a:srgbClr val="000000"/>
                </a:solidFill>
                <a:latin typeface="Segoe UI"/>
              </a:rPr>
              <a:t>Unified </a:t>
            </a:r>
            <a:r>
              <a:rPr lang="en-US" sz="2300" b="1" dirty="0">
                <a:solidFill>
                  <a:srgbClr val="000000"/>
                </a:solidFill>
                <a:latin typeface="Segoe UI"/>
              </a:rPr>
              <a:t>module</a:t>
            </a:r>
            <a:r>
              <a:rPr sz="2300" b="1" dirty="0">
                <a:solidFill>
                  <a:srgbClr val="000000"/>
                </a:solidFill>
                <a:latin typeface="Segoe UI"/>
              </a:rPr>
              <a:t> implemented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59400" y="1917700"/>
            <a:ext cx="6362700" cy="6463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0" dirty="0">
                <a:solidFill>
                  <a:srgbClr val="000000"/>
                </a:solidFill>
                <a:latin typeface="Segoe UI"/>
              </a:rPr>
              <a:t>ARF, SRP and AMF integrated</a:t>
            </a:r>
          </a:p>
          <a:p>
            <a:r>
              <a:rPr sz="2100" b="0" dirty="0">
                <a:solidFill>
                  <a:srgbClr val="000000"/>
                </a:solidFill>
                <a:latin typeface="Segoe UI"/>
              </a:rPr>
              <a:t>within a </a:t>
            </a:r>
            <a:r>
              <a:rPr lang="en-US" sz="2100" b="0" dirty="0">
                <a:solidFill>
                  <a:srgbClr val="000000"/>
                </a:solidFill>
                <a:latin typeface="Segoe UI"/>
              </a:rPr>
              <a:t>unified framework</a:t>
            </a:r>
            <a:r>
              <a:rPr sz="2100" b="0" dirty="0">
                <a:solidFill>
                  <a:srgbClr val="000000"/>
                </a:solidFill>
                <a:latin typeface="Segoe UI"/>
              </a:rPr>
              <a:t>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359400" y="3035300"/>
            <a:ext cx="6362700" cy="3539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300" b="1" dirty="0">
                <a:solidFill>
                  <a:srgbClr val="000000"/>
                </a:solidFill>
                <a:latin typeface="Segoe UI"/>
              </a:rPr>
              <a:t>Parallel and </a:t>
            </a:r>
            <a:r>
              <a:rPr lang="en-US" sz="2300" b="1" dirty="0">
                <a:solidFill>
                  <a:srgbClr val="000000"/>
                </a:solidFill>
                <a:latin typeface="Segoe UI"/>
              </a:rPr>
              <a:t>distributed</a:t>
            </a:r>
            <a:r>
              <a:rPr sz="2300" b="1" dirty="0">
                <a:solidFill>
                  <a:srgbClr val="000000"/>
                </a:solidFill>
                <a:latin typeface="Segoe UI"/>
              </a:rPr>
              <a:t> execution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359400" y="3543300"/>
            <a:ext cx="6362700" cy="9694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000"/>
            </a:pPr>
            <a:r>
              <a:rPr lang="en-US" sz="2100" b="0" dirty="0">
                <a:solidFill>
                  <a:srgbClr val="000000"/>
                </a:solidFill>
                <a:latin typeface="Segoe UI"/>
              </a:rPr>
              <a:t>L</a:t>
            </a:r>
            <a:r>
              <a:rPr lang="en-US" altLang="zh-CN" sz="2100" b="0" dirty="0">
                <a:solidFill>
                  <a:srgbClr val="000000"/>
                </a:solidFill>
                <a:latin typeface="Segoe UI"/>
              </a:rPr>
              <a:t>ocal: </a:t>
            </a:r>
            <a:r>
              <a:rPr sz="2100" b="0" dirty="0">
                <a:solidFill>
                  <a:srgbClr val="000000"/>
                </a:solidFill>
                <a:latin typeface="Segoe UI"/>
              </a:rPr>
              <a:t>Up to </a:t>
            </a:r>
            <a:r>
              <a:rPr sz="2100" b="1" dirty="0">
                <a:solidFill>
                  <a:srgbClr val="000000"/>
                </a:solidFill>
                <a:latin typeface="Segoe UI"/>
              </a:rPr>
              <a:t>17.66×</a:t>
            </a:r>
            <a:r>
              <a:rPr sz="2100" b="0" dirty="0">
                <a:solidFill>
                  <a:srgbClr val="000000"/>
                </a:solidFill>
                <a:latin typeface="Segoe UI"/>
              </a:rPr>
              <a:t> speedup at 32 threads.</a:t>
            </a:r>
          </a:p>
          <a:p>
            <a:pPr>
              <a:defRPr sz="2000"/>
            </a:pPr>
            <a:r>
              <a:rPr lang="en-US" sz="2100" b="0" dirty="0">
                <a:solidFill>
                  <a:srgbClr val="000000"/>
                </a:solidFill>
                <a:latin typeface="Segoe UI"/>
              </a:rPr>
              <a:t>Distributed: ~</a:t>
            </a:r>
            <a:r>
              <a:rPr lang="en-US" sz="2100" b="1" dirty="0">
                <a:solidFill>
                  <a:srgbClr val="000000"/>
                </a:solidFill>
                <a:latin typeface="Segoe UI"/>
              </a:rPr>
              <a:t>90%</a:t>
            </a:r>
            <a:r>
              <a:rPr lang="en-US" sz="2100" b="0" dirty="0">
                <a:solidFill>
                  <a:srgbClr val="000000"/>
                </a:solidFill>
                <a:latin typeface="Segoe UI"/>
              </a:rPr>
              <a:t> throughput retained on most datasets.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359400" y="4660900"/>
            <a:ext cx="6362700" cy="431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300" b="1" dirty="0">
                <a:solidFill>
                  <a:srgbClr val="000000"/>
                </a:solidFill>
                <a:latin typeface="Segoe UI"/>
              </a:rPr>
              <a:t>Faster AMF, comparable accuracy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359400" y="5168900"/>
            <a:ext cx="6362700" cy="6463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100" b="0" dirty="0">
                <a:solidFill>
                  <a:srgbClr val="000000"/>
                </a:solidFill>
                <a:latin typeface="Segoe UI"/>
              </a:rPr>
              <a:t>Up to </a:t>
            </a:r>
            <a:r>
              <a:rPr sz="2100" b="1" dirty="0">
                <a:solidFill>
                  <a:srgbClr val="000000"/>
                </a:solidFill>
                <a:latin typeface="Segoe UI"/>
              </a:rPr>
              <a:t>18.24×</a:t>
            </a:r>
            <a:r>
              <a:rPr sz="2100" b="0" dirty="0">
                <a:solidFill>
                  <a:srgbClr val="000000"/>
                </a:solidFill>
                <a:latin typeface="Segoe UI"/>
              </a:rPr>
              <a:t> Onelearn’s single-thread throughput.</a:t>
            </a:r>
          </a:p>
          <a:p>
            <a:r>
              <a:rPr sz="2100" b="0" dirty="0">
                <a:solidFill>
                  <a:srgbClr val="000000"/>
                </a:solidFill>
                <a:latin typeface="Segoe UI"/>
              </a:rPr>
              <a:t>Accuracy gap </a:t>
            </a:r>
            <a:r>
              <a:rPr sz="2100" b="1" dirty="0">
                <a:solidFill>
                  <a:srgbClr val="000000"/>
                </a:solidFill>
                <a:latin typeface="Segoe UI"/>
              </a:rPr>
              <a:t>&lt;1 pp</a:t>
            </a:r>
            <a:r>
              <a:rPr sz="2100" b="0" dirty="0">
                <a:solidFill>
                  <a:srgbClr val="000000"/>
                </a:solidFill>
                <a:latin typeface="Segoe UI"/>
              </a:rPr>
              <a:t> on 10/13 datasets.</a:t>
            </a:r>
          </a:p>
        </p:txBody>
      </p:sp>
    </p:spTree>
    <p:extLst>
      <p:ext uri="{BB962C8B-B14F-4D97-AF65-F5344CB8AC3E}">
        <p14:creationId xmlns:p14="http://schemas.microsoft.com/office/powerpoint/2010/main" val="1414250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/>
      <p:bldP spid="54" grpId="0"/>
      <p:bldP spid="55" grpId="0"/>
      <p:bldP spid="56" grpId="0"/>
      <p:bldP spid="57" grpId="0"/>
      <p:bldP spid="5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64FB0A0-B30B-79CD-EB91-46840B1A5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 sz="1100" b="0">
                <a:solidFill>
                  <a:srgbClr val="FFFFFF"/>
                </a:solidFill>
                <a:latin typeface="Segoe UI"/>
              </a:rPr>
              <a:t>October 21, 2026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69C9003-4D3C-36D6-D9E6-AD949A7DB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sz="1100" b="0">
                <a:solidFill>
                  <a:srgbClr val="FFFFFF"/>
                </a:solidFill>
                <a:latin typeface="Segoe UI"/>
              </a:rPr>
              <a:t>Zhiqiang Shi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480C870-1FC6-852E-BE87-C82890B03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7128CB-9318-4443-89F2-2A623EAF7AEA}" type="slidenum">
              <a:rPr lang="it-IT" smtClean="0"/>
              <a:t>17</a:t>
            </a:fld>
            <a:endParaRPr lang="it-IT"/>
          </a:p>
        </p:txBody>
      </p:sp>
      <p:sp>
        <p:nvSpPr>
          <p:cNvPr id="8" name="Closing thanks"/>
          <p:cNvSpPr txBox="1"/>
          <p:nvPr/>
        </p:nvSpPr>
        <p:spPr>
          <a:xfrm>
            <a:off x="889000" y="2832100"/>
            <a:ext cx="10414000" cy="127000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3600" b="0" i="0">
                <a:solidFill>
                  <a:srgbClr val="102C53"/>
                </a:solidFill>
                <a:latin typeface="Segoe UI"/>
              </a:rPr>
              <a:t>Thank you for your attention</a:t>
            </a:r>
          </a:p>
        </p:txBody>
      </p:sp>
    </p:spTree>
    <p:extLst>
      <p:ext uri="{BB962C8B-B14F-4D97-AF65-F5344CB8AC3E}">
        <p14:creationId xmlns:p14="http://schemas.microsoft.com/office/powerpoint/2010/main" val="125232398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Politecnico">
      <a:dk1>
        <a:srgbClr val="000000"/>
      </a:dk1>
      <a:lt1>
        <a:srgbClr val="FFFFFF"/>
      </a:lt1>
      <a:dk2>
        <a:srgbClr val="102C53"/>
      </a:dk2>
      <a:lt2>
        <a:srgbClr val="F2F2F2"/>
      </a:lt2>
      <a:accent1>
        <a:srgbClr val="102C53"/>
      </a:accent1>
      <a:accent2>
        <a:srgbClr val="36A9E1"/>
      </a:accent2>
      <a:accent3>
        <a:srgbClr val="595959"/>
      </a:accent3>
      <a:accent4>
        <a:srgbClr val="5E82A7"/>
      </a:accent4>
      <a:accent5>
        <a:srgbClr val="A6A6A6"/>
      </a:accent5>
      <a:accent6>
        <a:srgbClr val="D1E5F0"/>
      </a:accent6>
      <a:hlink>
        <a:srgbClr val="0078D7"/>
      </a:hlink>
      <a:folHlink>
        <a:srgbClr val="2A5985"/>
      </a:folHlink>
    </a:clrScheme>
    <a:fontScheme name="Trebuchet MS">
      <a:majorFont>
        <a:latin typeface="Segoe UI" panose="020B0603020202020204"/>
        <a:ea typeface=""/>
        <a:cs typeface=""/>
        <a:font script="Jpan" typeface="HGｺﾞｼｯｸM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Segoe UI" panose="020B0603020202020204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70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914598A-5F8E-4476-B375-33A5EA8A7211}">
  <we:reference id="wa200010215" version="2.0.0.1" store="zh-CN" storeType="OMEX"/>
  <we:alternateReferences>
    <we:reference id="wa200010215" version="2.0.0.1" store="wa200010215" storeType="OMEX"/>
  </we:alternateReferences>
  <we:properties>
    <we:property name="bps.codex_control.document_id" value="&quot;df865a55-ec4e-4d0a-8ea7-6c280040e579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10998</TotalTime>
  <Words>6325</Words>
  <Application>Microsoft Office PowerPoint</Application>
  <PresentationFormat>宽屏</PresentationFormat>
  <Paragraphs>382</Paragraphs>
  <Slides>17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1" baseType="lpstr">
      <vt:lpstr>等线</vt:lpstr>
      <vt:lpstr>Arial</vt:lpstr>
      <vt:lpstr>Segoe UI</vt:lpstr>
      <vt:lpstr>Tema di Office</vt:lpstr>
      <vt:lpstr>Distributed Streaming Ensemble Methods in Renoir</vt:lpstr>
      <vt:lpstr>Background: Streaming Machine Learning</vt:lpstr>
      <vt:lpstr>Background: Ensemble Methods</vt:lpstr>
      <vt:lpstr>Background: Our Goal</vt:lpstr>
      <vt:lpstr>Background: Mondrian Tree Prediction</vt:lpstr>
      <vt:lpstr>Background: Mondrian Tree Learning</vt:lpstr>
      <vt:lpstr>Background: Renoir</vt:lpstr>
      <vt:lpstr>Renoir Pipeline</vt:lpstr>
      <vt:lpstr>Experimental Setup</vt:lpstr>
      <vt:lpstr>Accuracy: AMF</vt:lpstr>
      <vt:lpstr>Single-thread Speedup: AMF</vt:lpstr>
      <vt:lpstr>Scalability: AMF</vt:lpstr>
      <vt:lpstr>Distributed Execution</vt:lpstr>
      <vt:lpstr>Effect of Ensemble Size</vt:lpstr>
      <vt:lpstr>Future Work</vt:lpstr>
      <vt:lpstr>Conclusion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zhiqiang shi</dc:creator>
  <cp:lastModifiedBy>zhiqiang shi</cp:lastModifiedBy>
  <cp:revision>149</cp:revision>
  <dcterms:created xsi:type="dcterms:W3CDTF">2026-07-20T15:09:55Z</dcterms:created>
  <dcterms:modified xsi:type="dcterms:W3CDTF">2026-10-21T09:12:19Z</dcterms:modified>
</cp:coreProperties>
</file>